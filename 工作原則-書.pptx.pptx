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MS)" panose="02020500000000000000" charset="0"/>
      <p:regular r:id="rId12"/>
    </p:embeddedFont>
    <p:embeddedFont>
      <p:font typeface="Roboto" panose="020000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1" d="100"/>
          <a:sy n="101" d="100"/>
        </p:scale>
        <p:origin x="65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7347" y="17126"/>
            <a:ext cx="7927619" cy="10863423"/>
          </a:xfrm>
          <a:prstGeom prst="rect">
            <a:avLst/>
          </a:prstGeom>
        </p:spPr>
        <p:txBody>
          <a:bodyPr lIns="0" tIns="0" rIns="0" bIns="0" rtlCol="0" anchor="t">
            <a:spAutoFit/>
          </a:bodyPr>
          <a:lstStyle/>
          <a:p>
            <a:pPr algn="l">
              <a:lnSpc>
                <a:spcPts val="1530"/>
              </a:lnSpc>
            </a:pPr>
            <a:r>
              <a:rPr lang="en-US" sz="1275" dirty="0">
                <a:solidFill>
                  <a:srgbClr val="000000"/>
                </a:solidFill>
                <a:latin typeface="Calibri (MS)"/>
                <a:ea typeface="Calibri (MS)"/>
                <a:cs typeface="Calibri (MS)"/>
                <a:sym typeface="Calibri (MS)"/>
              </a:rPr>
              <a:t>1. Add your leave and personal work time, even business trip and national holiday in the calendar. Automatic email replies. Request to resend the email. When you back to office, your colleagues can set delayed delivery for email sending on certain date. Item 82.  Plan in the </a:t>
            </a:r>
            <a:r>
              <a:rPr lang="en-US" sz="1275" dirty="0" err="1">
                <a:solidFill>
                  <a:srgbClr val="000000"/>
                </a:solidFill>
                <a:latin typeface="Calibri (MS)"/>
                <a:ea typeface="Calibri (MS)"/>
                <a:cs typeface="Calibri (MS)"/>
                <a:sym typeface="Calibri (MS)"/>
              </a:rPr>
              <a:t>canlender</a:t>
            </a:r>
            <a:r>
              <a:rPr lang="en-US" sz="1275" dirty="0">
                <a:solidFill>
                  <a:srgbClr val="000000"/>
                </a:solidFill>
                <a:latin typeface="Calibri (MS)"/>
                <a:ea typeface="Calibri (MS)"/>
                <a:cs typeface="Calibri (MS)"/>
                <a:sym typeface="Calibri (MS)"/>
              </a:rPr>
              <a:t>.</a:t>
            </a:r>
          </a:p>
          <a:p>
            <a:pPr algn="l">
              <a:lnSpc>
                <a:spcPts val="1530"/>
              </a:lnSpc>
            </a:pPr>
            <a:r>
              <a:rPr lang="en-US" sz="1275" dirty="0">
                <a:solidFill>
                  <a:srgbClr val="000000"/>
                </a:solidFill>
                <a:latin typeface="Calibri (MS)"/>
                <a:ea typeface="Calibri (MS)"/>
                <a:cs typeface="Calibri (MS)"/>
                <a:sym typeface="Calibri (MS)"/>
              </a:rPr>
              <a:t>2. Ask politely with reason and watch out your voice tone. Soft skills related to how to communicate and ask. ( rephrase if needed)</a:t>
            </a:r>
          </a:p>
          <a:p>
            <a:pPr algn="l">
              <a:lnSpc>
                <a:spcPts val="1530"/>
              </a:lnSpc>
            </a:pPr>
            <a:r>
              <a:rPr lang="en-US" sz="1275" dirty="0">
                <a:solidFill>
                  <a:srgbClr val="000000"/>
                </a:solidFill>
                <a:latin typeface="Calibri (MS)"/>
                <a:ea typeface="Calibri (MS)"/>
                <a:cs typeface="Calibri (MS)"/>
                <a:sym typeface="Calibri (MS)"/>
              </a:rPr>
              <a:t>3. Prepare questions during the meeting. // Understand agenda and what is the potential / desired outcome to make. (OKR)，" </a:t>
            </a:r>
            <a:r>
              <a:rPr lang="en-US" sz="1275" dirty="0" err="1">
                <a:solidFill>
                  <a:srgbClr val="000000"/>
                </a:solidFill>
                <a:latin typeface="Calibri (MS)"/>
                <a:ea typeface="Calibri (MS)"/>
                <a:cs typeface="Calibri (MS)"/>
                <a:sym typeface="Calibri (MS)"/>
              </a:rPr>
              <a:t>自由人</a:t>
            </a:r>
            <a:r>
              <a:rPr lang="en-US" sz="1275" dirty="0">
                <a:solidFill>
                  <a:srgbClr val="000000"/>
                </a:solidFill>
                <a:latin typeface="Calibri (MS)"/>
                <a:ea typeface="Calibri (MS)"/>
                <a:cs typeface="Calibri (MS)"/>
                <a:sym typeface="Calibri (MS)"/>
              </a:rPr>
              <a:t>" → ask good question to yourself</a:t>
            </a:r>
          </a:p>
          <a:p>
            <a:pPr algn="l">
              <a:lnSpc>
                <a:spcPts val="1530"/>
              </a:lnSpc>
            </a:pPr>
            <a:r>
              <a:rPr lang="en-US" sz="1275" dirty="0">
                <a:solidFill>
                  <a:srgbClr val="000000"/>
                </a:solidFill>
                <a:latin typeface="Calibri (MS)"/>
                <a:ea typeface="Calibri (MS)"/>
                <a:cs typeface="Calibri (MS)"/>
                <a:sym typeface="Calibri (MS)"/>
              </a:rPr>
              <a:t>4. Reserve some buffer for your project, and your sacred time or place. (margin of safety),spend time on your investment, rest, and kinds and family. It is part of investment portfolio.  How to use your time. Use scared time for enhancing </a:t>
            </a:r>
            <a:r>
              <a:rPr lang="en-US" sz="1275" dirty="0" err="1">
                <a:solidFill>
                  <a:srgbClr val="000000"/>
                </a:solidFill>
                <a:latin typeface="Calibri (MS)"/>
                <a:ea typeface="Calibri (MS)"/>
                <a:cs typeface="Calibri (MS)"/>
                <a:sym typeface="Calibri (MS)"/>
              </a:rPr>
              <a:t>capability.減法思維，熱情思維，抓大魚，能量管理</a:t>
            </a:r>
            <a:endParaRPr lang="en-US" sz="1275" dirty="0">
              <a:solidFill>
                <a:srgbClr val="000000"/>
              </a:solidFill>
              <a:latin typeface="Calibri (MS)"/>
              <a:ea typeface="Calibri (MS)"/>
              <a:cs typeface="Calibri (MS)"/>
              <a:sym typeface="Calibri (MS)"/>
            </a:endParaRPr>
          </a:p>
          <a:p>
            <a:pPr algn="l">
              <a:lnSpc>
                <a:spcPts val="1530"/>
              </a:lnSpc>
            </a:pPr>
            <a:r>
              <a:rPr lang="en-US" sz="1275" dirty="0">
                <a:solidFill>
                  <a:srgbClr val="000000"/>
                </a:solidFill>
                <a:latin typeface="Calibri (MS)"/>
                <a:ea typeface="Calibri (MS)"/>
                <a:cs typeface="Calibri (MS)"/>
                <a:sym typeface="Calibri (MS)"/>
              </a:rPr>
              <a:t>5. Don't jump to conclusions too soon. You may use your lizard brain to act. Instinct react is not good. Be humble. You may get wrong. </a:t>
            </a:r>
            <a:r>
              <a:rPr lang="en-US" sz="1275" dirty="0" err="1">
                <a:solidFill>
                  <a:srgbClr val="000000"/>
                </a:solidFill>
                <a:latin typeface="Calibri (MS)"/>
                <a:ea typeface="Calibri (MS)"/>
                <a:cs typeface="Calibri (MS)"/>
                <a:sym typeface="Calibri (MS)"/>
              </a:rPr>
              <a:t>心理偏見清單</a:t>
            </a:r>
            <a:endParaRPr lang="en-US" sz="1275" dirty="0">
              <a:solidFill>
                <a:srgbClr val="000000"/>
              </a:solidFill>
              <a:latin typeface="Calibri (MS)"/>
              <a:ea typeface="Calibri (MS)"/>
              <a:cs typeface="Calibri (MS)"/>
              <a:sym typeface="Calibri (MS)"/>
            </a:endParaRPr>
          </a:p>
          <a:p>
            <a:pPr algn="l">
              <a:lnSpc>
                <a:spcPts val="1530"/>
              </a:lnSpc>
            </a:pPr>
            <a:r>
              <a:rPr lang="en-US" sz="1275" dirty="0">
                <a:solidFill>
                  <a:srgbClr val="000000"/>
                </a:solidFill>
                <a:latin typeface="Calibri (MS)"/>
                <a:ea typeface="Calibri (MS)"/>
                <a:cs typeface="Calibri (MS)"/>
                <a:sym typeface="Calibri (MS)"/>
              </a:rPr>
              <a:t>6. Smile Always smile. A friend is better than an enemy.  Peace. Stay calm (not </a:t>
            </a:r>
            <a:r>
              <a:rPr lang="en-US" sz="1275" dirty="0" err="1">
                <a:solidFill>
                  <a:srgbClr val="000000"/>
                </a:solidFill>
                <a:latin typeface="Calibri (MS)"/>
                <a:ea typeface="Calibri (MS)"/>
                <a:cs typeface="Calibri (MS)"/>
                <a:sym typeface="Calibri (MS)"/>
              </a:rPr>
              <a:t>impluse</a:t>
            </a:r>
            <a:r>
              <a:rPr lang="en-US" sz="1275" dirty="0">
                <a:solidFill>
                  <a:srgbClr val="000000"/>
                </a:solidFill>
                <a:latin typeface="Calibri (MS)"/>
                <a:ea typeface="Calibri (MS)"/>
                <a:cs typeface="Calibri (MS)"/>
                <a:sym typeface="Calibri (MS)"/>
              </a:rPr>
              <a:t>) in any direction. breath </a:t>
            </a:r>
            <a:r>
              <a:rPr lang="en-US" sz="1275" dirty="0" err="1">
                <a:solidFill>
                  <a:srgbClr val="000000"/>
                </a:solidFill>
                <a:latin typeface="Calibri (MS)"/>
                <a:ea typeface="Calibri (MS)"/>
                <a:cs typeface="Calibri (MS)"/>
                <a:sym typeface="Calibri (MS)"/>
              </a:rPr>
              <a:t>inhaule,hold</a:t>
            </a:r>
            <a:r>
              <a:rPr lang="en-US" sz="1275" dirty="0">
                <a:solidFill>
                  <a:srgbClr val="000000"/>
                </a:solidFill>
                <a:latin typeface="Calibri (MS)"/>
                <a:ea typeface="Calibri (MS)"/>
                <a:cs typeface="Calibri (MS)"/>
                <a:sym typeface="Calibri (MS)"/>
              </a:rPr>
              <a:t>, </a:t>
            </a:r>
            <a:r>
              <a:rPr lang="en-US" sz="1275" dirty="0" err="1">
                <a:solidFill>
                  <a:srgbClr val="000000"/>
                </a:solidFill>
                <a:latin typeface="Calibri (MS)"/>
                <a:ea typeface="Calibri (MS)"/>
                <a:cs typeface="Calibri (MS)"/>
                <a:sym typeface="Calibri (MS)"/>
              </a:rPr>
              <a:t>exhaule</a:t>
            </a:r>
            <a:r>
              <a:rPr lang="en-US" sz="1275" dirty="0">
                <a:solidFill>
                  <a:srgbClr val="000000"/>
                </a:solidFill>
                <a:latin typeface="Calibri (MS)"/>
                <a:ea typeface="Calibri (MS)"/>
                <a:cs typeface="Calibri (MS)"/>
                <a:sym typeface="Calibri (MS)"/>
              </a:rPr>
              <a:t>, hold.</a:t>
            </a:r>
          </a:p>
          <a:p>
            <a:pPr algn="l">
              <a:lnSpc>
                <a:spcPts val="1530"/>
              </a:lnSpc>
            </a:pPr>
            <a:r>
              <a:rPr lang="en-US" sz="1275" dirty="0">
                <a:solidFill>
                  <a:srgbClr val="000000"/>
                </a:solidFill>
                <a:latin typeface="Calibri (MS)"/>
                <a:ea typeface="Calibri (MS)"/>
                <a:cs typeface="Calibri (MS)"/>
                <a:sym typeface="Calibri (MS)"/>
              </a:rPr>
              <a:t>7. Ask effective questions in meetings. It is best to prepare a list of questions in advanced. Item3.</a:t>
            </a:r>
          </a:p>
          <a:p>
            <a:pPr algn="l">
              <a:lnSpc>
                <a:spcPts val="1530"/>
              </a:lnSpc>
            </a:pPr>
            <a:r>
              <a:rPr lang="en-US" sz="1275" dirty="0">
                <a:solidFill>
                  <a:srgbClr val="000000"/>
                </a:solidFill>
                <a:latin typeface="Calibri (MS)"/>
                <a:ea typeface="Calibri (MS)"/>
                <a:cs typeface="Calibri (MS)"/>
                <a:sym typeface="Calibri (MS)"/>
              </a:rPr>
              <a:t>8. Collect thank you notes  for your KPI and achievement… Documentation, naming rules. Mise </a:t>
            </a:r>
            <a:r>
              <a:rPr lang="en-US" sz="1275" dirty="0" err="1">
                <a:solidFill>
                  <a:srgbClr val="000000"/>
                </a:solidFill>
                <a:latin typeface="Calibri (MS)"/>
                <a:ea typeface="Calibri (MS)"/>
                <a:cs typeface="Calibri (MS)"/>
                <a:sym typeface="Calibri (MS)"/>
              </a:rPr>
              <a:t>en</a:t>
            </a:r>
            <a:r>
              <a:rPr lang="en-US" sz="1275" dirty="0">
                <a:solidFill>
                  <a:srgbClr val="000000"/>
                </a:solidFill>
                <a:latin typeface="Calibri (MS)"/>
                <a:ea typeface="Calibri (MS)"/>
                <a:cs typeface="Calibri (MS)"/>
                <a:sym typeface="Calibri (MS)"/>
              </a:rPr>
              <a:t> place.</a:t>
            </a:r>
          </a:p>
          <a:p>
            <a:pPr algn="l">
              <a:lnSpc>
                <a:spcPts val="1530"/>
              </a:lnSpc>
            </a:pPr>
            <a:r>
              <a:rPr lang="en-US" sz="1275" dirty="0">
                <a:solidFill>
                  <a:srgbClr val="000000"/>
                </a:solidFill>
                <a:latin typeface="Calibri (MS)"/>
                <a:ea typeface="Calibri (MS)"/>
                <a:cs typeface="Calibri (MS)"/>
                <a:sym typeface="Calibri (MS)"/>
              </a:rPr>
              <a:t>9. Don't be jealous of your colleagues and don't treat them as your best friends, especially when personal interests conflict. Don’t add them in your social media APP, only in </a:t>
            </a:r>
            <a:r>
              <a:rPr lang="en-US" sz="1275" dirty="0" err="1">
                <a:solidFill>
                  <a:srgbClr val="000000"/>
                </a:solidFill>
                <a:latin typeface="Calibri (MS)"/>
                <a:ea typeface="Calibri (MS)"/>
                <a:cs typeface="Calibri (MS)"/>
                <a:sym typeface="Calibri (MS)"/>
              </a:rPr>
              <a:t>Linkedin</a:t>
            </a:r>
            <a:r>
              <a:rPr lang="en-US" sz="1275" dirty="0">
                <a:solidFill>
                  <a:srgbClr val="000000"/>
                </a:solidFill>
                <a:latin typeface="Calibri (MS)"/>
                <a:ea typeface="Calibri (MS)"/>
                <a:cs typeface="Calibri (MS)"/>
                <a:sym typeface="Calibri (MS)"/>
              </a:rPr>
              <a:t>.  To set privacy for friends only. Don’t make joke who you may not know you well. To learn from your colleagues, no matter how old is he or she. Don’t do political judge.</a:t>
            </a:r>
          </a:p>
          <a:p>
            <a:pPr algn="l">
              <a:lnSpc>
                <a:spcPts val="1530"/>
              </a:lnSpc>
            </a:pPr>
            <a:r>
              <a:rPr lang="en-US" sz="1275" dirty="0">
                <a:solidFill>
                  <a:srgbClr val="000000"/>
                </a:solidFill>
                <a:latin typeface="Calibri (MS)"/>
                <a:ea typeface="Calibri (MS)"/>
                <a:cs typeface="Calibri (MS)"/>
                <a:sym typeface="Calibri (MS)"/>
              </a:rPr>
              <a:t>10. Determine what your priorities are now. Distinguish between what you cannot control and what you can control. Item 141. And focus on what you can control and ask for help/support for what you cannot control. Item 141.</a:t>
            </a:r>
          </a:p>
          <a:p>
            <a:pPr algn="l">
              <a:lnSpc>
                <a:spcPts val="1530"/>
              </a:lnSpc>
            </a:pPr>
            <a:r>
              <a:rPr lang="en-US" sz="1275" dirty="0">
                <a:solidFill>
                  <a:srgbClr val="000000"/>
                </a:solidFill>
                <a:latin typeface="Calibri (MS)"/>
                <a:ea typeface="Calibri (MS)"/>
                <a:cs typeface="Calibri (MS)"/>
                <a:sym typeface="Calibri (MS)"/>
              </a:rPr>
              <a:t>11. Check your spelling before sending the email. Using Google translate or Grammarly or using mandarin directly for urgent cases to avoid confusion and misunderstanding. There is a website to check grammar.</a:t>
            </a:r>
          </a:p>
          <a:p>
            <a:pPr algn="l">
              <a:lnSpc>
                <a:spcPts val="1530"/>
              </a:lnSpc>
            </a:pPr>
            <a:r>
              <a:rPr lang="en-US" sz="1275" dirty="0">
                <a:solidFill>
                  <a:srgbClr val="000000"/>
                </a:solidFill>
                <a:latin typeface="Calibri (MS)"/>
                <a:ea typeface="Calibri (MS)"/>
                <a:cs typeface="Calibri (MS)"/>
                <a:sym typeface="Calibri (MS)"/>
              </a:rPr>
              <a:t>12. Make sure you learn something during the project and document it. These skills/things will boost you or feedback or whatever adds value from long-term view.</a:t>
            </a:r>
          </a:p>
          <a:p>
            <a:pPr algn="l">
              <a:lnSpc>
                <a:spcPts val="1530"/>
              </a:lnSpc>
            </a:pPr>
            <a:r>
              <a:rPr lang="en-US" sz="1275" dirty="0">
                <a:solidFill>
                  <a:srgbClr val="000000"/>
                </a:solidFill>
                <a:latin typeface="Calibri (MS)"/>
                <a:ea typeface="Calibri (MS)"/>
                <a:cs typeface="Calibri (MS)"/>
                <a:sym typeface="Calibri (MS)"/>
              </a:rPr>
              <a:t>13. Don't add your colleagues on social media unless LINKEDIN. Item 9. And not put many emotion in your post / email. Using a smile face.</a:t>
            </a:r>
          </a:p>
          <a:p>
            <a:pPr algn="l">
              <a:lnSpc>
                <a:spcPts val="1530"/>
              </a:lnSpc>
            </a:pPr>
            <a:r>
              <a:rPr lang="en-US" sz="1275" dirty="0">
                <a:solidFill>
                  <a:srgbClr val="000000"/>
                </a:solidFill>
                <a:latin typeface="Calibri (MS)"/>
                <a:ea typeface="Calibri (MS)"/>
                <a:cs typeface="Calibri (MS)"/>
                <a:sym typeface="Calibri (MS)"/>
              </a:rPr>
              <a:t>14. Focus. Follow a course until you succeed. Stay the course. Don’t’ quit till reach the goal. Take a rest, don't quit</a:t>
            </a:r>
          </a:p>
          <a:p>
            <a:pPr algn="l">
              <a:lnSpc>
                <a:spcPts val="1530"/>
              </a:lnSpc>
            </a:pPr>
            <a:r>
              <a:rPr lang="en-US" sz="1275" dirty="0">
                <a:solidFill>
                  <a:srgbClr val="000000"/>
                </a:solidFill>
                <a:latin typeface="Calibri (MS)"/>
                <a:ea typeface="Calibri (MS)"/>
                <a:cs typeface="Calibri (MS)"/>
                <a:sym typeface="Calibri (MS)"/>
              </a:rPr>
              <a:t>15. What easier things can you do right now ( or in 10s) for your dreams / job/project? (MVP : minimum viable product) and using “divide and conquer” mindset. Make a short statement for next time, using a simple keywords or statement, talk directly. 16 keywords.</a:t>
            </a:r>
          </a:p>
          <a:p>
            <a:pPr algn="l">
              <a:lnSpc>
                <a:spcPts val="1530"/>
              </a:lnSpc>
            </a:pPr>
            <a:r>
              <a:rPr lang="en-US" sz="1275" dirty="0">
                <a:solidFill>
                  <a:srgbClr val="000000"/>
                </a:solidFill>
                <a:latin typeface="Calibri (MS)"/>
                <a:ea typeface="Calibri (MS)"/>
                <a:cs typeface="Calibri (MS)"/>
                <a:sym typeface="Calibri (MS)"/>
              </a:rPr>
              <a:t>16. Don’t over-reply to email discussions. To organize the content for routine. Review it within certain </a:t>
            </a:r>
            <a:r>
              <a:rPr lang="en-US" sz="1275" dirty="0" err="1">
                <a:solidFill>
                  <a:srgbClr val="000000"/>
                </a:solidFill>
                <a:latin typeface="Calibri (MS)"/>
                <a:ea typeface="Calibri (MS)"/>
                <a:cs typeface="Calibri (MS)"/>
                <a:sym typeface="Calibri (MS)"/>
              </a:rPr>
              <a:t>period.六時書</a:t>
            </a:r>
            <a:endParaRPr lang="en-US" sz="1275" dirty="0">
              <a:solidFill>
                <a:srgbClr val="000000"/>
              </a:solidFill>
              <a:latin typeface="Calibri (MS)"/>
              <a:ea typeface="Calibri (MS)"/>
              <a:cs typeface="Calibri (MS)"/>
              <a:sym typeface="Calibri (MS)"/>
            </a:endParaRPr>
          </a:p>
          <a:p>
            <a:pPr algn="l">
              <a:lnSpc>
                <a:spcPts val="1530"/>
              </a:lnSpc>
            </a:pPr>
            <a:r>
              <a:rPr lang="en-US" sz="1275" dirty="0">
                <a:solidFill>
                  <a:srgbClr val="000000"/>
                </a:solidFill>
                <a:latin typeface="Calibri (MS)"/>
                <a:ea typeface="Calibri (MS)"/>
                <a:cs typeface="Calibri (MS)"/>
                <a:sym typeface="Calibri (MS)"/>
              </a:rPr>
              <a:t>17. Do not interrupt others when his speech is not </a:t>
            </a:r>
            <a:r>
              <a:rPr lang="en-US" sz="1275" dirty="0" err="1">
                <a:solidFill>
                  <a:srgbClr val="000000"/>
                </a:solidFill>
                <a:latin typeface="Calibri (MS)"/>
                <a:ea typeface="Calibri (MS)"/>
                <a:cs typeface="Calibri (MS)"/>
                <a:sym typeface="Calibri (MS)"/>
              </a:rPr>
              <a:t>finished.優雅的</a:t>
            </a:r>
            <a:r>
              <a:rPr lang="en-US" sz="1275" dirty="0">
                <a:solidFill>
                  <a:srgbClr val="000000"/>
                </a:solidFill>
                <a:latin typeface="Calibri (MS)"/>
                <a:ea typeface="Calibri (MS)"/>
                <a:cs typeface="Calibri (MS)"/>
                <a:sym typeface="Calibri (MS)"/>
              </a:rPr>
              <a:t> elegant.</a:t>
            </a:r>
          </a:p>
          <a:p>
            <a:pPr algn="l">
              <a:lnSpc>
                <a:spcPts val="1530"/>
              </a:lnSpc>
            </a:pPr>
            <a:r>
              <a:rPr lang="en-US" sz="1275" dirty="0">
                <a:solidFill>
                  <a:srgbClr val="000000"/>
                </a:solidFill>
                <a:latin typeface="Calibri (MS)"/>
                <a:ea typeface="Calibri (MS)"/>
                <a:cs typeface="Calibri (MS)"/>
                <a:sym typeface="Calibri (MS)"/>
              </a:rPr>
              <a:t>18. Set up a routine in your calendar (your own standup meeting) to review your project / life routine, to save brain energy. ( to add items if any) ( modify flow if any.) Ritual of daily.  Expert mindset.</a:t>
            </a:r>
          </a:p>
          <a:p>
            <a:pPr algn="l">
              <a:lnSpc>
                <a:spcPts val="1530"/>
              </a:lnSpc>
            </a:pPr>
            <a:r>
              <a:rPr lang="en-US" sz="1275" dirty="0">
                <a:solidFill>
                  <a:srgbClr val="000000"/>
                </a:solidFill>
                <a:latin typeface="Calibri (MS)"/>
                <a:ea typeface="Calibri (MS)"/>
                <a:cs typeface="Calibri (MS)"/>
                <a:sym typeface="Calibri (MS)"/>
              </a:rPr>
              <a:t>17. Learn some remote work skills, potential issues, and how to present. Ex, sharing ppt and show your face during presentation. Increase your mobility. Be well-groomed appearance in a video call. Checking your talking speed. ( not to rush.) speak out</a:t>
            </a:r>
          </a:p>
          <a:p>
            <a:pPr algn="l">
              <a:lnSpc>
                <a:spcPts val="1530"/>
              </a:lnSpc>
            </a:pPr>
            <a:r>
              <a:rPr lang="en-US" sz="1275" dirty="0">
                <a:solidFill>
                  <a:srgbClr val="000000"/>
                </a:solidFill>
                <a:latin typeface="Calibri (MS)"/>
                <a:ea typeface="Calibri (MS)"/>
                <a:cs typeface="Calibri (MS)"/>
                <a:sym typeface="Calibri (MS)"/>
              </a:rPr>
              <a:t>18. When stating more than 3 or more situations in the email, try to call directly instead of email.</a:t>
            </a:r>
          </a:p>
          <a:p>
            <a:pPr algn="l">
              <a:lnSpc>
                <a:spcPts val="1530"/>
              </a:lnSpc>
            </a:pPr>
            <a:r>
              <a:rPr lang="en-US" sz="1275" dirty="0">
                <a:solidFill>
                  <a:srgbClr val="000000"/>
                </a:solidFill>
                <a:latin typeface="Calibri (MS)"/>
                <a:ea typeface="Calibri (MS)"/>
                <a:cs typeface="Calibri (MS)"/>
                <a:sym typeface="Calibri (MS)"/>
              </a:rPr>
              <a:t>19. "Say Yes", ”you are correct.” don't use negative words like "but", "however".  Using“ what do you think?” “ your opinion?”  It is talking about how to fix the problem and move the things further.</a:t>
            </a:r>
          </a:p>
          <a:p>
            <a:pPr algn="l">
              <a:lnSpc>
                <a:spcPts val="1530"/>
              </a:lnSpc>
            </a:pPr>
            <a:r>
              <a:rPr lang="en-US" sz="1275" dirty="0">
                <a:solidFill>
                  <a:srgbClr val="000000"/>
                </a:solidFill>
                <a:latin typeface="Calibri (MS)"/>
                <a:ea typeface="Calibri (MS)"/>
                <a:cs typeface="Calibri (MS)"/>
                <a:sym typeface="Calibri (MS)"/>
              </a:rPr>
              <a:t>20. Set your status to "Do Not Disturb" in your social media if you want. Ex: Friday afternoon. Or in your scared time. Using </a:t>
            </a:r>
            <a:r>
              <a:rPr lang="en-US" sz="1275" dirty="0" err="1">
                <a:solidFill>
                  <a:srgbClr val="000000"/>
                </a:solidFill>
                <a:latin typeface="Calibri (MS)"/>
                <a:ea typeface="Calibri (MS)"/>
                <a:cs typeface="Calibri (MS)"/>
                <a:sym typeface="Calibri (MS)"/>
              </a:rPr>
              <a:t>atuo</a:t>
            </a:r>
            <a:r>
              <a:rPr lang="en-US" sz="1275" dirty="0">
                <a:solidFill>
                  <a:srgbClr val="000000"/>
                </a:solidFill>
                <a:latin typeface="Calibri (MS)"/>
                <a:ea typeface="Calibri (MS)"/>
                <a:cs typeface="Calibri (MS)"/>
                <a:sym typeface="Calibri (MS)"/>
              </a:rPr>
              <a:t> email reply. Set Occupied in the calendar. Even in the night time for different site.</a:t>
            </a:r>
          </a:p>
          <a:p>
            <a:pPr algn="l">
              <a:lnSpc>
                <a:spcPts val="1530"/>
              </a:lnSpc>
            </a:pPr>
            <a:r>
              <a:rPr lang="en-US" sz="1275" dirty="0">
                <a:solidFill>
                  <a:srgbClr val="000000"/>
                </a:solidFill>
                <a:latin typeface="Calibri (MS)"/>
                <a:ea typeface="Calibri (MS)"/>
                <a:cs typeface="Calibri (MS)"/>
                <a:sym typeface="Calibri (MS)"/>
              </a:rPr>
              <a:t>21. Sometimes you need to put your ass heavy. Move slowly.  Sometimes do not behave over proactively. Ex, overlook some emails which requests you do unreasonable tasks. If that is not your position to answer, don't reply.</a:t>
            </a:r>
          </a:p>
          <a:p>
            <a:pPr algn="l">
              <a:lnSpc>
                <a:spcPts val="1530"/>
              </a:lnSpc>
            </a:pPr>
            <a:r>
              <a:rPr lang="en-US" sz="1275" dirty="0">
                <a:solidFill>
                  <a:srgbClr val="000000"/>
                </a:solidFill>
                <a:latin typeface="Calibri (MS)"/>
                <a:ea typeface="Calibri (MS)"/>
                <a:cs typeface="Calibri (MS)"/>
                <a:sym typeface="Calibri (MS)"/>
              </a:rPr>
              <a:t>22. Write down meeting minutes, even no one asks you. For better traceability. You may reuse it next time.</a:t>
            </a:r>
            <a:r>
              <a:rPr lang="zh-TW" altLang="en-US" sz="1275" dirty="0">
                <a:solidFill>
                  <a:srgbClr val="000000"/>
                </a:solidFill>
                <a:latin typeface="Calibri (MS)"/>
                <a:ea typeface="Calibri (MS)"/>
                <a:cs typeface="Calibri (MS)"/>
                <a:sym typeface="Calibri (MS)"/>
              </a:rPr>
              <a:t> </a:t>
            </a:r>
            <a:r>
              <a:rPr lang="en-US" altLang="zh-TW" sz="1275" dirty="0">
                <a:solidFill>
                  <a:srgbClr val="000000"/>
                </a:solidFill>
                <a:latin typeface="Calibri (MS)"/>
                <a:ea typeface="Calibri (MS)"/>
                <a:cs typeface="Calibri (MS)"/>
                <a:sym typeface="Calibri (MS)"/>
              </a:rPr>
              <a:t>Even a simple words.</a:t>
            </a:r>
            <a:endParaRPr lang="en-US" sz="1275" dirty="0">
              <a:solidFill>
                <a:srgbClr val="000000"/>
              </a:solidFill>
              <a:latin typeface="Calibri (MS)"/>
              <a:ea typeface="Calibri (MS)"/>
              <a:cs typeface="Calibri (MS)"/>
              <a:sym typeface="Calibri (MS)"/>
            </a:endParaRPr>
          </a:p>
          <a:p>
            <a:pPr algn="l">
              <a:lnSpc>
                <a:spcPts val="1530"/>
              </a:lnSpc>
            </a:pPr>
            <a:r>
              <a:rPr lang="en-US" sz="1275" dirty="0">
                <a:solidFill>
                  <a:srgbClr val="000000"/>
                </a:solidFill>
                <a:latin typeface="Calibri (MS)"/>
                <a:ea typeface="Calibri (MS)"/>
                <a:cs typeface="Calibri (MS)"/>
                <a:sym typeface="Calibri (MS)"/>
              </a:rPr>
              <a:t>23. Try to speed up or automate your work. (10 times speed) Create templates. Re-organize flow. Try to optimize. Good document. Nice voice tone.</a:t>
            </a:r>
          </a:p>
          <a:p>
            <a:pPr algn="l">
              <a:lnSpc>
                <a:spcPts val="1530"/>
              </a:lnSpc>
            </a:pPr>
            <a:r>
              <a:rPr lang="en-US" sz="1275" dirty="0">
                <a:solidFill>
                  <a:srgbClr val="000000"/>
                </a:solidFill>
                <a:latin typeface="Calibri (MS)"/>
                <a:ea typeface="Calibri (MS)"/>
                <a:cs typeface="Calibri (MS)"/>
                <a:sym typeface="Calibri (MS)"/>
              </a:rPr>
              <a:t>24. Document your work. It will help you a lot in the future. Ex. OneNote, or XMIND to link each index. ( Email is not good documentation. ) Email to OneNote. Create folder. Categorize the email.</a:t>
            </a:r>
          </a:p>
          <a:p>
            <a:pPr algn="l">
              <a:lnSpc>
                <a:spcPts val="1530"/>
              </a:lnSpc>
            </a:pPr>
            <a:r>
              <a:rPr lang="en-US" sz="1275" dirty="0">
                <a:solidFill>
                  <a:srgbClr val="000000"/>
                </a:solidFill>
                <a:latin typeface="Calibri (MS)"/>
                <a:ea typeface="Calibri (MS)"/>
                <a:cs typeface="Calibri (MS)"/>
                <a:sym typeface="Calibri (MS)"/>
              </a:rPr>
              <a:t>25. Try to ignore some emails with inappropriate \ emotional words or statements. Learning how to deal with it and react (vs response). It is a great opportunity to make your mind stronger. Mental resilience. Simply ignore it.</a:t>
            </a:r>
          </a:p>
          <a:p>
            <a:pPr algn="l">
              <a:lnSpc>
                <a:spcPts val="1530"/>
              </a:lnSpc>
            </a:pPr>
            <a:r>
              <a:rPr lang="en-US" sz="1275" dirty="0">
                <a:solidFill>
                  <a:srgbClr val="000000"/>
                </a:solidFill>
                <a:latin typeface="Calibri (MS)"/>
                <a:ea typeface="Calibri (MS)"/>
                <a:cs typeface="Calibri (MS)"/>
                <a:sym typeface="Calibri (MS)"/>
              </a:rPr>
              <a:t>26. Only check emails  which  mention your name or be requested to reply. ( ask others to have a clear request, even from managers.) categorize project, trash, archive, to be done.</a:t>
            </a:r>
          </a:p>
          <a:p>
            <a:pPr algn="l">
              <a:lnSpc>
                <a:spcPts val="2520"/>
              </a:lnSpc>
            </a:pPr>
            <a:endParaRPr lang="en-US" sz="1275" dirty="0">
              <a:solidFill>
                <a:srgbClr val="000000"/>
              </a:solidFill>
              <a:latin typeface="Calibri (MS)"/>
              <a:ea typeface="Calibri (MS)"/>
              <a:cs typeface="Calibri (MS)"/>
              <a:sym typeface="Calibri (MS)"/>
            </a:endParaRPr>
          </a:p>
        </p:txBody>
      </p:sp>
      <p:sp>
        <p:nvSpPr>
          <p:cNvPr id="3" name="TextBox 3"/>
          <p:cNvSpPr txBox="1"/>
          <p:nvPr/>
        </p:nvSpPr>
        <p:spPr>
          <a:xfrm>
            <a:off x="8217818" y="26651"/>
            <a:ext cx="7927496" cy="10548547"/>
          </a:xfrm>
          <a:prstGeom prst="rect">
            <a:avLst/>
          </a:prstGeom>
        </p:spPr>
        <p:txBody>
          <a:bodyPr lIns="0" tIns="0" rIns="0" bIns="0" rtlCol="0" anchor="t">
            <a:spAutoFit/>
          </a:bodyPr>
          <a:lstStyle/>
          <a:p>
            <a:pPr algn="l">
              <a:lnSpc>
                <a:spcPts val="1439"/>
              </a:lnSpc>
            </a:pPr>
            <a:r>
              <a:rPr lang="en-US" sz="1200" dirty="0">
                <a:solidFill>
                  <a:srgbClr val="000000"/>
                </a:solidFill>
                <a:latin typeface="Calibri (MS)"/>
                <a:ea typeface="Calibri (MS)"/>
                <a:cs typeface="Calibri (MS)"/>
                <a:sym typeface="Calibri (MS)"/>
              </a:rPr>
              <a:t>27. Try to level up your skill. See item12. Or make it faster. 10 times quick and deeper and documentation. Automation, lean, scrum mindset. Faster and focus on key items. (</a:t>
            </a:r>
            <a:r>
              <a:rPr lang="en-US" sz="1200" dirty="0" err="1">
                <a:solidFill>
                  <a:srgbClr val="000000"/>
                </a:solidFill>
                <a:latin typeface="Calibri (MS)"/>
                <a:ea typeface="Calibri (MS)"/>
                <a:cs typeface="Calibri (MS)"/>
                <a:sym typeface="Calibri (MS)"/>
              </a:rPr>
              <a:t>知熟精通</a:t>
            </a:r>
            <a:r>
              <a:rPr lang="en-US" sz="1200" dirty="0">
                <a:solidFill>
                  <a:srgbClr val="000000"/>
                </a:solidFill>
                <a:latin typeface="Calibri (MS)"/>
                <a:ea typeface="Calibri (MS)"/>
                <a:cs typeface="Calibri (MS)"/>
                <a:sym typeface="Calibri (MS)"/>
              </a:rPr>
              <a:t>, teach others) Expert mindset / one company mindset. It may take your whole life</a:t>
            </a:r>
          </a:p>
          <a:p>
            <a:pPr algn="l">
              <a:lnSpc>
                <a:spcPts val="1439"/>
              </a:lnSpc>
            </a:pPr>
            <a:r>
              <a:rPr lang="en-US" sz="1200" dirty="0">
                <a:solidFill>
                  <a:srgbClr val="000000"/>
                </a:solidFill>
                <a:latin typeface="Calibri (MS)"/>
                <a:ea typeface="Calibri (MS)"/>
                <a:cs typeface="Calibri (MS)"/>
                <a:sym typeface="Calibri (MS)"/>
              </a:rPr>
              <a:t>28. Try creating some templates (</a:t>
            </a:r>
            <a:r>
              <a:rPr lang="en-US" sz="1200" dirty="0" err="1">
                <a:solidFill>
                  <a:srgbClr val="000000"/>
                </a:solidFill>
                <a:latin typeface="Calibri (MS)"/>
                <a:ea typeface="Calibri (MS)"/>
                <a:cs typeface="Calibri (MS)"/>
                <a:sym typeface="Calibri (MS)"/>
              </a:rPr>
              <a:t>PowerBI</a:t>
            </a:r>
            <a:r>
              <a:rPr lang="en-US" sz="1200" dirty="0">
                <a:solidFill>
                  <a:srgbClr val="000000"/>
                </a:solidFill>
                <a:latin typeface="Calibri (MS)"/>
                <a:ea typeface="Calibri (MS)"/>
                <a:cs typeface="Calibri (MS)"/>
                <a:sym typeface="Calibri (MS)"/>
              </a:rPr>
              <a:t>). This will save you time, learn from other product. You will be more competitive than others. Automation, auto-pilot project. Good to have a competitive mindset to survive. Win-win mindset?  ( without knowing concept / theory, you cannot create.) Don’t be shy. Kiann-</a:t>
            </a:r>
            <a:r>
              <a:rPr lang="en-US" sz="1200" dirty="0" err="1">
                <a:solidFill>
                  <a:srgbClr val="000000"/>
                </a:solidFill>
                <a:latin typeface="Calibri (MS)"/>
                <a:ea typeface="Calibri (MS)"/>
                <a:cs typeface="Calibri (MS)"/>
                <a:sym typeface="Calibri (MS)"/>
              </a:rPr>
              <a:t>kiann</a:t>
            </a:r>
            <a:r>
              <a:rPr lang="en-US" sz="1200" dirty="0">
                <a:solidFill>
                  <a:srgbClr val="000000"/>
                </a:solidFill>
                <a:latin typeface="Calibri (MS)"/>
                <a:ea typeface="Calibri (MS)"/>
                <a:cs typeface="Calibri (MS)"/>
                <a:sym typeface="Calibri (MS)"/>
              </a:rPr>
              <a:t> </a:t>
            </a:r>
            <a:r>
              <a:rPr lang="en-US" sz="1200" dirty="0" err="1">
                <a:solidFill>
                  <a:srgbClr val="000000"/>
                </a:solidFill>
                <a:latin typeface="Calibri (MS)"/>
                <a:ea typeface="Calibri (MS)"/>
                <a:cs typeface="Calibri (MS)"/>
                <a:sym typeface="Calibri (MS)"/>
              </a:rPr>
              <a:t>boe</a:t>
            </a:r>
            <a:r>
              <a:rPr lang="en-US" sz="1200" dirty="0">
                <a:solidFill>
                  <a:srgbClr val="000000"/>
                </a:solidFill>
                <a:latin typeface="Calibri (MS)"/>
                <a:ea typeface="Calibri (MS)"/>
                <a:cs typeface="Calibri (MS)"/>
                <a:sym typeface="Calibri (MS)"/>
              </a:rPr>
              <a:t> </a:t>
            </a:r>
            <a:r>
              <a:rPr lang="en-US" sz="1200" dirty="0" err="1">
                <a:solidFill>
                  <a:srgbClr val="000000"/>
                </a:solidFill>
                <a:latin typeface="Calibri (MS)"/>
                <a:ea typeface="Calibri (MS)"/>
                <a:cs typeface="Calibri (MS)"/>
                <a:sym typeface="Calibri (MS)"/>
              </a:rPr>
              <a:t>tiohteng</a:t>
            </a:r>
            <a:r>
              <a:rPr lang="en-US" sz="1200" dirty="0">
                <a:solidFill>
                  <a:srgbClr val="000000"/>
                </a:solidFill>
                <a:latin typeface="Calibri (MS)"/>
                <a:ea typeface="Calibri (MS)"/>
                <a:cs typeface="Calibri (MS)"/>
                <a:sym typeface="Calibri (MS)"/>
              </a:rPr>
              <a:t>, </a:t>
            </a:r>
            <a:r>
              <a:rPr lang="en-US" sz="1200" dirty="0" err="1">
                <a:solidFill>
                  <a:srgbClr val="000000"/>
                </a:solidFill>
                <a:latin typeface="Calibri (MS)"/>
                <a:ea typeface="Calibri (MS)"/>
                <a:cs typeface="Calibri (MS)"/>
                <a:sym typeface="Calibri (MS)"/>
              </a:rPr>
              <a:t>kann</a:t>
            </a:r>
            <a:r>
              <a:rPr lang="en-US" sz="1200" dirty="0">
                <a:solidFill>
                  <a:srgbClr val="000000"/>
                </a:solidFill>
                <a:latin typeface="Calibri (MS)"/>
                <a:ea typeface="Calibri (MS)"/>
                <a:cs typeface="Calibri (MS)"/>
                <a:sym typeface="Calibri (MS)"/>
              </a:rPr>
              <a:t>—e </a:t>
            </a:r>
            <a:r>
              <a:rPr lang="en-US" sz="1200" dirty="0" err="1">
                <a:solidFill>
                  <a:srgbClr val="000000"/>
                </a:solidFill>
                <a:latin typeface="Calibri (MS)"/>
                <a:ea typeface="Calibri (MS)"/>
                <a:cs typeface="Calibri (MS)"/>
                <a:sym typeface="Calibri (MS)"/>
              </a:rPr>
              <a:t>ngeh</a:t>
            </a:r>
            <a:r>
              <a:rPr lang="en-US" sz="1200" dirty="0">
                <a:solidFill>
                  <a:srgbClr val="000000"/>
                </a:solidFill>
                <a:latin typeface="Calibri (MS)"/>
                <a:ea typeface="Calibri (MS)"/>
                <a:cs typeface="Calibri (MS)"/>
                <a:sym typeface="Calibri (MS)"/>
              </a:rPr>
              <a:t> </a:t>
            </a:r>
            <a:r>
              <a:rPr lang="en-US" sz="1200" dirty="0" err="1">
                <a:solidFill>
                  <a:srgbClr val="000000"/>
                </a:solidFill>
                <a:latin typeface="Calibri (MS)"/>
                <a:ea typeface="Calibri (MS)"/>
                <a:cs typeface="Calibri (MS)"/>
                <a:sym typeface="Calibri (MS)"/>
              </a:rPr>
              <a:t>khi</a:t>
            </a:r>
            <a:r>
              <a:rPr lang="en-US" sz="1200" dirty="0">
                <a:solidFill>
                  <a:srgbClr val="000000"/>
                </a:solidFill>
                <a:latin typeface="Calibri (MS)"/>
                <a:ea typeface="Calibri (MS)"/>
                <a:cs typeface="Calibri (MS)"/>
                <a:sym typeface="Calibri (MS)"/>
              </a:rPr>
              <a:t> </a:t>
            </a:r>
            <a:r>
              <a:rPr lang="en-US" sz="1200" dirty="0" err="1">
                <a:solidFill>
                  <a:srgbClr val="000000"/>
                </a:solidFill>
                <a:latin typeface="Calibri (MS)"/>
                <a:ea typeface="Calibri (MS)"/>
                <a:cs typeface="Calibri (MS)"/>
                <a:sym typeface="Calibri (MS)"/>
              </a:rPr>
              <a:t>phoe</a:t>
            </a:r>
            <a:r>
              <a:rPr lang="en-US" sz="1200" dirty="0">
                <a:solidFill>
                  <a:srgbClr val="000000"/>
                </a:solidFill>
                <a:latin typeface="Calibri (MS)"/>
                <a:ea typeface="Calibri (MS)"/>
                <a:cs typeface="Calibri (MS)"/>
                <a:sym typeface="Calibri (MS)"/>
              </a:rPr>
              <a:t>. </a:t>
            </a:r>
          </a:p>
          <a:p>
            <a:pPr algn="l">
              <a:lnSpc>
                <a:spcPts val="1439"/>
              </a:lnSpc>
            </a:pPr>
            <a:r>
              <a:rPr lang="en-US" sz="1200" dirty="0">
                <a:solidFill>
                  <a:srgbClr val="000000"/>
                </a:solidFill>
                <a:latin typeface="Calibri (MS)"/>
                <a:ea typeface="Calibri (MS)"/>
                <a:cs typeface="Calibri (MS)"/>
                <a:sym typeface="Calibri (MS)"/>
              </a:rPr>
              <a:t>29. Remember that failure always happens. Item 23. Try to fix by Fast fail. And they will pass. Failure is the Nutrient of Success. Do risk assessment for black swan. No mistake, you never learn. ( not stick with pursuit perfect.) Don’t be afraid of failure. Mental resilience. Old VUCA, new </a:t>
            </a:r>
            <a:r>
              <a:rPr lang="en-US" sz="1200" dirty="0" err="1">
                <a:solidFill>
                  <a:srgbClr val="000000"/>
                </a:solidFill>
                <a:latin typeface="Calibri (MS)"/>
                <a:ea typeface="Calibri (MS)"/>
                <a:cs typeface="Calibri (MS)"/>
                <a:sym typeface="Calibri (MS)"/>
              </a:rPr>
              <a:t>VUCA.易變性（volatility</a:t>
            </a:r>
            <a:r>
              <a:rPr lang="en-US" sz="1200" dirty="0">
                <a:solidFill>
                  <a:srgbClr val="000000"/>
                </a:solidFill>
                <a:latin typeface="Calibri (MS)"/>
                <a:ea typeface="Calibri (MS)"/>
                <a:cs typeface="Calibri (MS)"/>
                <a:sym typeface="Calibri (MS)"/>
              </a:rPr>
              <a:t>）、</a:t>
            </a:r>
            <a:r>
              <a:rPr lang="en-US" sz="1200" dirty="0" err="1">
                <a:solidFill>
                  <a:srgbClr val="000000"/>
                </a:solidFill>
                <a:latin typeface="Calibri (MS)"/>
                <a:ea typeface="Calibri (MS)"/>
                <a:cs typeface="Calibri (MS)"/>
                <a:sym typeface="Calibri (MS)"/>
              </a:rPr>
              <a:t>不確定性（uncertainty</a:t>
            </a:r>
            <a:r>
              <a:rPr lang="en-US" sz="1200" dirty="0">
                <a:solidFill>
                  <a:srgbClr val="000000"/>
                </a:solidFill>
                <a:latin typeface="Calibri (MS)"/>
                <a:ea typeface="Calibri (MS)"/>
                <a:cs typeface="Calibri (MS)"/>
                <a:sym typeface="Calibri (MS)"/>
              </a:rPr>
              <a:t>）、</a:t>
            </a:r>
            <a:r>
              <a:rPr lang="en-US" sz="1200" dirty="0" err="1">
                <a:solidFill>
                  <a:srgbClr val="000000"/>
                </a:solidFill>
                <a:latin typeface="Calibri (MS)"/>
                <a:ea typeface="Calibri (MS)"/>
                <a:cs typeface="Calibri (MS)"/>
                <a:sym typeface="Calibri (MS)"/>
              </a:rPr>
              <a:t>複雜性（complexity</a:t>
            </a:r>
            <a:r>
              <a:rPr lang="en-US" sz="1200" dirty="0">
                <a:solidFill>
                  <a:srgbClr val="000000"/>
                </a:solidFill>
                <a:latin typeface="Calibri (MS)"/>
                <a:ea typeface="Calibri (MS)"/>
                <a:cs typeface="Calibri (MS)"/>
                <a:sym typeface="Calibri (MS)"/>
              </a:rPr>
              <a:t>）、</a:t>
            </a:r>
            <a:r>
              <a:rPr lang="en-US" sz="1200" dirty="0" err="1">
                <a:solidFill>
                  <a:srgbClr val="000000"/>
                </a:solidFill>
                <a:latin typeface="Calibri (MS)"/>
                <a:ea typeface="Calibri (MS)"/>
                <a:cs typeface="Calibri (MS)"/>
                <a:sym typeface="Calibri (MS)"/>
              </a:rPr>
              <a:t>模糊性（ambiguity</a:t>
            </a:r>
            <a:r>
              <a:rPr lang="en-US" sz="1200" dirty="0">
                <a:solidFill>
                  <a:srgbClr val="000000"/>
                </a:solidFill>
                <a:latin typeface="Calibri (MS)"/>
                <a:ea typeface="Calibri (MS)"/>
                <a:cs typeface="Calibri (MS)"/>
                <a:sym typeface="Calibri (MS)"/>
              </a:rPr>
              <a:t>）; VUCA2.0： </a:t>
            </a:r>
            <a:r>
              <a:rPr lang="en-US" sz="1200" dirty="0" err="1">
                <a:solidFill>
                  <a:srgbClr val="000000"/>
                </a:solidFill>
                <a:latin typeface="Calibri (MS)"/>
                <a:ea typeface="Calibri (MS)"/>
                <a:cs typeface="Calibri (MS)"/>
                <a:sym typeface="Calibri (MS)"/>
              </a:rPr>
              <a:t>vision願景、understanding溝通了解、courage勇氣、adaptability適應</a:t>
            </a:r>
            <a:r>
              <a:rPr lang="en-US" sz="1200" dirty="0">
                <a:solidFill>
                  <a:srgbClr val="000000"/>
                </a:solidFill>
                <a:latin typeface="Calibri (MS)"/>
                <a:ea typeface="Calibri (MS)"/>
                <a:cs typeface="Calibri (MS)"/>
                <a:sym typeface="Calibri (MS)"/>
              </a:rPr>
              <a:t> ,</a:t>
            </a:r>
            <a:r>
              <a:rPr lang="en-US" sz="1200" dirty="0" err="1">
                <a:solidFill>
                  <a:srgbClr val="000000"/>
                </a:solidFill>
                <a:latin typeface="Calibri (MS)"/>
                <a:ea typeface="Calibri (MS)"/>
                <a:cs typeface="Calibri (MS)"/>
                <a:sym typeface="Calibri (MS)"/>
              </a:rPr>
              <a:t>預前驗屍</a:t>
            </a:r>
            <a:endParaRPr lang="en-US" sz="1200" dirty="0">
              <a:solidFill>
                <a:srgbClr val="000000"/>
              </a:solidFill>
              <a:latin typeface="Calibri (MS)"/>
              <a:ea typeface="Calibri (MS)"/>
              <a:cs typeface="Calibri (MS)"/>
              <a:sym typeface="Calibri (MS)"/>
            </a:endParaRPr>
          </a:p>
          <a:p>
            <a:pPr algn="l">
              <a:lnSpc>
                <a:spcPts val="1439"/>
              </a:lnSpc>
            </a:pPr>
            <a:r>
              <a:rPr lang="en-US" sz="1200" dirty="0">
                <a:solidFill>
                  <a:srgbClr val="000000"/>
                </a:solidFill>
                <a:latin typeface="Calibri (MS)"/>
                <a:ea typeface="Calibri (MS)"/>
                <a:cs typeface="Calibri (MS)"/>
                <a:sym typeface="Calibri (MS)"/>
              </a:rPr>
              <a:t>30. Prepare questions in advance. Leave some buffer for meetings or presentations. Don't forget list down some questions and ask during the call. Item 7. Item 3.</a:t>
            </a:r>
          </a:p>
          <a:p>
            <a:pPr algn="l">
              <a:lnSpc>
                <a:spcPts val="1439"/>
              </a:lnSpc>
            </a:pPr>
            <a:r>
              <a:rPr lang="en-US" sz="1200" dirty="0">
                <a:solidFill>
                  <a:srgbClr val="000000"/>
                </a:solidFill>
                <a:latin typeface="Calibri (MS)"/>
                <a:ea typeface="Calibri (MS)"/>
                <a:cs typeface="Calibri (MS)"/>
                <a:sym typeface="Calibri (MS)"/>
              </a:rPr>
              <a:t>31. Schedule your resources / energy (Gantt chart). Don't put a lot of things in one timeslot, including your leave and balance them. Energy of mind is  limited. Find a balance point between family and work ( it may be a bullshit). What is key skill / competency to learn for future, actions to take. ( any risk?) Thinking in bet.</a:t>
            </a:r>
          </a:p>
          <a:p>
            <a:pPr algn="l">
              <a:lnSpc>
                <a:spcPts val="1439"/>
              </a:lnSpc>
            </a:pPr>
            <a:r>
              <a:rPr lang="en-US" sz="1200" dirty="0">
                <a:solidFill>
                  <a:srgbClr val="000000"/>
                </a:solidFill>
                <a:latin typeface="Calibri (MS)"/>
                <a:ea typeface="Calibri (MS)"/>
                <a:cs typeface="Calibri (MS)"/>
                <a:sym typeface="Calibri (MS)"/>
              </a:rPr>
              <a:t>32. Use a timer to measure the time you spend on each task. Estimate the effort.</a:t>
            </a:r>
          </a:p>
          <a:p>
            <a:pPr algn="l">
              <a:lnSpc>
                <a:spcPts val="1439"/>
              </a:lnSpc>
            </a:pPr>
            <a:r>
              <a:rPr lang="en-US" sz="1200" dirty="0">
                <a:solidFill>
                  <a:srgbClr val="000000"/>
                </a:solidFill>
                <a:latin typeface="Calibri (MS)"/>
                <a:ea typeface="Calibri (MS)"/>
                <a:cs typeface="Calibri (MS)"/>
                <a:sym typeface="Calibri (MS)"/>
              </a:rPr>
              <a:t>33. Always have a good relationship with your assistants, bosses and colleagues no matter foreign or native or  other departments. ( supply chain, WPE, MPE, assembly- PA/CS, process Eng, quality and reliability…etc.) soft tone.</a:t>
            </a:r>
          </a:p>
          <a:p>
            <a:pPr algn="l">
              <a:lnSpc>
                <a:spcPts val="1439"/>
              </a:lnSpc>
            </a:pPr>
            <a:r>
              <a:rPr lang="en-US" sz="1200" dirty="0">
                <a:solidFill>
                  <a:srgbClr val="000000"/>
                </a:solidFill>
                <a:latin typeface="Calibri (MS)"/>
                <a:ea typeface="Calibri (MS)"/>
                <a:cs typeface="Calibri (MS)"/>
                <a:sym typeface="Calibri (MS)"/>
              </a:rPr>
              <a:t>34. Make sure your presentation is free of low-level errors, whether it's an email or a spoken speech or report. If yes, please admit it and correct it in next discussion. Make sure it won't happen twice.</a:t>
            </a:r>
          </a:p>
          <a:p>
            <a:pPr algn="l">
              <a:lnSpc>
                <a:spcPts val="1439"/>
              </a:lnSpc>
            </a:pPr>
            <a:r>
              <a:rPr lang="en-US" sz="1200" dirty="0">
                <a:solidFill>
                  <a:srgbClr val="000000"/>
                </a:solidFill>
                <a:latin typeface="Calibri (MS)"/>
                <a:ea typeface="Calibri (MS)"/>
                <a:cs typeface="Calibri (MS)"/>
                <a:sym typeface="Calibri (MS)"/>
              </a:rPr>
              <a:t>35. Do write down his/her name in the email and say thank you, no matter how. Try to do similar things in the meeting. You will win the respect. ( check 10 ways to thank you and 10 ways to say no.) Ex: I got another priorities.</a:t>
            </a:r>
          </a:p>
          <a:p>
            <a:pPr algn="l">
              <a:lnSpc>
                <a:spcPts val="1439"/>
              </a:lnSpc>
            </a:pPr>
            <a:r>
              <a:rPr lang="en-US" sz="1200" dirty="0">
                <a:solidFill>
                  <a:srgbClr val="000000"/>
                </a:solidFill>
                <a:latin typeface="Calibri (MS)"/>
                <a:ea typeface="Calibri (MS)"/>
                <a:cs typeface="Calibri (MS)"/>
                <a:sym typeface="Calibri (MS)"/>
              </a:rPr>
              <a:t>36. Responsibility and accountability is about your attitude.</a:t>
            </a:r>
          </a:p>
          <a:p>
            <a:pPr algn="l">
              <a:lnSpc>
                <a:spcPts val="1439"/>
              </a:lnSpc>
            </a:pPr>
            <a:r>
              <a:rPr lang="en-US" sz="1200" dirty="0">
                <a:solidFill>
                  <a:srgbClr val="000000"/>
                </a:solidFill>
                <a:latin typeface="Calibri (MS)"/>
                <a:ea typeface="Calibri (MS)"/>
                <a:cs typeface="Calibri (MS)"/>
                <a:sym typeface="Calibri (MS)"/>
              </a:rPr>
              <a:t>37. Use latest SW or HW / save more time. Upgrade them. Like laptop, better screen, bigger and reliable hard disk, larger memory, battery, backup your files in the cloud ( remote access). (AI tool, other’s template, leverage others’ works. You need to find.) </a:t>
            </a:r>
          </a:p>
          <a:p>
            <a:pPr algn="l">
              <a:lnSpc>
                <a:spcPts val="1439"/>
              </a:lnSpc>
            </a:pPr>
            <a:r>
              <a:rPr lang="en-US" sz="1200" dirty="0">
                <a:solidFill>
                  <a:srgbClr val="000000"/>
                </a:solidFill>
                <a:latin typeface="Calibri (MS)"/>
                <a:ea typeface="Calibri (MS)"/>
                <a:cs typeface="Calibri (MS)"/>
                <a:sym typeface="Calibri (MS)"/>
              </a:rPr>
              <a:t>38. Make sure you backup your file regularly. (Permanent Note / fleet note /Literature Note ) , Put them in the cloud. You can easily find them and search them. Hard drive.</a:t>
            </a:r>
          </a:p>
          <a:p>
            <a:pPr algn="l">
              <a:lnSpc>
                <a:spcPts val="1439"/>
              </a:lnSpc>
            </a:pPr>
            <a:r>
              <a:rPr lang="en-US" sz="1200" dirty="0">
                <a:solidFill>
                  <a:srgbClr val="000000"/>
                </a:solidFill>
                <a:latin typeface="Calibri (MS)"/>
                <a:ea typeface="Calibri (MS)"/>
                <a:cs typeface="Calibri (MS)"/>
                <a:sym typeface="Calibri (MS)"/>
              </a:rPr>
              <a:t>39. Redo your task with half time ( double speed.) Make it as a module or template. Item23. Understand the background and theory behind.</a:t>
            </a:r>
          </a:p>
          <a:p>
            <a:pPr algn="l">
              <a:lnSpc>
                <a:spcPts val="1439"/>
              </a:lnSpc>
            </a:pPr>
            <a:r>
              <a:rPr lang="en-US" sz="1200" dirty="0">
                <a:solidFill>
                  <a:srgbClr val="000000"/>
                </a:solidFill>
                <a:latin typeface="Calibri (MS)"/>
                <a:ea typeface="Calibri (MS)"/>
                <a:cs typeface="Calibri (MS)"/>
                <a:sym typeface="Calibri (MS)"/>
              </a:rPr>
              <a:t>40. Try to be a leader, for any task or project or meeting organizer. To learn management with a logic and analyzed structurally. ( Gain some experience.) Visibility. Think further.</a:t>
            </a:r>
          </a:p>
          <a:p>
            <a:pPr algn="l">
              <a:lnSpc>
                <a:spcPts val="1439"/>
              </a:lnSpc>
            </a:pPr>
            <a:r>
              <a:rPr lang="en-US" sz="1200" dirty="0">
                <a:solidFill>
                  <a:srgbClr val="000000"/>
                </a:solidFill>
                <a:latin typeface="Calibri (MS)"/>
                <a:ea typeface="Calibri (MS)"/>
                <a:cs typeface="Calibri (MS)"/>
                <a:sym typeface="Calibri (MS)"/>
              </a:rPr>
              <a:t>41. Dare to say NO or refuse or fight with others and with good reason / data. ( and 10 ways to say no.) in a classy </a:t>
            </a:r>
            <a:r>
              <a:rPr lang="en-US" sz="1200" dirty="0" err="1">
                <a:solidFill>
                  <a:srgbClr val="000000"/>
                </a:solidFill>
                <a:latin typeface="Calibri (MS)"/>
                <a:ea typeface="Calibri (MS)"/>
                <a:cs typeface="Calibri (MS)"/>
                <a:sym typeface="Calibri (MS)"/>
              </a:rPr>
              <a:t>way.大膽試探,能量管理</a:t>
            </a:r>
            <a:endParaRPr lang="en-US" sz="1200" dirty="0">
              <a:solidFill>
                <a:srgbClr val="000000"/>
              </a:solidFill>
              <a:latin typeface="Calibri (MS)"/>
              <a:ea typeface="Calibri (MS)"/>
              <a:cs typeface="Calibri (MS)"/>
              <a:sym typeface="Calibri (MS)"/>
            </a:endParaRPr>
          </a:p>
          <a:p>
            <a:pPr algn="l">
              <a:lnSpc>
                <a:spcPts val="1439"/>
              </a:lnSpc>
            </a:pPr>
            <a:r>
              <a:rPr lang="en-US" sz="1200" dirty="0">
                <a:solidFill>
                  <a:srgbClr val="000000"/>
                </a:solidFill>
                <a:latin typeface="Calibri (MS)"/>
                <a:ea typeface="Calibri (MS)"/>
                <a:cs typeface="Calibri (MS)"/>
                <a:sym typeface="Calibri (MS)"/>
              </a:rPr>
              <a:t>42. Spend time asking questions about life and try to find something new to learn from your colleague, even from their life.</a:t>
            </a:r>
          </a:p>
          <a:p>
            <a:pPr algn="l">
              <a:lnSpc>
                <a:spcPts val="1439"/>
              </a:lnSpc>
            </a:pPr>
            <a:r>
              <a:rPr lang="en-US" sz="1200" dirty="0">
                <a:solidFill>
                  <a:srgbClr val="000000"/>
                </a:solidFill>
                <a:latin typeface="Calibri (MS)"/>
                <a:ea typeface="Calibri (MS)"/>
                <a:cs typeface="Calibri (MS)"/>
                <a:sym typeface="Calibri (MS)"/>
              </a:rPr>
              <a:t>43. Add daily review for task progress, make sure status is rolling. ( set in the calendar, avoid procrastination.)</a:t>
            </a:r>
          </a:p>
          <a:p>
            <a:pPr algn="l">
              <a:lnSpc>
                <a:spcPts val="1439"/>
              </a:lnSpc>
            </a:pPr>
            <a:r>
              <a:rPr lang="en-US" sz="1200" dirty="0">
                <a:solidFill>
                  <a:srgbClr val="000000"/>
                </a:solidFill>
                <a:latin typeface="Calibri (MS)"/>
                <a:ea typeface="Calibri (MS)"/>
                <a:cs typeface="Calibri (MS)"/>
                <a:sym typeface="Calibri (MS)"/>
              </a:rPr>
              <a:t>44. Try to read foreign colleague’s name correctly and recognize their face from picture if any. It will help you to impress them and help communication. </a:t>
            </a:r>
          </a:p>
          <a:p>
            <a:pPr algn="l">
              <a:lnSpc>
                <a:spcPts val="1439"/>
              </a:lnSpc>
            </a:pPr>
            <a:r>
              <a:rPr lang="en-US" sz="1200" dirty="0">
                <a:solidFill>
                  <a:srgbClr val="000000"/>
                </a:solidFill>
                <a:latin typeface="Calibri (MS)"/>
                <a:ea typeface="Calibri (MS)"/>
                <a:cs typeface="Calibri (MS)"/>
                <a:sym typeface="Calibri (MS)"/>
              </a:rPr>
              <a:t>45. To apply your work skillset into your life. This will simplify your life and work with less effort. And practice makes perfect. Small steps, not pursuit perfect. Management </a:t>
            </a:r>
          </a:p>
          <a:p>
            <a:pPr algn="l">
              <a:lnSpc>
                <a:spcPts val="1439"/>
              </a:lnSpc>
            </a:pPr>
            <a:r>
              <a:rPr lang="en-US" sz="1200" dirty="0">
                <a:solidFill>
                  <a:srgbClr val="000000"/>
                </a:solidFill>
                <a:latin typeface="Calibri (MS)"/>
                <a:ea typeface="Calibri (MS)"/>
                <a:cs typeface="Calibri (MS)"/>
                <a:sym typeface="Calibri (MS)"/>
              </a:rPr>
              <a:t>46. Be patient. Take deep breath when you feel chaos. Drink a hot tea. ( check your favorite movies / songs list; drink coffee, not to addict to it), Maybe you need to slow down. Vs comfort zone.</a:t>
            </a:r>
          </a:p>
          <a:p>
            <a:pPr algn="l">
              <a:lnSpc>
                <a:spcPts val="1439"/>
              </a:lnSpc>
            </a:pPr>
            <a:r>
              <a:rPr lang="en-US" sz="1200" dirty="0">
                <a:solidFill>
                  <a:srgbClr val="000000"/>
                </a:solidFill>
                <a:latin typeface="Calibri (MS)"/>
                <a:ea typeface="Calibri (MS)"/>
                <a:cs typeface="Calibri (MS)"/>
                <a:sym typeface="Calibri (MS)"/>
              </a:rPr>
              <a:t>47. Use ORID (Objective/Reflective/Interpretive/Decisional) methodology to analysis question and concerns. Forget emotion, be professional in expertise field.</a:t>
            </a:r>
          </a:p>
          <a:p>
            <a:pPr algn="l">
              <a:lnSpc>
                <a:spcPts val="1439"/>
              </a:lnSpc>
            </a:pPr>
            <a:r>
              <a:rPr lang="en-US" sz="1200" dirty="0">
                <a:solidFill>
                  <a:srgbClr val="000000"/>
                </a:solidFill>
                <a:latin typeface="Calibri (MS)"/>
                <a:ea typeface="Calibri (MS)"/>
                <a:cs typeface="Calibri (MS)"/>
                <a:sym typeface="Calibri (MS)"/>
              </a:rPr>
              <a:t>48. Take a deep breath and smile when there is a challenge. Keep open-minded to accept different opinions. Item 46.</a:t>
            </a:r>
          </a:p>
          <a:p>
            <a:pPr algn="l">
              <a:lnSpc>
                <a:spcPts val="1439"/>
              </a:lnSpc>
            </a:pPr>
            <a:r>
              <a:rPr lang="en-US" sz="1200" dirty="0">
                <a:solidFill>
                  <a:srgbClr val="000000"/>
                </a:solidFill>
                <a:latin typeface="Calibri (MS)"/>
                <a:ea typeface="Calibri (MS)"/>
                <a:cs typeface="Calibri (MS)"/>
                <a:sym typeface="Calibri (MS)"/>
              </a:rPr>
              <a:t>49. Ask why (3*5) Simon </a:t>
            </a:r>
            <a:r>
              <a:rPr lang="en-US" sz="1200" dirty="0" err="1">
                <a:solidFill>
                  <a:srgbClr val="000000"/>
                </a:solidFill>
                <a:latin typeface="Calibri (MS)"/>
                <a:ea typeface="Calibri (MS)"/>
                <a:cs typeface="Calibri (MS)"/>
                <a:sym typeface="Calibri (MS)"/>
              </a:rPr>
              <a:t>Sinek）黃金圈法則（Golden-Circle</a:t>
            </a:r>
            <a:r>
              <a:rPr lang="en-US" sz="1200" dirty="0">
                <a:solidFill>
                  <a:srgbClr val="000000"/>
                </a:solidFill>
                <a:latin typeface="Calibri (MS)"/>
                <a:ea typeface="Calibri (MS)"/>
                <a:cs typeface="Calibri (MS)"/>
                <a:sym typeface="Calibri (MS)"/>
              </a:rPr>
              <a:t>）. Motivation and meaning. Item 46.</a:t>
            </a:r>
          </a:p>
          <a:p>
            <a:pPr algn="l">
              <a:lnSpc>
                <a:spcPts val="1439"/>
              </a:lnSpc>
            </a:pPr>
            <a:r>
              <a:rPr lang="en-US" sz="1200" dirty="0">
                <a:solidFill>
                  <a:srgbClr val="000000"/>
                </a:solidFill>
                <a:latin typeface="Calibri (MS)"/>
                <a:ea typeface="Calibri (MS)"/>
                <a:cs typeface="Calibri (MS)"/>
                <a:sym typeface="Calibri (MS)"/>
              </a:rPr>
              <a:t>50.Calculate probability of failure or win. If cannot, why or what do you need more? To avoid the loss. (Do stress test, avoid the low-tech error.) Item 34. Item 297, 125. book value vs intrinsic value. Thinking in bet.</a:t>
            </a:r>
          </a:p>
          <a:p>
            <a:pPr algn="l">
              <a:lnSpc>
                <a:spcPts val="1439"/>
              </a:lnSpc>
            </a:pPr>
            <a:r>
              <a:rPr lang="en-US" sz="1200" dirty="0">
                <a:solidFill>
                  <a:srgbClr val="000000"/>
                </a:solidFill>
                <a:latin typeface="Calibri (MS)"/>
                <a:ea typeface="Calibri (MS)"/>
                <a:cs typeface="Calibri (MS)"/>
                <a:sym typeface="Calibri (MS)"/>
              </a:rPr>
              <a:t>51. React quick for some cases due to opportunities, but some cases not. ( reply your boss email.) focus on key items, let bullet fly. Don't over reply and over do. </a:t>
            </a:r>
            <a:r>
              <a:rPr lang="en-US" sz="1200" dirty="0" err="1">
                <a:solidFill>
                  <a:srgbClr val="000000"/>
                </a:solidFill>
                <a:latin typeface="Calibri (MS)"/>
                <a:ea typeface="Calibri (MS)"/>
                <a:cs typeface="Calibri (MS)"/>
                <a:sym typeface="Calibri (MS)"/>
              </a:rPr>
              <a:t>Chhose</a:t>
            </a:r>
            <a:r>
              <a:rPr lang="en-US" sz="1200" dirty="0">
                <a:solidFill>
                  <a:srgbClr val="000000"/>
                </a:solidFill>
                <a:latin typeface="Calibri (MS)"/>
                <a:ea typeface="Calibri (MS)"/>
                <a:cs typeface="Calibri (MS)"/>
                <a:sym typeface="Calibri (MS)"/>
              </a:rPr>
              <a:t> the right battle.</a:t>
            </a:r>
          </a:p>
          <a:p>
            <a:pPr algn="l">
              <a:lnSpc>
                <a:spcPts val="1439"/>
              </a:lnSpc>
            </a:pPr>
            <a:r>
              <a:rPr lang="en-US" sz="1200" dirty="0">
                <a:solidFill>
                  <a:srgbClr val="000000"/>
                </a:solidFill>
                <a:latin typeface="Calibri (MS)"/>
                <a:ea typeface="Calibri (MS)"/>
                <a:cs typeface="Calibri (MS)"/>
                <a:sym typeface="Calibri (MS)"/>
              </a:rPr>
              <a:t>52. List down 3 main tasks for your KPI per day. Push your step to next milestone.</a:t>
            </a:r>
          </a:p>
          <a:p>
            <a:pPr algn="l">
              <a:lnSpc>
                <a:spcPts val="1439"/>
              </a:lnSpc>
            </a:pPr>
            <a:r>
              <a:rPr lang="en-US" sz="1200" dirty="0">
                <a:solidFill>
                  <a:srgbClr val="000000"/>
                </a:solidFill>
                <a:latin typeface="Calibri (MS)"/>
                <a:ea typeface="Calibri (MS)"/>
                <a:cs typeface="Calibri (MS)"/>
                <a:sym typeface="Calibri (MS)"/>
              </a:rPr>
              <a:t>53. Ask your boss how KPI measured and then set it. Set in workday app.  Update it </a:t>
            </a:r>
            <a:r>
              <a:rPr lang="en-US" sz="1200" dirty="0" err="1">
                <a:solidFill>
                  <a:srgbClr val="000000"/>
                </a:solidFill>
                <a:latin typeface="Calibri (MS)"/>
                <a:ea typeface="Calibri (MS)"/>
                <a:cs typeface="Calibri (MS)"/>
                <a:sym typeface="Calibri (MS)"/>
              </a:rPr>
              <a:t>monthly.潛規則;hidden</a:t>
            </a:r>
            <a:r>
              <a:rPr lang="en-US" sz="1200" dirty="0">
                <a:solidFill>
                  <a:srgbClr val="000000"/>
                </a:solidFill>
                <a:latin typeface="Calibri (MS)"/>
                <a:ea typeface="Calibri (MS)"/>
                <a:cs typeface="Calibri (MS)"/>
                <a:sym typeface="Calibri (MS)"/>
              </a:rPr>
              <a:t> rules. What’s KPI for next year? For your life, meaningful, mindfulness…breakdown the tasks.</a:t>
            </a:r>
          </a:p>
          <a:p>
            <a:pPr algn="l">
              <a:lnSpc>
                <a:spcPts val="1439"/>
              </a:lnSpc>
            </a:pPr>
            <a:r>
              <a:rPr lang="en-US" sz="1200" dirty="0">
                <a:solidFill>
                  <a:srgbClr val="000000"/>
                </a:solidFill>
                <a:latin typeface="Calibri (MS)"/>
                <a:ea typeface="Calibri (MS)"/>
                <a:cs typeface="Calibri (MS)"/>
                <a:sym typeface="Calibri (MS)"/>
              </a:rPr>
              <a:t>54. Do not bother your boss unless it is necessary. Google it before asking questions to your colleagues. Let them do their jobs.</a:t>
            </a:r>
          </a:p>
          <a:p>
            <a:pPr algn="l">
              <a:lnSpc>
                <a:spcPts val="1439"/>
              </a:lnSpc>
            </a:pPr>
            <a:r>
              <a:rPr lang="en-US" sz="1200" dirty="0">
                <a:solidFill>
                  <a:srgbClr val="000000"/>
                </a:solidFill>
                <a:latin typeface="Calibri (MS)"/>
                <a:ea typeface="Calibri (MS)"/>
                <a:cs typeface="Calibri (MS)"/>
                <a:sym typeface="Calibri (MS)"/>
              </a:rPr>
              <a:t>55. Distinguish the  role and responsibility between team members. Item 36.</a:t>
            </a:r>
          </a:p>
          <a:p>
            <a:pPr algn="l">
              <a:lnSpc>
                <a:spcPts val="1439"/>
              </a:lnSpc>
            </a:pPr>
            <a:r>
              <a:rPr lang="en-US" sz="1200" dirty="0">
                <a:solidFill>
                  <a:srgbClr val="000000"/>
                </a:solidFill>
                <a:latin typeface="Calibri (MS)"/>
                <a:ea typeface="Calibri (MS)"/>
                <a:cs typeface="Calibri (MS)"/>
                <a:sym typeface="Calibri (MS)"/>
              </a:rPr>
              <a:t>56. Train the capability to Predict the direction of the event. What is the worse case? 297. EX…</a:t>
            </a:r>
            <a:r>
              <a:rPr lang="en-US" sz="1200" dirty="0" err="1">
                <a:solidFill>
                  <a:srgbClr val="000000"/>
                </a:solidFill>
                <a:latin typeface="Calibri (MS)"/>
                <a:ea typeface="Calibri (MS)"/>
                <a:cs typeface="Calibri (MS)"/>
                <a:sym typeface="Calibri (MS)"/>
              </a:rPr>
              <a:t>預前驗屍</a:t>
            </a:r>
            <a:endParaRPr lang="en-US" sz="1200" dirty="0">
              <a:solidFill>
                <a:srgbClr val="000000"/>
              </a:solidFill>
              <a:latin typeface="Calibri (MS)"/>
              <a:ea typeface="Calibri (MS)"/>
              <a:cs typeface="Calibri (MS)"/>
              <a:sym typeface="Calibri (MS)"/>
            </a:endParaRPr>
          </a:p>
          <a:p>
            <a:pPr algn="l">
              <a:lnSpc>
                <a:spcPts val="2520"/>
              </a:lnSpc>
            </a:pPr>
            <a:endParaRPr lang="en-US" sz="1200" dirty="0">
              <a:solidFill>
                <a:srgbClr val="000000"/>
              </a:solidFill>
              <a:latin typeface="Calibri (MS)"/>
              <a:ea typeface="Calibri (MS)"/>
              <a:cs typeface="Calibri (MS)"/>
              <a:sym typeface="Calibri (MS)"/>
            </a:endParaRPr>
          </a:p>
        </p:txBody>
      </p:sp>
      <p:sp>
        <p:nvSpPr>
          <p:cNvPr id="4" name="TextBox 4"/>
          <p:cNvSpPr txBox="1"/>
          <p:nvPr/>
        </p:nvSpPr>
        <p:spPr>
          <a:xfrm>
            <a:off x="16135789" y="190500"/>
            <a:ext cx="1965446" cy="9515425"/>
          </a:xfrm>
          <a:prstGeom prst="rect">
            <a:avLst/>
          </a:prstGeom>
        </p:spPr>
        <p:txBody>
          <a:bodyPr lIns="0" tIns="0" rIns="0" bIns="0" rtlCol="0" anchor="t">
            <a:spAutoFit/>
          </a:bodyPr>
          <a:lstStyle/>
          <a:p>
            <a:pPr algn="l">
              <a:lnSpc>
                <a:spcPts val="1439"/>
              </a:lnSpc>
            </a:pPr>
            <a:r>
              <a:rPr lang="zh-TW" altLang="en-US" sz="1200" dirty="0">
                <a:solidFill>
                  <a:srgbClr val="000000"/>
                </a:solidFill>
                <a:latin typeface="Calibri (MS)"/>
                <a:ea typeface="Calibri (MS)"/>
                <a:cs typeface="Calibri (MS)"/>
                <a:sym typeface="Calibri (MS)"/>
              </a:rPr>
              <a:t>☆大量閱讀，閣有輸出。☆</a:t>
            </a:r>
          </a:p>
          <a:p>
            <a:pPr algn="l">
              <a:lnSpc>
                <a:spcPts val="1439"/>
              </a:lnSpc>
            </a:pPr>
            <a:r>
              <a:rPr lang="zh-TW" altLang="en-US" sz="1200" dirty="0">
                <a:solidFill>
                  <a:srgbClr val="000000"/>
                </a:solidFill>
                <a:latin typeface="Calibri (MS)"/>
                <a:ea typeface="Calibri (MS)"/>
                <a:cs typeface="Calibri (MS)"/>
                <a:sym typeface="Calibri (MS)"/>
              </a:rPr>
              <a:t>☆內化知識，實際行動。☆</a:t>
            </a:r>
          </a:p>
          <a:p>
            <a:pPr algn="l">
              <a:lnSpc>
                <a:spcPts val="1439"/>
              </a:lnSpc>
            </a:pPr>
            <a:r>
              <a:rPr lang="zh-TW" altLang="en-US" sz="1200" dirty="0">
                <a:solidFill>
                  <a:srgbClr val="000000"/>
                </a:solidFill>
                <a:latin typeface="Calibri (MS)"/>
                <a:ea typeface="Calibri (MS)"/>
                <a:cs typeface="Calibri (MS)"/>
                <a:sym typeface="Calibri (MS)"/>
              </a:rPr>
              <a:t>☆列表清單，定期巡查。☆</a:t>
            </a:r>
          </a:p>
          <a:p>
            <a:pPr algn="l">
              <a:lnSpc>
                <a:spcPts val="1439"/>
              </a:lnSpc>
            </a:pPr>
            <a:r>
              <a:rPr lang="zh-TW" altLang="en-US" sz="1200" dirty="0">
                <a:solidFill>
                  <a:srgbClr val="000000"/>
                </a:solidFill>
                <a:latin typeface="Calibri (MS)"/>
                <a:ea typeface="Calibri (MS)"/>
                <a:cs typeface="Calibri (MS)"/>
                <a:sym typeface="Calibri (MS)"/>
              </a:rPr>
              <a:t>☆專案管理，一人公司。☆</a:t>
            </a:r>
          </a:p>
          <a:p>
            <a:pPr algn="l">
              <a:lnSpc>
                <a:spcPts val="1439"/>
              </a:lnSpc>
            </a:pPr>
            <a:r>
              <a:rPr lang="zh-TW" altLang="en-US" sz="1200" dirty="0">
                <a:solidFill>
                  <a:srgbClr val="000000"/>
                </a:solidFill>
                <a:latin typeface="Calibri (MS)"/>
                <a:ea typeface="Calibri (MS)"/>
                <a:cs typeface="Calibri (MS)"/>
                <a:sym typeface="Calibri (MS)"/>
              </a:rPr>
              <a:t>☆不斷改善，正面循環。☆</a:t>
            </a:r>
          </a:p>
          <a:p>
            <a:pPr algn="l">
              <a:lnSpc>
                <a:spcPts val="1439"/>
              </a:lnSpc>
            </a:pPr>
            <a:r>
              <a:rPr lang="zh-TW" altLang="en-US" sz="1200" dirty="0">
                <a:solidFill>
                  <a:srgbClr val="000000"/>
                </a:solidFill>
                <a:latin typeface="Calibri (MS)"/>
                <a:ea typeface="Calibri (MS)"/>
                <a:cs typeface="Calibri (MS)"/>
                <a:sym typeface="Calibri (MS)"/>
              </a:rPr>
              <a:t>☆本質優先，簡單生活。☆</a:t>
            </a:r>
          </a:p>
          <a:p>
            <a:pPr algn="l">
              <a:lnSpc>
                <a:spcPts val="1439"/>
              </a:lnSpc>
            </a:pPr>
            <a:r>
              <a:rPr lang="zh-TW" altLang="en-US" sz="1200" dirty="0">
                <a:solidFill>
                  <a:srgbClr val="000000"/>
                </a:solidFill>
                <a:latin typeface="Calibri (MS)"/>
                <a:ea typeface="Calibri (MS)"/>
                <a:cs typeface="Calibri (MS)"/>
                <a:sym typeface="Calibri (MS)"/>
              </a:rPr>
              <a:t>☆刁工練習，成做慣勢。☆</a:t>
            </a:r>
          </a:p>
          <a:p>
            <a:pPr algn="l">
              <a:lnSpc>
                <a:spcPts val="1439"/>
              </a:lnSpc>
            </a:pPr>
            <a:r>
              <a:rPr lang="zh-TW" altLang="en-US" sz="1200" dirty="0">
                <a:solidFill>
                  <a:srgbClr val="000000"/>
                </a:solidFill>
                <a:latin typeface="Calibri (MS)"/>
                <a:ea typeface="Calibri (MS)"/>
                <a:cs typeface="Calibri (MS)"/>
                <a:sym typeface="Calibri (MS)"/>
              </a:rPr>
              <a:t>☆相信思維，勇敢改變。☆</a:t>
            </a:r>
          </a:p>
          <a:p>
            <a:pPr algn="l">
              <a:lnSpc>
                <a:spcPts val="1439"/>
              </a:lnSpc>
            </a:pPr>
            <a:r>
              <a:rPr lang="zh-TW" altLang="en-US" sz="1200" dirty="0">
                <a:solidFill>
                  <a:srgbClr val="000000"/>
                </a:solidFill>
                <a:latin typeface="Calibri (MS)"/>
                <a:ea typeface="Calibri (MS)"/>
                <a:cs typeface="Calibri (MS)"/>
                <a:sym typeface="Calibri (MS)"/>
              </a:rPr>
              <a:t>☆時間分配，協同合作。☆</a:t>
            </a:r>
          </a:p>
          <a:p>
            <a:pPr algn="l">
              <a:lnSpc>
                <a:spcPts val="1439"/>
              </a:lnSpc>
            </a:pPr>
            <a:r>
              <a:rPr lang="zh-TW" altLang="en-US" sz="1200" dirty="0">
                <a:solidFill>
                  <a:srgbClr val="000000"/>
                </a:solidFill>
                <a:latin typeface="Calibri (MS)"/>
                <a:ea typeface="Calibri (MS)"/>
                <a:cs typeface="Calibri (MS)"/>
                <a:sym typeface="Calibri (MS)"/>
              </a:rPr>
              <a:t>☆情緒穩定，高效決策。☆</a:t>
            </a:r>
          </a:p>
          <a:p>
            <a:pPr algn="l">
              <a:lnSpc>
                <a:spcPts val="1439"/>
              </a:lnSpc>
            </a:pPr>
            <a:r>
              <a:rPr lang="zh-TW" altLang="en-US" sz="1200" dirty="0">
                <a:solidFill>
                  <a:srgbClr val="000000"/>
                </a:solidFill>
                <a:latin typeface="Calibri (MS)"/>
                <a:ea typeface="Calibri (MS)"/>
                <a:cs typeface="Calibri (MS)"/>
                <a:sym typeface="Calibri (MS)"/>
              </a:rPr>
              <a:t>☆運動健身，定期捐血。☆</a:t>
            </a:r>
          </a:p>
          <a:p>
            <a:pPr algn="l">
              <a:lnSpc>
                <a:spcPts val="1439"/>
              </a:lnSpc>
            </a:pPr>
            <a:r>
              <a:rPr lang="zh-TW" altLang="en-US" sz="1200" dirty="0">
                <a:solidFill>
                  <a:srgbClr val="000000"/>
                </a:solidFill>
                <a:latin typeface="Calibri (MS)"/>
                <a:ea typeface="Calibri (MS)"/>
                <a:cs typeface="Calibri (MS)"/>
                <a:sym typeface="Calibri (MS)"/>
              </a:rPr>
              <a:t>☆原始飲食，加啉茶水。☆</a:t>
            </a:r>
          </a:p>
          <a:p>
            <a:pPr algn="l">
              <a:lnSpc>
                <a:spcPts val="1439"/>
              </a:lnSpc>
            </a:pPr>
            <a:r>
              <a:rPr lang="zh-TW" altLang="en-US" sz="1200" dirty="0">
                <a:solidFill>
                  <a:srgbClr val="000000"/>
                </a:solidFill>
                <a:latin typeface="Calibri (MS)"/>
                <a:ea typeface="Calibri (MS)"/>
                <a:cs typeface="Calibri (MS)"/>
                <a:sym typeface="Calibri (MS)"/>
              </a:rPr>
              <a:t>☆毋驚犯錯，風險管理。☆</a:t>
            </a:r>
          </a:p>
          <a:p>
            <a:pPr algn="l">
              <a:lnSpc>
                <a:spcPts val="1439"/>
              </a:lnSpc>
            </a:pPr>
            <a:r>
              <a:rPr lang="zh-TW" altLang="en-US" sz="1200" dirty="0">
                <a:solidFill>
                  <a:srgbClr val="000000"/>
                </a:solidFill>
                <a:latin typeface="Calibri (MS)"/>
                <a:ea typeface="Calibri (MS)"/>
                <a:cs typeface="Calibri (MS)"/>
                <a:sym typeface="Calibri (MS)"/>
              </a:rPr>
              <a:t>☆知識連結，多方應用。☆</a:t>
            </a:r>
          </a:p>
          <a:p>
            <a:pPr algn="l">
              <a:lnSpc>
                <a:spcPts val="1439"/>
              </a:lnSpc>
            </a:pPr>
            <a:r>
              <a:rPr lang="zh-TW" altLang="en-US" sz="1200" dirty="0">
                <a:solidFill>
                  <a:srgbClr val="000000"/>
                </a:solidFill>
                <a:latin typeface="Calibri (MS)"/>
                <a:ea typeface="Calibri (MS)"/>
                <a:cs typeface="Calibri (MS)"/>
                <a:sym typeface="Calibri (MS)"/>
              </a:rPr>
              <a:t>☆貢獻社會，利益別人。☆</a:t>
            </a:r>
          </a:p>
          <a:p>
            <a:pPr algn="l">
              <a:lnSpc>
                <a:spcPts val="1439"/>
              </a:lnSpc>
            </a:pPr>
            <a:r>
              <a:rPr lang="zh-TW" altLang="en-US" sz="1200" dirty="0">
                <a:solidFill>
                  <a:srgbClr val="000000"/>
                </a:solidFill>
                <a:latin typeface="Calibri (MS)"/>
                <a:ea typeface="Calibri (MS)"/>
                <a:cs typeface="Calibri (MS)"/>
                <a:sym typeface="Calibri (MS)"/>
              </a:rPr>
              <a:t>☆耐心等待，堅韌磨練。☆</a:t>
            </a:r>
          </a:p>
          <a:p>
            <a:pPr algn="l">
              <a:lnSpc>
                <a:spcPts val="1439"/>
              </a:lnSpc>
            </a:pPr>
            <a:r>
              <a:rPr lang="zh-TW" altLang="en-US" sz="1200" dirty="0">
                <a:solidFill>
                  <a:srgbClr val="000000"/>
                </a:solidFill>
                <a:latin typeface="Calibri (MS)"/>
                <a:ea typeface="Calibri (MS)"/>
                <a:cs typeface="Calibri (MS)"/>
                <a:sym typeface="Calibri (MS)"/>
              </a:rPr>
              <a:t>☆科技輔助，多工效應。☆</a:t>
            </a:r>
          </a:p>
          <a:p>
            <a:pPr algn="l">
              <a:lnSpc>
                <a:spcPts val="1439"/>
              </a:lnSpc>
            </a:pPr>
            <a:r>
              <a:rPr lang="zh-TW" altLang="en-US" sz="1200" dirty="0">
                <a:solidFill>
                  <a:srgbClr val="000000"/>
                </a:solidFill>
                <a:latin typeface="Calibri (MS)"/>
                <a:ea typeface="Calibri (MS)"/>
                <a:cs typeface="Calibri (MS)"/>
                <a:sym typeface="Calibri (MS)"/>
              </a:rPr>
              <a:t>☆定定試驗，隨時調整。☆</a:t>
            </a:r>
          </a:p>
          <a:p>
            <a:pPr algn="l">
              <a:lnSpc>
                <a:spcPts val="1439"/>
              </a:lnSpc>
            </a:pPr>
            <a:r>
              <a:rPr lang="zh-TW" altLang="en-US" sz="1200" dirty="0">
                <a:solidFill>
                  <a:srgbClr val="000000"/>
                </a:solidFill>
                <a:latin typeface="Calibri (MS)"/>
                <a:ea typeface="Calibri (MS)"/>
                <a:cs typeface="Calibri (MS)"/>
                <a:sym typeface="Calibri (MS)"/>
              </a:rPr>
              <a:t>☆不求完美，穩定成長。☆</a:t>
            </a:r>
          </a:p>
          <a:p>
            <a:pPr algn="l">
              <a:lnSpc>
                <a:spcPts val="1439"/>
              </a:lnSpc>
            </a:pPr>
            <a:r>
              <a:rPr lang="zh-TW" altLang="en-US" sz="1200" dirty="0">
                <a:solidFill>
                  <a:srgbClr val="000000"/>
                </a:solidFill>
                <a:latin typeface="Calibri (MS)"/>
                <a:ea typeface="Calibri (MS)"/>
                <a:cs typeface="Calibri (MS)"/>
                <a:sym typeface="Calibri (MS)"/>
              </a:rPr>
              <a:t>☆快樂分張，回饋分析。☆</a:t>
            </a:r>
          </a:p>
          <a:p>
            <a:pPr algn="l">
              <a:lnSpc>
                <a:spcPts val="1439"/>
              </a:lnSpc>
            </a:pPr>
            <a:r>
              <a:rPr lang="zh-TW" altLang="en-US" sz="1200" dirty="0">
                <a:solidFill>
                  <a:srgbClr val="000000"/>
                </a:solidFill>
                <a:latin typeface="Calibri (MS)"/>
                <a:ea typeface="Calibri (MS)"/>
                <a:cs typeface="Calibri (MS)"/>
                <a:sym typeface="Calibri (MS)"/>
              </a:rPr>
              <a:t>☆享受孤獨，沓沓進步。☆</a:t>
            </a:r>
          </a:p>
          <a:p>
            <a:pPr algn="l">
              <a:lnSpc>
                <a:spcPts val="1439"/>
              </a:lnSpc>
            </a:pPr>
            <a:r>
              <a:rPr lang="zh-TW" altLang="en-US" sz="1200" dirty="0">
                <a:solidFill>
                  <a:srgbClr val="000000"/>
                </a:solidFill>
                <a:latin typeface="Calibri (MS)"/>
                <a:ea typeface="Calibri (MS)"/>
                <a:cs typeface="Calibri (MS)"/>
                <a:sym typeface="Calibri (MS)"/>
              </a:rPr>
              <a:t>☆歡喜分張，楦闊人脈。☆</a:t>
            </a:r>
          </a:p>
          <a:p>
            <a:pPr algn="l">
              <a:lnSpc>
                <a:spcPts val="1439"/>
              </a:lnSpc>
            </a:pPr>
            <a:r>
              <a:rPr lang="zh-TW" altLang="en-US" sz="1200" dirty="0">
                <a:solidFill>
                  <a:srgbClr val="000000"/>
                </a:solidFill>
                <a:latin typeface="Calibri (MS)"/>
                <a:ea typeface="Calibri (MS)"/>
                <a:cs typeface="Calibri (MS)"/>
                <a:sym typeface="Calibri (MS)"/>
              </a:rPr>
              <a:t>☆正向轉念，認知改觀。☆</a:t>
            </a:r>
          </a:p>
          <a:p>
            <a:pPr algn="l">
              <a:lnSpc>
                <a:spcPts val="1439"/>
              </a:lnSpc>
            </a:pPr>
            <a:r>
              <a:rPr lang="zh-TW" altLang="en-US" sz="1200" dirty="0">
                <a:solidFill>
                  <a:srgbClr val="000000"/>
                </a:solidFill>
                <a:latin typeface="Calibri (MS)"/>
                <a:ea typeface="Calibri (MS)"/>
                <a:cs typeface="Calibri (MS)"/>
                <a:sym typeface="Calibri (MS)"/>
              </a:rPr>
              <a:t>☆記錄回顧，調修模式。☆</a:t>
            </a:r>
          </a:p>
          <a:p>
            <a:pPr algn="l">
              <a:lnSpc>
                <a:spcPts val="1439"/>
              </a:lnSpc>
            </a:pPr>
            <a:r>
              <a:rPr lang="zh-TW" altLang="en-US" sz="1200" dirty="0">
                <a:solidFill>
                  <a:srgbClr val="000000"/>
                </a:solidFill>
                <a:latin typeface="Calibri (MS)"/>
                <a:ea typeface="Calibri (MS)"/>
                <a:cs typeface="Calibri (MS)"/>
                <a:sym typeface="Calibri (MS)"/>
              </a:rPr>
              <a:t>☆掠尾揣頭，倒踏順序。☆</a:t>
            </a:r>
          </a:p>
          <a:p>
            <a:pPr algn="l">
              <a:lnSpc>
                <a:spcPts val="1439"/>
              </a:lnSpc>
            </a:pPr>
            <a:r>
              <a:rPr lang="zh-TW" altLang="en-US" sz="1200" dirty="0">
                <a:solidFill>
                  <a:srgbClr val="000000"/>
                </a:solidFill>
                <a:latin typeface="Calibri (MS)"/>
                <a:ea typeface="Calibri (MS)"/>
                <a:cs typeface="Calibri (MS)"/>
                <a:sym typeface="Calibri (MS)"/>
              </a:rPr>
              <a:t>☆分割項目，先有成果。☆</a:t>
            </a:r>
          </a:p>
          <a:p>
            <a:pPr algn="l">
              <a:lnSpc>
                <a:spcPts val="1439"/>
              </a:lnSpc>
            </a:pPr>
            <a:r>
              <a:rPr lang="zh-TW" altLang="en-US" sz="1200" dirty="0">
                <a:solidFill>
                  <a:srgbClr val="000000"/>
                </a:solidFill>
                <a:latin typeface="Calibri (MS)"/>
                <a:ea typeface="Calibri (MS)"/>
                <a:cs typeface="Calibri (MS)"/>
                <a:sym typeface="Calibri (MS)"/>
              </a:rPr>
              <a:t>☆統整連結，拍通底層。☆</a:t>
            </a:r>
          </a:p>
          <a:p>
            <a:pPr algn="l">
              <a:lnSpc>
                <a:spcPts val="1439"/>
              </a:lnSpc>
            </a:pPr>
            <a:r>
              <a:rPr lang="zh-TW" altLang="en-US" sz="1200" dirty="0">
                <a:solidFill>
                  <a:srgbClr val="000000"/>
                </a:solidFill>
                <a:latin typeface="Calibri (MS)"/>
                <a:ea typeface="Calibri (MS)"/>
                <a:cs typeface="Calibri (MS)"/>
                <a:sym typeface="Calibri (MS)"/>
              </a:rPr>
              <a:t>☆氣力管理，八二原則。☆</a:t>
            </a:r>
          </a:p>
          <a:p>
            <a:pPr algn="l">
              <a:lnSpc>
                <a:spcPts val="1439"/>
              </a:lnSpc>
            </a:pPr>
            <a:r>
              <a:rPr lang="zh-TW" altLang="en-US" sz="1200" dirty="0">
                <a:solidFill>
                  <a:srgbClr val="000000"/>
                </a:solidFill>
                <a:latin typeface="Calibri (MS)"/>
                <a:ea typeface="Calibri (MS)"/>
                <a:cs typeface="Calibri (MS)"/>
                <a:sym typeface="Calibri (MS)"/>
              </a:rPr>
              <a:t>☆規律原則，自由人生。☆</a:t>
            </a:r>
          </a:p>
          <a:p>
            <a:pPr algn="l">
              <a:lnSpc>
                <a:spcPts val="1439"/>
              </a:lnSpc>
            </a:pPr>
            <a:r>
              <a:rPr lang="zh-TW" altLang="en-US" sz="1200" dirty="0">
                <a:solidFill>
                  <a:srgbClr val="000000"/>
                </a:solidFill>
                <a:latin typeface="Calibri (MS)"/>
                <a:ea typeface="Calibri (MS)"/>
                <a:cs typeface="Calibri (MS)"/>
                <a:sym typeface="Calibri (MS)"/>
              </a:rPr>
              <a:t>☆順逆複盤，加乘效用。☆</a:t>
            </a:r>
          </a:p>
          <a:p>
            <a:pPr algn="l">
              <a:lnSpc>
                <a:spcPts val="1439"/>
              </a:lnSpc>
            </a:pPr>
            <a:r>
              <a:rPr lang="zh-TW" altLang="en-US" sz="1200" dirty="0">
                <a:solidFill>
                  <a:srgbClr val="000000"/>
                </a:solidFill>
                <a:latin typeface="Calibri (MS)"/>
                <a:ea typeface="Calibri (MS)"/>
                <a:cs typeface="Calibri (MS)"/>
                <a:sym typeface="Calibri (MS)"/>
              </a:rPr>
              <a:t>☆繼續累積，時間複利。☆</a:t>
            </a:r>
          </a:p>
          <a:p>
            <a:pPr algn="l">
              <a:lnSpc>
                <a:spcPts val="1439"/>
              </a:lnSpc>
            </a:pPr>
            <a:r>
              <a:rPr lang="zh-TW" altLang="en-US" sz="1200" dirty="0">
                <a:solidFill>
                  <a:srgbClr val="000000"/>
                </a:solidFill>
                <a:latin typeface="Calibri (MS)"/>
                <a:ea typeface="Calibri (MS)"/>
                <a:cs typeface="Calibri (MS)"/>
                <a:sym typeface="Calibri (MS)"/>
              </a:rPr>
              <a:t>☆察覺意識，更新大腦。☆</a:t>
            </a:r>
          </a:p>
          <a:p>
            <a:pPr algn="l">
              <a:lnSpc>
                <a:spcPts val="1439"/>
              </a:lnSpc>
            </a:pPr>
            <a:r>
              <a:rPr lang="zh-TW" altLang="en-US" sz="1200" dirty="0">
                <a:solidFill>
                  <a:srgbClr val="000000"/>
                </a:solidFill>
                <a:latin typeface="Calibri (MS)"/>
                <a:ea typeface="Calibri (MS)"/>
                <a:cs typeface="Calibri (MS)"/>
                <a:sym typeface="Calibri (MS)"/>
              </a:rPr>
              <a:t>☆利用工具，三觀五覆。☆</a:t>
            </a:r>
          </a:p>
          <a:p>
            <a:pPr algn="l">
              <a:lnSpc>
                <a:spcPts val="1439"/>
              </a:lnSpc>
            </a:pPr>
            <a:r>
              <a:rPr lang="zh-TW" altLang="en-US" sz="1200" dirty="0">
                <a:solidFill>
                  <a:srgbClr val="000000"/>
                </a:solidFill>
                <a:latin typeface="Calibri (MS)"/>
                <a:ea typeface="Calibri (MS)"/>
                <a:cs typeface="Calibri (MS)"/>
                <a:sym typeface="Calibri (MS)"/>
              </a:rPr>
              <a:t>☆了解規則，拍破規則。☆</a:t>
            </a:r>
          </a:p>
          <a:p>
            <a:pPr algn="l">
              <a:lnSpc>
                <a:spcPts val="1439"/>
              </a:lnSpc>
            </a:pPr>
            <a:r>
              <a:rPr lang="zh-TW" altLang="en-US" sz="1200" dirty="0">
                <a:solidFill>
                  <a:srgbClr val="000000"/>
                </a:solidFill>
                <a:latin typeface="Calibri (MS)"/>
                <a:ea typeface="Calibri (MS)"/>
                <a:cs typeface="Calibri (MS)"/>
                <a:sym typeface="Calibri (MS)"/>
              </a:rPr>
              <a:t>☆建構系統，頭著尾是。 ☆</a:t>
            </a:r>
          </a:p>
          <a:p>
            <a:pPr algn="l">
              <a:lnSpc>
                <a:spcPts val="1439"/>
              </a:lnSpc>
            </a:pPr>
            <a:r>
              <a:rPr lang="zh-TW" altLang="en-US" sz="1200" dirty="0">
                <a:solidFill>
                  <a:srgbClr val="000000"/>
                </a:solidFill>
                <a:latin typeface="Calibri (MS)"/>
                <a:ea typeface="Calibri (MS)"/>
                <a:cs typeface="Calibri (MS)"/>
                <a:sym typeface="Calibri (MS)"/>
              </a:rPr>
              <a:t>☆增加體驗，享受人生。 ☆</a:t>
            </a:r>
          </a:p>
          <a:p>
            <a:pPr algn="l">
              <a:lnSpc>
                <a:spcPts val="1439"/>
              </a:lnSpc>
            </a:pPr>
            <a:r>
              <a:rPr lang="zh-TW" altLang="en-US" sz="1200" dirty="0">
                <a:solidFill>
                  <a:srgbClr val="000000"/>
                </a:solidFill>
                <a:latin typeface="Calibri (MS)"/>
                <a:ea typeface="Calibri (MS)"/>
                <a:cs typeface="Calibri (MS)"/>
                <a:sym typeface="Calibri (MS)"/>
              </a:rPr>
              <a:t>☆注心一項，看迵全局。 ☆</a:t>
            </a:r>
          </a:p>
          <a:p>
            <a:pPr algn="l">
              <a:lnSpc>
                <a:spcPts val="1439"/>
              </a:lnSpc>
            </a:pPr>
            <a:r>
              <a:rPr lang="zh-TW" altLang="en-US" sz="1200" dirty="0">
                <a:solidFill>
                  <a:srgbClr val="000000"/>
                </a:solidFill>
                <a:latin typeface="Calibri (MS)"/>
                <a:ea typeface="Calibri (MS)"/>
                <a:cs typeface="Calibri (MS)"/>
                <a:sym typeface="Calibri (MS)"/>
              </a:rPr>
              <a:t>☆自我覺察，重新連結。 ☆</a:t>
            </a:r>
          </a:p>
          <a:p>
            <a:pPr algn="l">
              <a:lnSpc>
                <a:spcPts val="1439"/>
              </a:lnSpc>
            </a:pPr>
            <a:r>
              <a:rPr lang="zh-TW" altLang="en-US" sz="1200" dirty="0">
                <a:solidFill>
                  <a:srgbClr val="000000"/>
                </a:solidFill>
                <a:latin typeface="Calibri (MS)"/>
                <a:ea typeface="Calibri (MS)"/>
                <a:cs typeface="Calibri (MS)"/>
                <a:sym typeface="Calibri (MS)"/>
              </a:rPr>
              <a:t>☆預先規劃，分批執行。 ☆</a:t>
            </a:r>
          </a:p>
          <a:p>
            <a:pPr algn="l">
              <a:lnSpc>
                <a:spcPts val="1439"/>
              </a:lnSpc>
            </a:pPr>
            <a:r>
              <a:rPr lang="zh-TW" altLang="en-US" sz="1200" dirty="0">
                <a:solidFill>
                  <a:srgbClr val="000000"/>
                </a:solidFill>
                <a:latin typeface="Calibri (MS)"/>
                <a:ea typeface="Calibri (MS)"/>
                <a:cs typeface="Calibri (MS)"/>
                <a:sym typeface="Calibri (MS)"/>
              </a:rPr>
              <a:t>☆認捌家己，認真選擇。 ☆</a:t>
            </a:r>
          </a:p>
          <a:p>
            <a:pPr algn="l">
              <a:lnSpc>
                <a:spcPts val="1439"/>
              </a:lnSpc>
            </a:pPr>
            <a:r>
              <a:rPr lang="zh-TW" altLang="en-US" sz="1200" dirty="0">
                <a:solidFill>
                  <a:srgbClr val="000000"/>
                </a:solidFill>
                <a:latin typeface="Calibri (MS)"/>
                <a:ea typeface="Calibri (MS)"/>
                <a:cs typeface="Calibri (MS)"/>
                <a:sym typeface="Calibri (MS)"/>
              </a:rPr>
              <a:t>☆耐心等待，回顧修正。 ☆</a:t>
            </a:r>
          </a:p>
          <a:p>
            <a:pPr algn="l">
              <a:lnSpc>
                <a:spcPts val="1439"/>
              </a:lnSpc>
            </a:pPr>
            <a:r>
              <a:rPr lang="zh-TW" altLang="en-US" sz="1200" dirty="0">
                <a:solidFill>
                  <a:srgbClr val="000000"/>
                </a:solidFill>
                <a:latin typeface="Calibri (MS)"/>
                <a:ea typeface="Calibri (MS)"/>
                <a:cs typeface="Calibri (MS)"/>
                <a:sym typeface="Calibri (MS)"/>
              </a:rPr>
              <a:t>☆停跤歇睏，氣力復活。 ☆ </a:t>
            </a:r>
          </a:p>
          <a:p>
            <a:pPr algn="l">
              <a:lnSpc>
                <a:spcPts val="1439"/>
              </a:lnSpc>
            </a:pPr>
            <a:r>
              <a:rPr lang="zh-TW" altLang="en-US" sz="1200" dirty="0">
                <a:solidFill>
                  <a:srgbClr val="000000"/>
                </a:solidFill>
                <a:latin typeface="Calibri (MS)"/>
                <a:ea typeface="Calibri (MS)"/>
                <a:cs typeface="Calibri (MS)"/>
                <a:sym typeface="Calibri (MS)"/>
              </a:rPr>
              <a:t>☆放低自尊，開喙問人。 ☆</a:t>
            </a:r>
          </a:p>
          <a:p>
            <a:pPr algn="l">
              <a:lnSpc>
                <a:spcPts val="1439"/>
              </a:lnSpc>
            </a:pPr>
            <a:r>
              <a:rPr lang="zh-TW" altLang="en-US" sz="1200" dirty="0">
                <a:solidFill>
                  <a:srgbClr val="000000"/>
                </a:solidFill>
                <a:latin typeface="Calibri (MS)"/>
                <a:ea typeface="Calibri (MS)"/>
                <a:cs typeface="Calibri (MS)"/>
                <a:sym typeface="Calibri (MS)"/>
              </a:rPr>
              <a:t>☆少閣更好，簡省有力。 ☆</a:t>
            </a:r>
          </a:p>
          <a:p>
            <a:pPr algn="l">
              <a:lnSpc>
                <a:spcPts val="1439"/>
              </a:lnSpc>
            </a:pPr>
            <a:r>
              <a:rPr lang="zh-TW" altLang="en-US" sz="1200" dirty="0">
                <a:solidFill>
                  <a:srgbClr val="000000"/>
                </a:solidFill>
                <a:latin typeface="Calibri (MS)"/>
                <a:ea typeface="Calibri (MS)"/>
                <a:cs typeface="Calibri (MS)"/>
                <a:sym typeface="Calibri (MS)"/>
              </a:rPr>
              <a:t>☆增加交流，彼此學習。☆</a:t>
            </a:r>
          </a:p>
          <a:p>
            <a:pPr algn="l">
              <a:lnSpc>
                <a:spcPts val="1439"/>
              </a:lnSpc>
            </a:pPr>
            <a:r>
              <a:rPr lang="zh-TW" altLang="en-US" sz="1200" dirty="0">
                <a:solidFill>
                  <a:srgbClr val="000000"/>
                </a:solidFill>
                <a:latin typeface="Calibri (MS)"/>
                <a:ea typeface="Calibri (MS)"/>
                <a:cs typeface="Calibri (MS)"/>
                <a:sym typeface="Calibri (MS)"/>
              </a:rPr>
              <a:t>☆排列次序，刪減雜差。☆</a:t>
            </a:r>
          </a:p>
          <a:p>
            <a:pPr algn="l">
              <a:lnSpc>
                <a:spcPts val="1439"/>
              </a:lnSpc>
            </a:pPr>
            <a:r>
              <a:rPr lang="zh-TW" altLang="en-US" sz="1200" dirty="0">
                <a:solidFill>
                  <a:srgbClr val="000000"/>
                </a:solidFill>
                <a:latin typeface="Calibri (MS)"/>
                <a:ea typeface="Calibri (MS)"/>
                <a:cs typeface="Calibri (MS)"/>
                <a:sym typeface="Calibri (MS)"/>
              </a:rPr>
              <a:t>☆毋驚失敗，享受過程。 ☆</a:t>
            </a:r>
          </a:p>
          <a:p>
            <a:pPr algn="l">
              <a:lnSpc>
                <a:spcPts val="1439"/>
              </a:lnSpc>
            </a:pPr>
            <a:r>
              <a:rPr lang="zh-TW" altLang="en-US" sz="1200" dirty="0">
                <a:solidFill>
                  <a:srgbClr val="000000"/>
                </a:solidFill>
                <a:latin typeface="Calibri (MS)"/>
                <a:ea typeface="Calibri (MS)"/>
                <a:cs typeface="Calibri (MS)"/>
                <a:sym typeface="Calibri (MS)"/>
              </a:rPr>
              <a:t>☆認清現實，行銷自我。 ☆</a:t>
            </a:r>
          </a:p>
          <a:p>
            <a:pPr algn="l">
              <a:lnSpc>
                <a:spcPts val="1439"/>
              </a:lnSpc>
            </a:pPr>
            <a:r>
              <a:rPr lang="zh-TW" altLang="en-US" sz="1200" dirty="0">
                <a:solidFill>
                  <a:srgbClr val="000000"/>
                </a:solidFill>
                <a:latin typeface="Calibri (MS)"/>
                <a:ea typeface="Calibri (MS)"/>
                <a:cs typeface="Calibri (MS)"/>
                <a:sym typeface="Calibri (MS)"/>
              </a:rPr>
              <a:t>☆接受未知，失敗常態。 ☆</a:t>
            </a:r>
          </a:p>
          <a:p>
            <a:pPr algn="l">
              <a:lnSpc>
                <a:spcPts val="1439"/>
              </a:lnSpc>
            </a:pPr>
            <a:r>
              <a:rPr lang="zh-TW" altLang="en-US" sz="1200" dirty="0">
                <a:solidFill>
                  <a:srgbClr val="000000"/>
                </a:solidFill>
                <a:latin typeface="Calibri (MS)"/>
                <a:ea typeface="Calibri (MS)"/>
                <a:cs typeface="Calibri (MS)"/>
                <a:sym typeface="Calibri (MS)"/>
              </a:rPr>
              <a:t>☆了解無常，定著看待。 ☆</a:t>
            </a:r>
          </a:p>
          <a:p>
            <a:pPr algn="l">
              <a:lnSpc>
                <a:spcPts val="1439"/>
              </a:lnSpc>
            </a:pPr>
            <a:r>
              <a:rPr lang="zh-TW" altLang="en-US" sz="1200" dirty="0">
                <a:solidFill>
                  <a:srgbClr val="000000"/>
                </a:solidFill>
                <a:latin typeface="Calibri (MS)"/>
                <a:ea typeface="Calibri (MS)"/>
                <a:cs typeface="Calibri (MS)"/>
                <a:sym typeface="Calibri (MS)"/>
              </a:rPr>
              <a:t>☆了解人性，誠心感恩。 ☆</a:t>
            </a:r>
          </a:p>
          <a:p>
            <a:pPr algn="l">
              <a:lnSpc>
                <a:spcPts val="1439"/>
              </a:lnSpc>
            </a:pPr>
            <a:r>
              <a:rPr lang="zh-TW" altLang="en-US" sz="1200" dirty="0">
                <a:solidFill>
                  <a:srgbClr val="000000"/>
                </a:solidFill>
                <a:latin typeface="Calibri (MS)"/>
                <a:ea typeface="Calibri (MS)"/>
                <a:cs typeface="Calibri (MS)"/>
                <a:sym typeface="Calibri (MS)"/>
              </a:rPr>
              <a:t>☆相信家己，精神解放。 ☆</a:t>
            </a:r>
          </a:p>
          <a:p>
            <a:pPr algn="l">
              <a:lnSpc>
                <a:spcPts val="1439"/>
              </a:lnSpc>
            </a:pPr>
            <a:r>
              <a:rPr lang="zh-TW" altLang="en-US" sz="1200" dirty="0">
                <a:solidFill>
                  <a:srgbClr val="000000"/>
                </a:solidFill>
                <a:latin typeface="Calibri (MS)"/>
                <a:ea typeface="Calibri (MS)"/>
                <a:cs typeface="Calibri (MS)"/>
                <a:sym typeface="Calibri (MS)"/>
              </a:rPr>
              <a:t>☆體驗自然，簡單生活。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0050" y="26651"/>
            <a:ext cx="15911846" cy="9116654"/>
          </a:xfrm>
          <a:prstGeom prst="rect">
            <a:avLst/>
          </a:prstGeom>
        </p:spPr>
        <p:txBody>
          <a:bodyPr lIns="0" tIns="0" rIns="0" bIns="0" rtlCol="0" anchor="t">
            <a:spAutoFit/>
          </a:bodyPr>
          <a:lstStyle/>
          <a:p>
            <a:pPr algn="l">
              <a:lnSpc>
                <a:spcPts val="1439"/>
              </a:lnSpc>
            </a:pPr>
            <a:r>
              <a:rPr lang="en-US" sz="1200" dirty="0">
                <a:solidFill>
                  <a:srgbClr val="000000"/>
                </a:solidFill>
                <a:latin typeface="Calibri (MS)"/>
                <a:ea typeface="Calibri (MS)"/>
                <a:cs typeface="Calibri (MS)"/>
                <a:sym typeface="Calibri (MS)"/>
              </a:rPr>
              <a:t>57. Rehearsal at least twice before presentation. Practice makes  perfect. Practice deliberately.</a:t>
            </a:r>
          </a:p>
          <a:p>
            <a:pPr algn="l">
              <a:lnSpc>
                <a:spcPts val="1439"/>
              </a:lnSpc>
            </a:pPr>
            <a:r>
              <a:rPr lang="en-US" sz="1200" dirty="0">
                <a:solidFill>
                  <a:srgbClr val="000000"/>
                </a:solidFill>
                <a:latin typeface="Calibri (MS)"/>
                <a:ea typeface="Calibri (MS)"/>
                <a:cs typeface="Calibri (MS)"/>
                <a:sym typeface="Calibri (MS)"/>
              </a:rPr>
              <a:t>58. Ask yourself potential questions others may ask for presentation. Prepare a list. Item 3. EX: … why delay schedule, Item 32.</a:t>
            </a:r>
          </a:p>
          <a:p>
            <a:pPr algn="l">
              <a:lnSpc>
                <a:spcPts val="1439"/>
              </a:lnSpc>
            </a:pPr>
            <a:r>
              <a:rPr lang="en-US" sz="1200" dirty="0">
                <a:solidFill>
                  <a:srgbClr val="000000"/>
                </a:solidFill>
                <a:latin typeface="Calibri (MS)"/>
                <a:ea typeface="Calibri (MS)"/>
                <a:cs typeface="Calibri (MS)"/>
                <a:sym typeface="Calibri (MS)"/>
              </a:rPr>
              <a:t>59. Write down / breakdown task and set deadline in calendar.  Draw </a:t>
            </a:r>
            <a:r>
              <a:rPr lang="en-US" sz="1200" dirty="0" err="1">
                <a:solidFill>
                  <a:srgbClr val="000000"/>
                </a:solidFill>
                <a:latin typeface="Calibri (MS)"/>
                <a:ea typeface="Calibri (MS)"/>
                <a:cs typeface="Calibri (MS)"/>
                <a:sym typeface="Calibri (MS)"/>
              </a:rPr>
              <a:t>mindmap</a:t>
            </a:r>
            <a:r>
              <a:rPr lang="en-US" sz="1200" dirty="0">
                <a:solidFill>
                  <a:srgbClr val="000000"/>
                </a:solidFill>
                <a:latin typeface="Calibri (MS)"/>
                <a:ea typeface="Calibri (MS)"/>
                <a:cs typeface="Calibri (MS)"/>
                <a:sym typeface="Calibri (MS)"/>
              </a:rPr>
              <a:t>  or flow. </a:t>
            </a:r>
            <a:r>
              <a:rPr lang="en-US" sz="1200" dirty="0" err="1">
                <a:solidFill>
                  <a:srgbClr val="000000"/>
                </a:solidFill>
                <a:latin typeface="Calibri (MS)"/>
                <a:ea typeface="Calibri (MS)"/>
                <a:cs typeface="Calibri (MS)"/>
                <a:sym typeface="Calibri (MS)"/>
              </a:rPr>
              <a:t>Gantter</a:t>
            </a:r>
            <a:r>
              <a:rPr lang="en-US" sz="1200" dirty="0">
                <a:solidFill>
                  <a:srgbClr val="000000"/>
                </a:solidFill>
                <a:latin typeface="Calibri (MS)"/>
                <a:ea typeface="Calibri (MS)"/>
                <a:cs typeface="Calibri (MS)"/>
                <a:sym typeface="Calibri (MS)"/>
              </a:rPr>
              <a:t> plot.</a:t>
            </a:r>
          </a:p>
          <a:p>
            <a:pPr algn="l">
              <a:lnSpc>
                <a:spcPts val="1439"/>
              </a:lnSpc>
            </a:pPr>
            <a:r>
              <a:rPr lang="en-US" sz="1200" dirty="0">
                <a:solidFill>
                  <a:srgbClr val="000000"/>
                </a:solidFill>
                <a:latin typeface="Calibri (MS)"/>
                <a:ea typeface="Calibri (MS)"/>
                <a:cs typeface="Calibri (MS)"/>
                <a:sym typeface="Calibri (MS)"/>
              </a:rPr>
              <a:t>60. Energy management and find the priority. Always do the important thing first. (OKR=objective key result.) Power of will is limited. Rule of Subtraction. </a:t>
            </a:r>
          </a:p>
          <a:p>
            <a:pPr algn="l">
              <a:lnSpc>
                <a:spcPts val="1439"/>
              </a:lnSpc>
            </a:pPr>
            <a:r>
              <a:rPr lang="en-US" sz="1200" dirty="0">
                <a:solidFill>
                  <a:srgbClr val="000000"/>
                </a:solidFill>
                <a:latin typeface="Calibri (MS)"/>
                <a:ea typeface="Calibri (MS)"/>
                <a:cs typeface="Calibri (MS)"/>
                <a:sym typeface="Calibri (MS)"/>
              </a:rPr>
              <a:t>61. Correlation does not imply causation. Deductive Reasoning(</a:t>
            </a:r>
            <a:r>
              <a:rPr lang="en-US" sz="1200" dirty="0" err="1">
                <a:solidFill>
                  <a:srgbClr val="000000"/>
                </a:solidFill>
                <a:latin typeface="Calibri (MS)"/>
                <a:ea typeface="Calibri (MS)"/>
                <a:cs typeface="Calibri (MS)"/>
                <a:sym typeface="Calibri (MS)"/>
              </a:rPr>
              <a:t>演繹推理</a:t>
            </a:r>
            <a:r>
              <a:rPr lang="en-US" sz="1200" dirty="0">
                <a:solidFill>
                  <a:srgbClr val="000000"/>
                </a:solidFill>
                <a:latin typeface="Calibri (MS)"/>
                <a:ea typeface="Calibri (MS)"/>
                <a:cs typeface="Calibri (MS)"/>
                <a:sym typeface="Calibri (MS)"/>
              </a:rPr>
              <a:t>)? Inductive reasoning (</a:t>
            </a:r>
            <a:r>
              <a:rPr lang="en-US" sz="1200" dirty="0" err="1">
                <a:solidFill>
                  <a:srgbClr val="000000"/>
                </a:solidFill>
                <a:latin typeface="Calibri (MS)"/>
                <a:ea typeface="Calibri (MS)"/>
                <a:cs typeface="Calibri (MS)"/>
                <a:sym typeface="Calibri (MS)"/>
              </a:rPr>
              <a:t>歸納推理</a:t>
            </a:r>
            <a:r>
              <a:rPr lang="en-US" sz="1200" dirty="0">
                <a:solidFill>
                  <a:srgbClr val="000000"/>
                </a:solidFill>
                <a:latin typeface="Calibri (MS)"/>
                <a:ea typeface="Calibri (MS)"/>
                <a:cs typeface="Calibri (MS)"/>
                <a:sym typeface="Calibri (MS)"/>
              </a:rPr>
              <a:t>)?</a:t>
            </a:r>
            <a:r>
              <a:rPr lang="en-US" sz="1200" dirty="0" err="1">
                <a:solidFill>
                  <a:srgbClr val="000000"/>
                </a:solidFill>
                <a:latin typeface="Calibri (MS)"/>
                <a:ea typeface="Calibri (MS)"/>
                <a:cs typeface="Calibri (MS)"/>
                <a:sym typeface="Calibri (MS)"/>
              </a:rPr>
              <a:t>片斷推理fragmentary</a:t>
            </a:r>
            <a:r>
              <a:rPr lang="en-US" sz="1200" dirty="0">
                <a:solidFill>
                  <a:srgbClr val="000000"/>
                </a:solidFill>
                <a:latin typeface="Calibri (MS)"/>
                <a:ea typeface="Calibri (MS)"/>
                <a:cs typeface="Calibri (MS)"/>
                <a:sym typeface="Calibri (MS)"/>
              </a:rPr>
              <a:t> reasoning</a:t>
            </a:r>
          </a:p>
          <a:p>
            <a:pPr algn="l">
              <a:lnSpc>
                <a:spcPts val="1439"/>
              </a:lnSpc>
            </a:pPr>
            <a:r>
              <a:rPr lang="en-US" sz="1200" dirty="0">
                <a:solidFill>
                  <a:srgbClr val="000000"/>
                </a:solidFill>
                <a:latin typeface="Calibri (MS)"/>
                <a:ea typeface="Calibri (MS)"/>
                <a:cs typeface="Calibri (MS)"/>
                <a:sym typeface="Calibri (MS)"/>
              </a:rPr>
              <a:t>62. Learn /be familiar with company culture because your boss did care. ( company margin, target.) what is your boss concern? BBSC, hold cost. When do they have regular meeting and report what? CAGR Compound Annual Growth Rate. Competitor?</a:t>
            </a:r>
          </a:p>
          <a:p>
            <a:pPr algn="l">
              <a:lnSpc>
                <a:spcPts val="1439"/>
              </a:lnSpc>
            </a:pPr>
            <a:r>
              <a:rPr lang="en-US" sz="1200" dirty="0">
                <a:solidFill>
                  <a:srgbClr val="000000"/>
                </a:solidFill>
                <a:latin typeface="Calibri (MS)"/>
                <a:ea typeface="Calibri (MS)"/>
                <a:cs typeface="Calibri (MS)"/>
                <a:sym typeface="Calibri (MS)"/>
              </a:rPr>
              <a:t>63. Try to rephrase statement and re-plot in opposite shoe. Make it be simple and be easily understood. </a:t>
            </a:r>
            <a:r>
              <a:rPr lang="en-US" sz="1200" dirty="0" err="1">
                <a:solidFill>
                  <a:srgbClr val="000000"/>
                </a:solidFill>
                <a:latin typeface="Calibri (MS)"/>
                <a:ea typeface="Calibri (MS)"/>
                <a:cs typeface="Calibri (MS)"/>
                <a:sym typeface="Calibri (MS)"/>
              </a:rPr>
              <a:t>同理心</a:t>
            </a:r>
            <a:r>
              <a:rPr lang="en-US" sz="1200" dirty="0">
                <a:solidFill>
                  <a:srgbClr val="000000"/>
                </a:solidFill>
                <a:latin typeface="Calibri (MS)"/>
                <a:ea typeface="Calibri (MS)"/>
                <a:cs typeface="Calibri (MS)"/>
                <a:sym typeface="Calibri (MS)"/>
              </a:rPr>
              <a:t>(Empathy) vs </a:t>
            </a:r>
            <a:r>
              <a:rPr lang="en-US" sz="1200" dirty="0" err="1">
                <a:solidFill>
                  <a:srgbClr val="000000"/>
                </a:solidFill>
                <a:latin typeface="Calibri (MS)"/>
                <a:ea typeface="Calibri (MS)"/>
                <a:cs typeface="Calibri (MS)"/>
                <a:sym typeface="Calibri (MS)"/>
              </a:rPr>
              <a:t>同情心</a:t>
            </a:r>
            <a:r>
              <a:rPr lang="en-US" sz="1200" dirty="0">
                <a:solidFill>
                  <a:srgbClr val="000000"/>
                </a:solidFill>
                <a:latin typeface="Calibri (MS)"/>
                <a:ea typeface="Calibri (MS)"/>
                <a:cs typeface="Calibri (MS)"/>
                <a:sym typeface="Calibri (MS)"/>
              </a:rPr>
              <a:t>(Sympathy) "</a:t>
            </a:r>
          </a:p>
          <a:p>
            <a:pPr algn="l">
              <a:lnSpc>
                <a:spcPts val="1439"/>
              </a:lnSpc>
            </a:pPr>
            <a:r>
              <a:rPr lang="en-US" sz="1200" dirty="0">
                <a:solidFill>
                  <a:srgbClr val="000000"/>
                </a:solidFill>
                <a:latin typeface="Calibri (MS)"/>
                <a:ea typeface="Calibri (MS)"/>
                <a:cs typeface="Calibri (MS)"/>
                <a:sym typeface="Calibri (MS)"/>
              </a:rPr>
              <a:t>64. Have sense of CPK / statistic / probability , using a table may be more precise than a plot. (</a:t>
            </a:r>
            <a:r>
              <a:rPr lang="en-US" sz="1200" dirty="0" err="1">
                <a:solidFill>
                  <a:srgbClr val="000000"/>
                </a:solidFill>
                <a:latin typeface="Calibri (MS)"/>
                <a:ea typeface="Calibri (MS)"/>
                <a:cs typeface="Calibri (MS)"/>
                <a:sym typeface="Calibri (MS)"/>
              </a:rPr>
              <a:t>推論性統計</a:t>
            </a:r>
            <a:r>
              <a:rPr lang="en-US" sz="1200" dirty="0">
                <a:solidFill>
                  <a:srgbClr val="000000"/>
                </a:solidFill>
                <a:latin typeface="Calibri (MS)"/>
                <a:ea typeface="Calibri (MS)"/>
                <a:cs typeface="Calibri (MS)"/>
                <a:sym typeface="Calibri (MS)"/>
              </a:rPr>
              <a:t> (Inferential Statistics)confident level, interval) What is your database?, any selectively biased or for certain time domain? ANOVA, linear regression. (bimodality ) , normality check, sigma, delta-sigma, %GRR.</a:t>
            </a:r>
          </a:p>
          <a:p>
            <a:pPr algn="l">
              <a:lnSpc>
                <a:spcPts val="1439"/>
              </a:lnSpc>
            </a:pPr>
            <a:r>
              <a:rPr lang="en-US" sz="1200" dirty="0">
                <a:solidFill>
                  <a:srgbClr val="000000"/>
                </a:solidFill>
                <a:latin typeface="Calibri (MS)"/>
                <a:ea typeface="Calibri (MS)"/>
                <a:cs typeface="Calibri (MS)"/>
                <a:sym typeface="Calibri (MS)"/>
              </a:rPr>
              <a:t>65. File naming / folder management / file backup / scope. Easy to find in few seconds. Using a longer name.  To help identify job classification. Product-stage-SVN-CAT-issue-version_ DATE, knowledge management.</a:t>
            </a:r>
          </a:p>
          <a:p>
            <a:pPr algn="l">
              <a:lnSpc>
                <a:spcPts val="1439"/>
              </a:lnSpc>
            </a:pPr>
            <a:r>
              <a:rPr lang="en-US" sz="1200" dirty="0">
                <a:solidFill>
                  <a:srgbClr val="000000"/>
                </a:solidFill>
                <a:latin typeface="Calibri (MS)"/>
                <a:ea typeface="Calibri (MS)"/>
                <a:cs typeface="Calibri (MS)"/>
                <a:sym typeface="Calibri (MS)"/>
              </a:rPr>
              <a:t>66. Take a walk or take a deep breath, Stretching exercises when you feel pressure. Item 46, 48. Heavy weight training, even take a leave.</a:t>
            </a:r>
          </a:p>
          <a:p>
            <a:pPr algn="l">
              <a:lnSpc>
                <a:spcPts val="1439"/>
              </a:lnSpc>
            </a:pPr>
            <a:r>
              <a:rPr lang="en-US" sz="1200" dirty="0">
                <a:solidFill>
                  <a:srgbClr val="000000"/>
                </a:solidFill>
                <a:latin typeface="Calibri (MS)"/>
                <a:ea typeface="Calibri (MS)"/>
                <a:cs typeface="Calibri (MS)"/>
                <a:sym typeface="Calibri (MS)"/>
              </a:rPr>
              <a:t>67. Try to quantize your task and effort in percentage, completeness or put smile, angry, yellow face. It doesn’t mean not important even it cannot be quantitated. Color coding? It is important when you are leading a project.</a:t>
            </a:r>
          </a:p>
          <a:p>
            <a:pPr algn="l">
              <a:lnSpc>
                <a:spcPts val="1439"/>
              </a:lnSpc>
            </a:pPr>
            <a:r>
              <a:rPr lang="en-US" sz="1200" dirty="0">
                <a:solidFill>
                  <a:srgbClr val="000000"/>
                </a:solidFill>
                <a:latin typeface="Calibri (MS)"/>
                <a:ea typeface="Calibri (MS)"/>
                <a:cs typeface="Calibri (MS)"/>
                <a:sym typeface="Calibri (MS)"/>
              </a:rPr>
              <a:t>68. Data can be used to prove or cheat. Statistical meaning or data to prove your statement, sample size is enough. Intuition  or Feeling will mislead you. Item 64. Where is the data from? To avoid causal fallacy </a:t>
            </a:r>
            <a:r>
              <a:rPr lang="en-US" sz="1200" dirty="0" err="1">
                <a:solidFill>
                  <a:srgbClr val="000000"/>
                </a:solidFill>
                <a:latin typeface="Calibri (MS)"/>
                <a:ea typeface="Calibri (MS)"/>
                <a:cs typeface="Calibri (MS)"/>
                <a:sym typeface="Calibri (MS)"/>
              </a:rPr>
              <a:t>因果謬誤</a:t>
            </a:r>
            <a:r>
              <a:rPr lang="en-US" sz="1200" dirty="0">
                <a:solidFill>
                  <a:srgbClr val="000000"/>
                </a:solidFill>
                <a:latin typeface="Calibri (MS)"/>
                <a:ea typeface="Calibri (MS)"/>
                <a:cs typeface="Calibri (MS)"/>
                <a:sym typeface="Calibri (MS)"/>
              </a:rPr>
              <a:t>. ( big sigma, variation is big or forget outliers may lead black swan.)</a:t>
            </a:r>
          </a:p>
          <a:p>
            <a:pPr algn="l">
              <a:lnSpc>
                <a:spcPts val="1439"/>
              </a:lnSpc>
            </a:pPr>
            <a:r>
              <a:rPr lang="en-US" sz="1200" dirty="0">
                <a:solidFill>
                  <a:srgbClr val="000000"/>
                </a:solidFill>
                <a:latin typeface="Calibri (MS)"/>
                <a:ea typeface="Calibri (MS)"/>
                <a:cs typeface="Calibri (MS)"/>
                <a:sym typeface="Calibri (MS)"/>
              </a:rPr>
              <a:t>69. Don’t ask basic questions if you are not well-prepared. You may not know what is the basic question. Sometimes we ask basic questions, it is to check we had the same level knowledge, recognition and mindset. </a:t>
            </a:r>
          </a:p>
          <a:p>
            <a:pPr algn="l">
              <a:lnSpc>
                <a:spcPts val="1439"/>
              </a:lnSpc>
            </a:pPr>
            <a:r>
              <a:rPr lang="en-US" sz="1200" dirty="0">
                <a:solidFill>
                  <a:srgbClr val="000000"/>
                </a:solidFill>
                <a:latin typeface="Calibri (MS)"/>
                <a:ea typeface="Calibri (MS)"/>
                <a:cs typeface="Calibri (MS)"/>
                <a:sym typeface="Calibri (MS)"/>
              </a:rPr>
              <a:t>70. Keep principles and follow.  Item 14.</a:t>
            </a:r>
          </a:p>
          <a:p>
            <a:pPr algn="l">
              <a:lnSpc>
                <a:spcPts val="1439"/>
              </a:lnSpc>
            </a:pPr>
            <a:r>
              <a:rPr lang="en-US" sz="1200" dirty="0">
                <a:solidFill>
                  <a:srgbClr val="000000"/>
                </a:solidFill>
                <a:latin typeface="Calibri (MS)"/>
                <a:ea typeface="Calibri (MS)"/>
                <a:cs typeface="Calibri (MS)"/>
                <a:sym typeface="Calibri (MS)"/>
              </a:rPr>
              <a:t>71. Use simple words to explain to others since they may not have time to think, like your top rank managers. Item 63.</a:t>
            </a:r>
          </a:p>
          <a:p>
            <a:pPr algn="l">
              <a:lnSpc>
                <a:spcPts val="1439"/>
              </a:lnSpc>
            </a:pPr>
            <a:r>
              <a:rPr lang="en-US" sz="1200" dirty="0">
                <a:solidFill>
                  <a:srgbClr val="000000"/>
                </a:solidFill>
                <a:latin typeface="Calibri (MS)"/>
                <a:ea typeface="Calibri (MS)"/>
                <a:cs typeface="Calibri (MS)"/>
                <a:sym typeface="Calibri (MS)"/>
              </a:rPr>
              <a:t>72. don’t show hand till it is necessary. Don’t tell others faults or mistakes if they really want to know or want to improve. Save some bullets.</a:t>
            </a:r>
          </a:p>
          <a:p>
            <a:pPr algn="l">
              <a:lnSpc>
                <a:spcPts val="1439"/>
              </a:lnSpc>
            </a:pPr>
            <a:r>
              <a:rPr lang="en-US" sz="1200" dirty="0">
                <a:solidFill>
                  <a:srgbClr val="000000"/>
                </a:solidFill>
                <a:latin typeface="Calibri (MS)"/>
                <a:ea typeface="Calibri (MS)"/>
                <a:cs typeface="Calibri (MS)"/>
                <a:sym typeface="Calibri (MS)"/>
              </a:rPr>
              <a:t>73. If well prepared, then relax, don't make yourself heartache. Feeling nervous is a good sign.</a:t>
            </a:r>
          </a:p>
          <a:p>
            <a:pPr algn="l">
              <a:lnSpc>
                <a:spcPts val="1439"/>
              </a:lnSpc>
            </a:pPr>
            <a:r>
              <a:rPr lang="en-US" sz="1200" dirty="0">
                <a:solidFill>
                  <a:srgbClr val="000000"/>
                </a:solidFill>
                <a:latin typeface="Calibri (MS)"/>
                <a:ea typeface="Calibri (MS)"/>
                <a:cs typeface="Calibri (MS)"/>
                <a:sym typeface="Calibri (MS)"/>
              </a:rPr>
              <a:t>74. Do respect what you achieved and your hard work and neglect when someone says a terrible words to you or simple sentence. You know you did a good job; you had accomplished a good achievement. You should have a record for this year to show to others.</a:t>
            </a:r>
          </a:p>
          <a:p>
            <a:pPr algn="l">
              <a:lnSpc>
                <a:spcPts val="1439"/>
              </a:lnSpc>
            </a:pPr>
            <a:r>
              <a:rPr lang="en-US" sz="1200" dirty="0">
                <a:solidFill>
                  <a:srgbClr val="000000"/>
                </a:solidFill>
                <a:latin typeface="Calibri (MS)"/>
                <a:ea typeface="Calibri (MS)"/>
                <a:cs typeface="Calibri (MS)"/>
                <a:sym typeface="Calibri (MS)"/>
              </a:rPr>
              <a:t>75. We all want to make life easier, however life there are full of challenges and difficulties. the most important is failures happen sometimes and that is normal, that is not your fault because you did a job in limited time.</a:t>
            </a:r>
          </a:p>
          <a:p>
            <a:pPr algn="l">
              <a:lnSpc>
                <a:spcPts val="1439"/>
              </a:lnSpc>
            </a:pPr>
            <a:r>
              <a:rPr lang="en-US" sz="1200" dirty="0">
                <a:solidFill>
                  <a:srgbClr val="000000"/>
                </a:solidFill>
                <a:latin typeface="Calibri (MS)"/>
                <a:ea typeface="Calibri (MS)"/>
                <a:cs typeface="Calibri (MS)"/>
                <a:sym typeface="Calibri (MS)"/>
              </a:rPr>
              <a:t>76. Be honest to yourself and management team. Show Integrity when you make mistake. Behave as code of conduct.; but not clueless. </a:t>
            </a:r>
          </a:p>
          <a:p>
            <a:pPr algn="l">
              <a:lnSpc>
                <a:spcPts val="1439"/>
              </a:lnSpc>
            </a:pPr>
            <a:r>
              <a:rPr lang="en-US" sz="1200" dirty="0">
                <a:solidFill>
                  <a:srgbClr val="000000"/>
                </a:solidFill>
                <a:latin typeface="Calibri (MS)"/>
                <a:ea typeface="Calibri (MS)"/>
                <a:cs typeface="Calibri (MS)"/>
                <a:sym typeface="Calibri (MS)"/>
              </a:rPr>
              <a:t>77. And tell yourself you (or your colleagues) already did a great job over months and do not   look down on  yourself because  someone says something. ( put your ego aside)</a:t>
            </a:r>
          </a:p>
          <a:p>
            <a:pPr algn="l">
              <a:lnSpc>
                <a:spcPts val="1439"/>
              </a:lnSpc>
            </a:pPr>
            <a:r>
              <a:rPr lang="en-US" sz="1200" dirty="0">
                <a:solidFill>
                  <a:srgbClr val="000000"/>
                </a:solidFill>
                <a:latin typeface="Calibri (MS)"/>
                <a:ea typeface="Calibri (MS)"/>
                <a:cs typeface="Calibri (MS)"/>
                <a:sym typeface="Calibri (MS)"/>
              </a:rPr>
              <a:t>78. Your priorities are not your boss priorities, even your colleague's.</a:t>
            </a:r>
          </a:p>
          <a:p>
            <a:pPr algn="l">
              <a:lnSpc>
                <a:spcPts val="1439"/>
              </a:lnSpc>
            </a:pPr>
            <a:r>
              <a:rPr lang="en-US" sz="1200" dirty="0">
                <a:solidFill>
                  <a:srgbClr val="000000"/>
                </a:solidFill>
                <a:latin typeface="Calibri (MS)"/>
                <a:ea typeface="Calibri (MS)"/>
                <a:cs typeface="Calibri (MS)"/>
                <a:sym typeface="Calibri (MS)"/>
              </a:rPr>
              <a:t>79. And most important things is clean your ass before you want to clean someone's ass. Item88, 234.</a:t>
            </a:r>
          </a:p>
          <a:p>
            <a:pPr algn="l">
              <a:lnSpc>
                <a:spcPts val="1439"/>
              </a:lnSpc>
            </a:pPr>
            <a:r>
              <a:rPr lang="en-US" sz="1200" dirty="0">
                <a:solidFill>
                  <a:srgbClr val="000000"/>
                </a:solidFill>
                <a:latin typeface="Calibri (MS)"/>
                <a:ea typeface="Calibri (MS)"/>
                <a:cs typeface="Calibri (MS)"/>
                <a:sym typeface="Calibri (MS)"/>
              </a:rPr>
              <a:t>80. And do not expect they say thank you or do anything for you. What you did is what you should do or for yourself for certain goal.</a:t>
            </a:r>
          </a:p>
          <a:p>
            <a:pPr algn="l">
              <a:lnSpc>
                <a:spcPts val="1439"/>
              </a:lnSpc>
            </a:pPr>
            <a:r>
              <a:rPr lang="en-US" sz="1200" dirty="0">
                <a:solidFill>
                  <a:srgbClr val="000000"/>
                </a:solidFill>
                <a:latin typeface="Calibri (MS)"/>
                <a:ea typeface="Calibri (MS)"/>
                <a:cs typeface="Calibri (MS)"/>
                <a:sym typeface="Calibri (MS)"/>
              </a:rPr>
              <a:t>81. try to commit to your mistake and say sorry and even if you think you already finished all the things and sometimes you skip or neglect or overlook by accident. therefore, you need some peer review or feedback or a good checklist to make sure you didn't miss anything. that's why we need to have review </a:t>
            </a:r>
            <a:r>
              <a:rPr lang="en-US" sz="1200" dirty="0" err="1">
                <a:solidFill>
                  <a:srgbClr val="000000"/>
                </a:solidFill>
                <a:latin typeface="Calibri (MS)"/>
                <a:ea typeface="Calibri (MS)"/>
                <a:cs typeface="Calibri (MS)"/>
                <a:sym typeface="Calibri (MS)"/>
              </a:rPr>
              <a:t>ourselfs</a:t>
            </a:r>
            <a:r>
              <a:rPr lang="en-US" sz="1200" dirty="0">
                <a:solidFill>
                  <a:srgbClr val="000000"/>
                </a:solidFill>
                <a:latin typeface="Calibri (MS)"/>
                <a:ea typeface="Calibri (MS)"/>
                <a:cs typeface="Calibri (MS)"/>
                <a:sym typeface="Calibri (MS)"/>
              </a:rPr>
              <a:t> regularly because you are not perfect, and everything may change during the time. Therefore, you may renew the checklist. Iteration. Task-oriented, retrospective. Continuously improvement and gradually better. Purposed-oriented.</a:t>
            </a:r>
          </a:p>
          <a:p>
            <a:pPr algn="l">
              <a:lnSpc>
                <a:spcPts val="1439"/>
              </a:lnSpc>
            </a:pPr>
            <a:r>
              <a:rPr lang="en-US" sz="1200" dirty="0">
                <a:solidFill>
                  <a:srgbClr val="000000"/>
                </a:solidFill>
                <a:latin typeface="Calibri (MS)"/>
                <a:ea typeface="Calibri (MS)"/>
                <a:cs typeface="Calibri (MS)"/>
                <a:sym typeface="Calibri (MS)"/>
              </a:rPr>
              <a:t>82. Do not input many information in one time, especially bad news. You also need good news to your boss.  To set “ delayed delivery” for sending email when you already finished and don’t want to send right away. ( email, clean layout)</a:t>
            </a:r>
          </a:p>
          <a:p>
            <a:pPr algn="l">
              <a:lnSpc>
                <a:spcPts val="1439"/>
              </a:lnSpc>
            </a:pPr>
            <a:r>
              <a:rPr lang="en-US" sz="1200" dirty="0">
                <a:solidFill>
                  <a:srgbClr val="000000"/>
                </a:solidFill>
                <a:latin typeface="Calibri (MS)"/>
                <a:ea typeface="Calibri (MS)"/>
                <a:cs typeface="Calibri (MS)"/>
                <a:sym typeface="Calibri (MS)"/>
              </a:rPr>
              <a:t>83. Try to take a leave for 2-3 days even longer. (Align with family's schedule, mother’s day, birthday and tomb-sweeping day, new year…) Item 46. (Review it in the morning.) You need to recharge and spend time to look back what you have finished. Even 2 hours. ( reserve time to take a break, learn new things.), you need to record it,  set the timeline in google calendar. ( let bullets fly, put your ass heavy, metal resilience, failure is part of life. (personal project)</a:t>
            </a:r>
          </a:p>
          <a:p>
            <a:pPr algn="l">
              <a:lnSpc>
                <a:spcPts val="1439"/>
              </a:lnSpc>
            </a:pPr>
            <a:r>
              <a:rPr lang="en-US" sz="1200" dirty="0">
                <a:solidFill>
                  <a:srgbClr val="000000"/>
                </a:solidFill>
                <a:latin typeface="Calibri (MS)"/>
                <a:ea typeface="Calibri (MS)"/>
                <a:cs typeface="Calibri (MS)"/>
                <a:sym typeface="Calibri (MS)"/>
              </a:rPr>
              <a:t>84. Challenges and failure always happen and think about the previous achievement, and you will find difficulties you occur now is a piece of cake. Focus on solution, progress and problem solving instead of emotion. You will not be such emotional when you focus on it. Item75, you will thank yourself n the future that you didn’t give up.</a:t>
            </a:r>
          </a:p>
          <a:p>
            <a:pPr algn="l">
              <a:lnSpc>
                <a:spcPts val="1439"/>
              </a:lnSpc>
            </a:pPr>
            <a:r>
              <a:rPr lang="en-US" sz="1200" dirty="0">
                <a:solidFill>
                  <a:srgbClr val="000000"/>
                </a:solidFill>
                <a:latin typeface="Calibri (MS)"/>
                <a:ea typeface="Calibri (MS)"/>
                <a:cs typeface="Calibri (MS)"/>
                <a:sym typeface="Calibri (MS)"/>
              </a:rPr>
              <a:t>85. Do not make low tech mistake. Item 50. Which may not be recovered.</a:t>
            </a:r>
            <a:r>
              <a:rPr lang="en-US" sz="1200" dirty="0" err="1">
                <a:solidFill>
                  <a:srgbClr val="000000"/>
                </a:solidFill>
                <a:latin typeface="Calibri (MS)"/>
                <a:ea typeface="Calibri (MS)"/>
                <a:cs typeface="Calibri (MS)"/>
                <a:sym typeface="Calibri (MS)"/>
              </a:rPr>
              <a:t>預先驗屍。不去做會如何，心理難過</a:t>
            </a:r>
            <a:r>
              <a:rPr lang="en-US" sz="1200" dirty="0">
                <a:solidFill>
                  <a:srgbClr val="000000"/>
                </a:solidFill>
                <a:latin typeface="Calibri (MS)"/>
                <a:ea typeface="Calibri (MS)"/>
                <a:cs typeface="Calibri (MS)"/>
                <a:sym typeface="Calibri (MS)"/>
              </a:rPr>
              <a:t>,,</a:t>
            </a:r>
            <a:r>
              <a:rPr lang="en-US" sz="1200" dirty="0" err="1">
                <a:solidFill>
                  <a:srgbClr val="000000"/>
                </a:solidFill>
                <a:latin typeface="Calibri (MS)"/>
                <a:ea typeface="Calibri (MS)"/>
                <a:cs typeface="Calibri (MS)"/>
                <a:sym typeface="Calibri (MS)"/>
              </a:rPr>
              <a:t>後悔,會受實質處罰</a:t>
            </a:r>
            <a:endParaRPr lang="en-US" sz="1200" dirty="0">
              <a:solidFill>
                <a:srgbClr val="000000"/>
              </a:solidFill>
              <a:latin typeface="Calibri (MS)"/>
              <a:ea typeface="Calibri (MS)"/>
              <a:cs typeface="Calibri (MS)"/>
              <a:sym typeface="Calibri (MS)"/>
            </a:endParaRPr>
          </a:p>
          <a:p>
            <a:pPr algn="l">
              <a:lnSpc>
                <a:spcPts val="1439"/>
              </a:lnSpc>
            </a:pPr>
            <a:r>
              <a:rPr lang="en-US" sz="1200" dirty="0">
                <a:solidFill>
                  <a:srgbClr val="000000"/>
                </a:solidFill>
                <a:latin typeface="Calibri (MS)"/>
                <a:ea typeface="Calibri (MS)"/>
                <a:cs typeface="Calibri (MS)"/>
                <a:sym typeface="Calibri (MS)"/>
              </a:rPr>
              <a:t>86. Your report is your product / brand. ( check your logic, rephrase, number, paragraph order, plot, spelling, and plot is blur or not? Hyperlink was lost? Watch out what you write and say either in public or public.</a:t>
            </a:r>
          </a:p>
          <a:p>
            <a:pPr algn="l">
              <a:lnSpc>
                <a:spcPts val="1439"/>
              </a:lnSpc>
            </a:pPr>
            <a:r>
              <a:rPr lang="en-US" sz="1200" dirty="0">
                <a:solidFill>
                  <a:srgbClr val="000000"/>
                </a:solidFill>
                <a:latin typeface="Calibri (MS)"/>
                <a:ea typeface="Calibri (MS)"/>
                <a:cs typeface="Calibri (MS)"/>
                <a:sym typeface="Calibri (MS)"/>
              </a:rPr>
              <a:t>87. Try to apologize for your mistake and that should be no excuse to make it happen but sometimes people do the stupid things always. Item 81.</a:t>
            </a:r>
          </a:p>
          <a:p>
            <a:pPr algn="l">
              <a:lnSpc>
                <a:spcPts val="1439"/>
              </a:lnSpc>
            </a:pPr>
            <a:r>
              <a:rPr lang="en-US" sz="1200" dirty="0">
                <a:solidFill>
                  <a:srgbClr val="000000"/>
                </a:solidFill>
                <a:latin typeface="Calibri (MS)"/>
                <a:ea typeface="Calibri (MS)"/>
                <a:cs typeface="Calibri (MS)"/>
                <a:sym typeface="Calibri (MS)"/>
              </a:rPr>
              <a:t>88. Do not correct your colleague's fault or mistakes unless they ask or that is necessary or had already made already impact on you and try to take those cases as a lesson and record it just make sure you won’t make the same mistake. Item234</a:t>
            </a:r>
          </a:p>
          <a:p>
            <a:pPr algn="l">
              <a:lnSpc>
                <a:spcPts val="1439"/>
              </a:lnSpc>
            </a:pPr>
            <a:r>
              <a:rPr lang="en-US" sz="1200" dirty="0">
                <a:solidFill>
                  <a:srgbClr val="000000"/>
                </a:solidFill>
                <a:latin typeface="Calibri (MS)"/>
                <a:ea typeface="Calibri (MS)"/>
                <a:cs typeface="Calibri (MS)"/>
                <a:sym typeface="Calibri (MS)"/>
              </a:rPr>
              <a:t>89. Try to set up firewall to protect yourself just in case your colleague  make a mistake and put you on the danger. Documentation it. EX, CCB, mail collection, meeting minutes. </a:t>
            </a:r>
          </a:p>
          <a:p>
            <a:pPr algn="l">
              <a:lnSpc>
                <a:spcPts val="1439"/>
              </a:lnSpc>
            </a:pPr>
            <a:r>
              <a:rPr lang="en-US" sz="1200" dirty="0">
                <a:solidFill>
                  <a:srgbClr val="000000"/>
                </a:solidFill>
                <a:latin typeface="Calibri (MS)"/>
                <a:ea typeface="Calibri (MS)"/>
                <a:cs typeface="Calibri (MS)"/>
                <a:sym typeface="Calibri (MS)"/>
              </a:rPr>
              <a:t>90. Make yourself irreplaceable. Build up a strong skill, experience and document it like resume / </a:t>
            </a:r>
            <a:r>
              <a:rPr lang="en-US" sz="1200" dirty="0" err="1">
                <a:solidFill>
                  <a:srgbClr val="000000"/>
                </a:solidFill>
                <a:latin typeface="Calibri (MS)"/>
                <a:ea typeface="Calibri (MS)"/>
                <a:cs typeface="Calibri (MS)"/>
                <a:sym typeface="Calibri (MS)"/>
              </a:rPr>
              <a:t>Linkedin</a:t>
            </a:r>
            <a:r>
              <a:rPr lang="en-US" sz="1200" dirty="0">
                <a:solidFill>
                  <a:srgbClr val="000000"/>
                </a:solidFill>
                <a:latin typeface="Calibri (MS)"/>
                <a:ea typeface="Calibri (MS)"/>
                <a:cs typeface="Calibri (MS)"/>
                <a:sym typeface="Calibri (MS)"/>
              </a:rPr>
              <a:t>. Make sure those skills are welcomed with time. If that is the case, learn by yourself. To be aligned with latest industrial status. ITEM129.</a:t>
            </a:r>
          </a:p>
          <a:p>
            <a:pPr algn="l">
              <a:lnSpc>
                <a:spcPts val="1439"/>
              </a:lnSpc>
            </a:pPr>
            <a:r>
              <a:rPr lang="en-US" sz="1200" dirty="0">
                <a:solidFill>
                  <a:srgbClr val="000000"/>
                </a:solidFill>
                <a:latin typeface="Calibri (MS)"/>
                <a:ea typeface="Calibri (MS)"/>
                <a:cs typeface="Calibri (MS)"/>
                <a:sym typeface="Calibri (MS)"/>
              </a:rPr>
              <a:t>91. Go to the detail per stage in one project. Try to learn and ask questions without embarrassment in public . This may be only way you grow up and leave comfort zone. Item 100. From competency point of view or mentality. </a:t>
            </a:r>
          </a:p>
          <a:p>
            <a:pPr algn="l">
              <a:lnSpc>
                <a:spcPts val="1439"/>
              </a:lnSpc>
            </a:pPr>
            <a:r>
              <a:rPr lang="en-US" sz="1200" dirty="0">
                <a:solidFill>
                  <a:srgbClr val="000000"/>
                </a:solidFill>
                <a:latin typeface="Calibri (MS)"/>
                <a:ea typeface="Calibri (MS)"/>
                <a:cs typeface="Calibri (MS)"/>
                <a:sym typeface="Calibri (MS)"/>
              </a:rPr>
              <a:t>92. Focus and Don't get distracted on non-priorities. Ask yourself Why do you do that? Item 14.</a:t>
            </a:r>
          </a:p>
          <a:p>
            <a:pPr algn="l">
              <a:lnSpc>
                <a:spcPts val="1439"/>
              </a:lnSpc>
            </a:pPr>
            <a:r>
              <a:rPr lang="en-US" sz="1200" dirty="0">
                <a:solidFill>
                  <a:srgbClr val="000000"/>
                </a:solidFill>
                <a:latin typeface="Calibri (MS)"/>
                <a:ea typeface="Calibri (MS)"/>
                <a:cs typeface="Calibri (MS)"/>
                <a:sym typeface="Calibri (MS)"/>
              </a:rPr>
              <a:t>93. Explain your data by a physical eye. And use scientific thinking. Item 40.</a:t>
            </a:r>
          </a:p>
          <a:p>
            <a:pPr algn="l">
              <a:lnSpc>
                <a:spcPts val="1439"/>
              </a:lnSpc>
            </a:pPr>
            <a:r>
              <a:rPr lang="en-US" sz="1200" dirty="0">
                <a:solidFill>
                  <a:srgbClr val="000000"/>
                </a:solidFill>
                <a:latin typeface="Calibri (MS)"/>
                <a:ea typeface="Calibri (MS)"/>
                <a:cs typeface="Calibri (MS)"/>
                <a:sym typeface="Calibri (MS)"/>
              </a:rPr>
              <a:t>94. When seeing the issues, list down potential issue, categorize, remove / link, prioritize them. Ask yourself what’s priorities today?</a:t>
            </a:r>
          </a:p>
          <a:p>
            <a:pPr algn="l">
              <a:lnSpc>
                <a:spcPts val="1439"/>
              </a:lnSpc>
            </a:pPr>
            <a:r>
              <a:rPr lang="en-US" sz="1200" dirty="0">
                <a:solidFill>
                  <a:srgbClr val="000000"/>
                </a:solidFill>
                <a:latin typeface="Calibri (MS)"/>
                <a:ea typeface="Calibri (MS)"/>
                <a:cs typeface="Calibri (MS)"/>
                <a:sym typeface="Calibri (MS)"/>
              </a:rPr>
              <a:t>95. Leverage previous notes for works or others. So, you need to find time to summarize your works for future. Item 38. Do a good record for review.</a:t>
            </a:r>
            <a:r>
              <a:rPr lang="nl-NL" sz="1200" dirty="0">
                <a:solidFill>
                  <a:srgbClr val="000000"/>
                </a:solidFill>
                <a:latin typeface="Calibri (MS)"/>
                <a:ea typeface="Calibri (MS)"/>
                <a:cs typeface="Calibri (MS)"/>
                <a:sym typeface="Calibri (MS)"/>
              </a:rPr>
              <a:t>復盤.</a:t>
            </a:r>
            <a:endParaRPr lang="en-US" sz="1200" dirty="0">
              <a:solidFill>
                <a:srgbClr val="000000"/>
              </a:solidFill>
              <a:latin typeface="Calibri (MS)"/>
              <a:ea typeface="Calibri (MS)"/>
              <a:cs typeface="Calibri (MS)"/>
              <a:sym typeface="Calibri (MS)"/>
            </a:endParaRPr>
          </a:p>
          <a:p>
            <a:pPr algn="l">
              <a:lnSpc>
                <a:spcPts val="1439"/>
              </a:lnSpc>
            </a:pPr>
            <a:r>
              <a:rPr lang="en-US" sz="1200" dirty="0">
                <a:solidFill>
                  <a:srgbClr val="000000"/>
                </a:solidFill>
                <a:latin typeface="Calibri (MS)"/>
                <a:ea typeface="Calibri (MS)"/>
                <a:cs typeface="Calibri (MS)"/>
                <a:sym typeface="Calibri (MS)"/>
              </a:rPr>
              <a:t>96. To estimate the time and effort per task. You will need some time and experience to have an accurate number. #32. Don’t be like reboot and try to enjoy it. </a:t>
            </a:r>
          </a:p>
          <a:p>
            <a:pPr algn="l">
              <a:lnSpc>
                <a:spcPts val="1439"/>
              </a:lnSpc>
            </a:pPr>
            <a:r>
              <a:rPr lang="en-US" sz="1200" dirty="0">
                <a:solidFill>
                  <a:srgbClr val="000000"/>
                </a:solidFill>
                <a:latin typeface="Calibri (MS)"/>
                <a:ea typeface="Calibri (MS)"/>
                <a:cs typeface="Calibri (MS)"/>
                <a:sym typeface="Calibri (MS)"/>
              </a:rPr>
              <a:t>97. Not give too many comments or suggestions to your colleagues in one time. Item 82. Even don’t suggest spontaneously. Item 88.</a:t>
            </a:r>
          </a:p>
          <a:p>
            <a:pPr algn="l">
              <a:lnSpc>
                <a:spcPts val="1439"/>
              </a:lnSpc>
            </a:pPr>
            <a:r>
              <a:rPr lang="en-US" sz="1200" dirty="0">
                <a:solidFill>
                  <a:srgbClr val="000000"/>
                </a:solidFill>
                <a:latin typeface="Calibri (MS)"/>
                <a:ea typeface="Calibri (MS)"/>
                <a:cs typeface="Calibri (MS)"/>
                <a:sym typeface="Calibri (MS)"/>
              </a:rPr>
              <a:t>98. You may not be that important than you think. The world is spinning still. Put your ego aside.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4338" y="-73781"/>
            <a:ext cx="15911846" cy="10463070"/>
          </a:xfrm>
          <a:prstGeom prst="rect">
            <a:avLst/>
          </a:prstGeom>
        </p:spPr>
        <p:txBody>
          <a:bodyPr lIns="0" tIns="0" rIns="0" bIns="0" rtlCol="0" anchor="t">
            <a:spAutoFit/>
          </a:bodyPr>
          <a:lstStyle/>
          <a:p>
            <a:pPr>
              <a:lnSpc>
                <a:spcPts val="1620"/>
              </a:lnSpc>
            </a:pPr>
            <a:r>
              <a:rPr lang="en-US" sz="1350" dirty="0">
                <a:solidFill>
                  <a:srgbClr val="000000"/>
                </a:solidFill>
                <a:latin typeface="Calibri (MS)"/>
                <a:ea typeface="Calibri (MS)"/>
                <a:cs typeface="Calibri (MS)"/>
                <a:sym typeface="Calibri (MS)"/>
              </a:rPr>
              <a:t>99. Try to learn from past experience</a:t>
            </a:r>
            <a:r>
              <a:rPr lang="nl-NL" altLang="zh-TW" sz="1400" dirty="0">
                <a:solidFill>
                  <a:srgbClr val="000000"/>
                </a:solidFill>
                <a:latin typeface="Calibri (MS)"/>
                <a:ea typeface="Calibri (MS)"/>
                <a:cs typeface="Calibri (MS)"/>
                <a:sym typeface="Calibri (MS)"/>
              </a:rPr>
              <a:t> 復盤</a:t>
            </a:r>
            <a:r>
              <a:rPr lang="en-US" sz="1350" dirty="0">
                <a:solidFill>
                  <a:srgbClr val="000000"/>
                </a:solidFill>
                <a:latin typeface="Calibri (MS)"/>
                <a:ea typeface="Calibri (MS)"/>
                <a:cs typeface="Calibri (MS)"/>
                <a:sym typeface="Calibri (MS)"/>
              </a:rPr>
              <a:t>, from others, they are not free. Or read books and learn from their experience. And trust science and mathematics (statistics) ( data talk), facts. Item 93. List down few books as reference, just in case you need them for answers in some day.</a:t>
            </a:r>
          </a:p>
          <a:p>
            <a:pPr algn="l">
              <a:lnSpc>
                <a:spcPts val="1620"/>
              </a:lnSpc>
            </a:pPr>
            <a:r>
              <a:rPr lang="en-US" sz="1350" dirty="0">
                <a:solidFill>
                  <a:srgbClr val="000000"/>
                </a:solidFill>
                <a:latin typeface="Calibri (MS)"/>
                <a:ea typeface="Calibri (MS)"/>
                <a:cs typeface="Calibri (MS)"/>
                <a:sym typeface="Calibri (MS)"/>
              </a:rPr>
              <a:t>100. Find out when or what you want to procrastinate. Eat the frog. Don’t hide in your comfort zone. Jump into learning zone. Really learn  new things and have outputs to accumulate achievement. And you can teach others.</a:t>
            </a:r>
          </a:p>
          <a:p>
            <a:pPr algn="l">
              <a:lnSpc>
                <a:spcPts val="1620"/>
              </a:lnSpc>
            </a:pPr>
            <a:r>
              <a:rPr lang="en-US" sz="1350" dirty="0">
                <a:solidFill>
                  <a:srgbClr val="000000"/>
                </a:solidFill>
                <a:latin typeface="Calibri (MS)"/>
                <a:ea typeface="Calibri (MS)"/>
                <a:cs typeface="Calibri (MS)"/>
                <a:sym typeface="Calibri (MS)"/>
              </a:rPr>
              <a:t>101. Try to write down procedure ( detail) as a good habit. Some day you may need it or reuse it in the future. Item38,95. Way of working tuning.</a:t>
            </a:r>
          </a:p>
          <a:p>
            <a:pPr algn="l">
              <a:lnSpc>
                <a:spcPts val="1620"/>
              </a:lnSpc>
            </a:pPr>
            <a:r>
              <a:rPr lang="en-US" sz="1350" dirty="0">
                <a:solidFill>
                  <a:srgbClr val="000000"/>
                </a:solidFill>
                <a:latin typeface="Calibri (MS)"/>
                <a:ea typeface="Calibri (MS)"/>
                <a:cs typeface="Calibri (MS)"/>
                <a:sym typeface="Calibri (MS)"/>
              </a:rPr>
              <a:t>102. “I will do my best.” Are you happy / satisfied with that?” “ Any comments or concern?” “ Thanks for joining the review / meeting and contribution and feedback.” “ Any / concerns to share? Using Positive words and embraces all possibilities. We can do better.</a:t>
            </a:r>
          </a:p>
          <a:p>
            <a:pPr algn="l">
              <a:lnSpc>
                <a:spcPts val="1620"/>
              </a:lnSpc>
            </a:pPr>
            <a:r>
              <a:rPr lang="en-US" sz="1350" dirty="0">
                <a:solidFill>
                  <a:srgbClr val="000000"/>
                </a:solidFill>
                <a:latin typeface="Calibri (MS)"/>
                <a:ea typeface="Calibri (MS)"/>
                <a:cs typeface="Calibri (MS)"/>
                <a:sym typeface="Calibri (MS)"/>
              </a:rPr>
              <a:t>103. What boost you to finish this? And why? ( fame / achievement /life pressure / economic /  passion / survival / reality. Item 46. Or block you? Motivation?</a:t>
            </a:r>
          </a:p>
          <a:p>
            <a:pPr algn="l">
              <a:lnSpc>
                <a:spcPts val="1620"/>
              </a:lnSpc>
            </a:pPr>
            <a:r>
              <a:rPr lang="en-US" sz="1350" dirty="0">
                <a:solidFill>
                  <a:srgbClr val="000000"/>
                </a:solidFill>
                <a:latin typeface="Calibri (MS)"/>
                <a:ea typeface="Calibri (MS)"/>
                <a:cs typeface="Calibri (MS)"/>
                <a:sym typeface="Calibri (MS)"/>
              </a:rPr>
              <a:t>104. Don't say anything above your level/position. Talk decently in public, also dress. You need to practice then are not afraid of embarrassment in public.</a:t>
            </a:r>
          </a:p>
          <a:p>
            <a:pPr algn="l">
              <a:lnSpc>
                <a:spcPts val="1620"/>
              </a:lnSpc>
            </a:pPr>
            <a:r>
              <a:rPr lang="en-US" sz="1350" dirty="0">
                <a:solidFill>
                  <a:srgbClr val="000000"/>
                </a:solidFill>
                <a:latin typeface="Calibri (MS)"/>
                <a:ea typeface="Calibri (MS)"/>
                <a:cs typeface="Calibri (MS)"/>
                <a:sym typeface="Calibri (MS)"/>
              </a:rPr>
              <a:t>105.Some people may use his/her power/ authority to mislead others, intentionally or unintentionally. When bosses cannot meet customers' requirement. Quality, market pressure.</a:t>
            </a:r>
          </a:p>
          <a:p>
            <a:pPr algn="l">
              <a:lnSpc>
                <a:spcPts val="1620"/>
              </a:lnSpc>
            </a:pPr>
            <a:r>
              <a:rPr lang="en-US" sz="1350" dirty="0">
                <a:solidFill>
                  <a:srgbClr val="000000"/>
                </a:solidFill>
                <a:latin typeface="Calibri (MS)"/>
                <a:ea typeface="Calibri (MS)"/>
                <a:cs typeface="Calibri (MS)"/>
                <a:sym typeface="Calibri (MS)"/>
              </a:rPr>
              <a:t>106.Don’t criticize. Check if you have this similar mistakes or overlook. Try to learn or make it faster or easier. Write it down and you may forget. And review it regularly.</a:t>
            </a:r>
          </a:p>
          <a:p>
            <a:pPr algn="l">
              <a:lnSpc>
                <a:spcPts val="1620"/>
              </a:lnSpc>
            </a:pPr>
            <a:r>
              <a:rPr lang="en-US" sz="1350" dirty="0">
                <a:solidFill>
                  <a:srgbClr val="000000"/>
                </a:solidFill>
                <a:latin typeface="Calibri (MS)"/>
                <a:ea typeface="Calibri (MS)"/>
                <a:cs typeface="Calibri (MS)"/>
                <a:sym typeface="Calibri (MS)"/>
              </a:rPr>
              <a:t>107.Leave someone’s question if they may waste your time without respect your expertise and comments, even you know the knowledge or answers. Item 114. They will kill your passion. Energy management.</a:t>
            </a:r>
          </a:p>
          <a:p>
            <a:pPr algn="l">
              <a:lnSpc>
                <a:spcPts val="1620"/>
              </a:lnSpc>
            </a:pPr>
            <a:r>
              <a:rPr lang="en-US" sz="1350" dirty="0">
                <a:solidFill>
                  <a:srgbClr val="000000"/>
                </a:solidFill>
                <a:latin typeface="Calibri (MS)"/>
                <a:ea typeface="Calibri (MS)"/>
                <a:cs typeface="Calibri (MS)"/>
                <a:sym typeface="Calibri (MS)"/>
              </a:rPr>
              <a:t>108.Remember to protect yourself ( interest) and keep your mouth shut.  Not being some’s teacher without being asked. Item 88.</a:t>
            </a:r>
          </a:p>
          <a:p>
            <a:pPr algn="l">
              <a:lnSpc>
                <a:spcPts val="1620"/>
              </a:lnSpc>
            </a:pPr>
            <a:r>
              <a:rPr lang="en-US" sz="1350" dirty="0">
                <a:solidFill>
                  <a:srgbClr val="000000"/>
                </a:solidFill>
                <a:latin typeface="Calibri (MS)"/>
                <a:ea typeface="Calibri (MS)"/>
                <a:cs typeface="Calibri (MS)"/>
                <a:sym typeface="Calibri (MS)"/>
              </a:rPr>
              <a:t>109.Open-minded to accept other’s comments / suggestions. Item 48.</a:t>
            </a:r>
          </a:p>
          <a:p>
            <a:pPr algn="l">
              <a:lnSpc>
                <a:spcPts val="1620"/>
              </a:lnSpc>
            </a:pPr>
            <a:r>
              <a:rPr lang="en-US" sz="1350" dirty="0">
                <a:solidFill>
                  <a:srgbClr val="000000"/>
                </a:solidFill>
                <a:latin typeface="Calibri (MS)"/>
                <a:ea typeface="Calibri (MS)"/>
                <a:cs typeface="Calibri (MS)"/>
                <a:sym typeface="Calibri (MS)"/>
              </a:rPr>
              <a:t>110.Dare to disagree with solid evidence and good reasons. How to disagree? Item41. ( 10 ways to disagree.) argument with task, not personal. You have your opinion. </a:t>
            </a:r>
          </a:p>
          <a:p>
            <a:pPr algn="l">
              <a:lnSpc>
                <a:spcPts val="1620"/>
              </a:lnSpc>
            </a:pPr>
            <a:r>
              <a:rPr lang="en-US" sz="1350" dirty="0">
                <a:solidFill>
                  <a:srgbClr val="000000"/>
                </a:solidFill>
                <a:latin typeface="Calibri (MS)"/>
                <a:ea typeface="Calibri (MS)"/>
                <a:cs typeface="Calibri (MS)"/>
                <a:sym typeface="Calibri (MS)"/>
              </a:rPr>
              <a:t>111.Do not stay in original / location for long and do nothing ( Although, waiting may be part of life.) Push yourself / project to next level/stage. Fast act, fast fail and correct it. Do some changes. ( learn some skill)</a:t>
            </a:r>
          </a:p>
          <a:p>
            <a:pPr algn="l">
              <a:lnSpc>
                <a:spcPts val="1620"/>
              </a:lnSpc>
            </a:pPr>
            <a:r>
              <a:rPr lang="en-US" sz="1350" dirty="0">
                <a:solidFill>
                  <a:srgbClr val="000000"/>
                </a:solidFill>
                <a:latin typeface="Calibri (MS)"/>
                <a:ea typeface="Calibri (MS)"/>
                <a:cs typeface="Calibri (MS)"/>
                <a:sym typeface="Calibri (MS)"/>
              </a:rPr>
              <a:t>112.Collect template / Report/ </a:t>
            </a:r>
            <a:r>
              <a:rPr lang="en-US" sz="1350" dirty="0" err="1">
                <a:solidFill>
                  <a:srgbClr val="000000"/>
                </a:solidFill>
                <a:latin typeface="Calibri (MS)"/>
                <a:ea typeface="Calibri (MS)"/>
                <a:cs typeface="Calibri (MS)"/>
                <a:sym typeface="Calibri (MS)"/>
              </a:rPr>
              <a:t>tarshiro</a:t>
            </a:r>
            <a:r>
              <a:rPr lang="en-US" sz="1350" dirty="0">
                <a:solidFill>
                  <a:srgbClr val="000000"/>
                </a:solidFill>
                <a:latin typeface="Calibri (MS)"/>
                <a:ea typeface="Calibri (MS)"/>
                <a:cs typeface="Calibri (MS)"/>
                <a:sym typeface="Calibri (MS)"/>
              </a:rPr>
              <a:t>, one page report, fish bone, 8D, FMEA, 3X5 why, low yield </a:t>
            </a:r>
            <a:r>
              <a:rPr lang="en-US" sz="1350" dirty="0" err="1">
                <a:solidFill>
                  <a:srgbClr val="000000"/>
                </a:solidFill>
                <a:latin typeface="Calibri (MS)"/>
                <a:ea typeface="Calibri (MS)"/>
                <a:cs typeface="Calibri (MS)"/>
                <a:sym typeface="Calibri (MS)"/>
              </a:rPr>
              <a:t>mindmap</a:t>
            </a:r>
            <a:r>
              <a:rPr lang="en-US" sz="1350" dirty="0">
                <a:solidFill>
                  <a:srgbClr val="000000"/>
                </a:solidFill>
                <a:latin typeface="Calibri (MS)"/>
                <a:ea typeface="Calibri (MS)"/>
                <a:cs typeface="Calibri (MS)"/>
                <a:sym typeface="Calibri (MS)"/>
              </a:rPr>
              <a:t> ( problem solving), CQC </a:t>
            </a:r>
            <a:r>
              <a:rPr lang="en-US" sz="1350" dirty="0" err="1">
                <a:solidFill>
                  <a:srgbClr val="000000"/>
                </a:solidFill>
                <a:latin typeface="Calibri (MS)"/>
                <a:ea typeface="Calibri (MS)"/>
                <a:cs typeface="Calibri (MS)"/>
                <a:sym typeface="Calibri (MS)"/>
              </a:rPr>
              <a:t>mindmap</a:t>
            </a:r>
            <a:r>
              <a:rPr lang="en-US" sz="1350" dirty="0">
                <a:solidFill>
                  <a:srgbClr val="000000"/>
                </a:solidFill>
                <a:latin typeface="Calibri (MS)"/>
                <a:ea typeface="Calibri (MS)"/>
                <a:cs typeface="Calibri (MS)"/>
                <a:sym typeface="Calibri (MS)"/>
              </a:rPr>
              <a:t> / breakdown…, tool template. ( O+, EY, </a:t>
            </a:r>
            <a:r>
              <a:rPr lang="en-US" sz="1350" dirty="0" err="1">
                <a:solidFill>
                  <a:srgbClr val="000000"/>
                </a:solidFill>
                <a:latin typeface="Calibri (MS)"/>
                <a:ea typeface="Calibri (MS)"/>
                <a:cs typeface="Calibri (MS)"/>
                <a:sym typeface="Calibri (MS)"/>
              </a:rPr>
              <a:t>PowerBI</a:t>
            </a:r>
            <a:r>
              <a:rPr lang="en-US" sz="1350" dirty="0">
                <a:solidFill>
                  <a:srgbClr val="000000"/>
                </a:solidFill>
                <a:latin typeface="Calibri (MS)"/>
                <a:ea typeface="Calibri (MS)"/>
                <a:cs typeface="Calibri (MS)"/>
                <a:sym typeface="Calibri (MS)"/>
              </a:rPr>
              <a:t>, R-</a:t>
            </a:r>
            <a:r>
              <a:rPr lang="en-US" sz="1350" dirty="0" err="1">
                <a:solidFill>
                  <a:srgbClr val="000000"/>
                </a:solidFill>
                <a:latin typeface="Calibri (MS)"/>
                <a:ea typeface="Calibri (MS)"/>
                <a:cs typeface="Calibri (MS)"/>
                <a:sym typeface="Calibri (MS)"/>
              </a:rPr>
              <a:t>script,python</a:t>
            </a:r>
            <a:r>
              <a:rPr lang="en-US" sz="1350" dirty="0">
                <a:solidFill>
                  <a:srgbClr val="000000"/>
                </a:solidFill>
                <a:latin typeface="Calibri (MS)"/>
                <a:ea typeface="Calibri (MS)"/>
                <a:cs typeface="Calibri (MS)"/>
                <a:sym typeface="Calibri (MS)"/>
              </a:rPr>
              <a:t>, JMP); apply it in your life as well.</a:t>
            </a:r>
          </a:p>
          <a:p>
            <a:pPr algn="l">
              <a:lnSpc>
                <a:spcPts val="1620"/>
              </a:lnSpc>
            </a:pPr>
            <a:r>
              <a:rPr lang="en-US" sz="1350" dirty="0">
                <a:solidFill>
                  <a:srgbClr val="000000"/>
                </a:solidFill>
                <a:latin typeface="Calibri (MS)"/>
                <a:ea typeface="Calibri (MS)"/>
                <a:cs typeface="Calibri (MS)"/>
                <a:sym typeface="Calibri (MS)"/>
              </a:rPr>
              <a:t>113.Try to rehearsal every presentation you will make and try to reorganize the statements make sure they are easily understood and clear. Item71.</a:t>
            </a:r>
          </a:p>
          <a:p>
            <a:pPr algn="l">
              <a:lnSpc>
                <a:spcPts val="1620"/>
              </a:lnSpc>
            </a:pPr>
            <a:r>
              <a:rPr lang="en-US" sz="1350" dirty="0">
                <a:solidFill>
                  <a:srgbClr val="000000"/>
                </a:solidFill>
                <a:latin typeface="Calibri (MS)"/>
                <a:ea typeface="Calibri (MS)"/>
                <a:cs typeface="Calibri (MS)"/>
                <a:sym typeface="Calibri (MS)"/>
              </a:rPr>
              <a:t>114.Self-distancing, Digital Minimalism to focus on your priority. Item14. Leave away from negative people, news and things. ( who has fixed mindset)</a:t>
            </a:r>
          </a:p>
          <a:p>
            <a:pPr algn="l">
              <a:lnSpc>
                <a:spcPts val="1620"/>
              </a:lnSpc>
            </a:pPr>
            <a:r>
              <a:rPr lang="en-US" sz="1350" dirty="0">
                <a:solidFill>
                  <a:srgbClr val="000000"/>
                </a:solidFill>
                <a:latin typeface="Calibri (MS)"/>
                <a:ea typeface="Calibri (MS)"/>
                <a:cs typeface="Calibri (MS)"/>
                <a:sym typeface="Calibri (MS)"/>
              </a:rPr>
              <a:t>115.Wear headphones to isolation the noisy environment. It will avoid others disturb you. And people will know you are busy and don’t want to be disturbed. Distance yourself from noise source.</a:t>
            </a:r>
          </a:p>
          <a:p>
            <a:pPr algn="l">
              <a:lnSpc>
                <a:spcPts val="1620"/>
              </a:lnSpc>
            </a:pPr>
            <a:r>
              <a:rPr lang="en-US" sz="1350" dirty="0">
                <a:solidFill>
                  <a:srgbClr val="000000"/>
                </a:solidFill>
                <a:latin typeface="Calibri (MS)"/>
                <a:ea typeface="Calibri (MS)"/>
                <a:cs typeface="Calibri (MS)"/>
                <a:sym typeface="Calibri (MS)"/>
              </a:rPr>
              <a:t>116.Don’t tend to throw wet blankets everywhere or to anyone. Or do it with humor way. Be decent and gentle.</a:t>
            </a:r>
          </a:p>
          <a:p>
            <a:pPr algn="l">
              <a:lnSpc>
                <a:spcPts val="1620"/>
              </a:lnSpc>
            </a:pPr>
            <a:r>
              <a:rPr lang="en-US" sz="1350" dirty="0">
                <a:solidFill>
                  <a:srgbClr val="000000"/>
                </a:solidFill>
                <a:latin typeface="Calibri (MS)"/>
                <a:ea typeface="Calibri (MS)"/>
                <a:cs typeface="Calibri (MS)"/>
                <a:sym typeface="Calibri (MS)"/>
              </a:rPr>
              <a:t>117.Take a deep breath and count 1 to 10. Item46. Observe your breath. Watch out how the air flow.</a:t>
            </a:r>
          </a:p>
          <a:p>
            <a:pPr algn="l">
              <a:lnSpc>
                <a:spcPts val="1620"/>
              </a:lnSpc>
            </a:pPr>
            <a:r>
              <a:rPr lang="en-US" sz="1350" dirty="0">
                <a:solidFill>
                  <a:srgbClr val="000000"/>
                </a:solidFill>
                <a:latin typeface="Calibri (MS)"/>
                <a:ea typeface="Calibri (MS)"/>
                <a:cs typeface="Calibri (MS)"/>
                <a:sym typeface="Calibri (MS)"/>
              </a:rPr>
              <a:t>118.Put a “Soft reminder” in the email when you want to have comments.</a:t>
            </a:r>
          </a:p>
          <a:p>
            <a:pPr algn="l">
              <a:lnSpc>
                <a:spcPts val="1620"/>
              </a:lnSpc>
            </a:pPr>
            <a:r>
              <a:rPr lang="en-US" sz="1350" dirty="0">
                <a:solidFill>
                  <a:srgbClr val="000000"/>
                </a:solidFill>
                <a:latin typeface="Calibri (MS)"/>
                <a:ea typeface="Calibri (MS)"/>
                <a:cs typeface="Calibri (MS)"/>
                <a:sym typeface="Calibri (MS)"/>
              </a:rPr>
              <a:t>119. What is your biggest day for you company? KPI review (2&amp;6)  / year interest(1, 7) directly deposit into your account – AIP annual incentive program , ESPP(End of 2,8), RSU vested and new RSU(10), promote / salary increment (4), bonus (4,10) leader to talk/0050(1,7ex-dividend date), self-assessment workday yearly (Oct, not wait for Nov.), year-end feedback in workday (you can request anytime or when tasks finished).  process and request feedback from others and BL. To have a good summary and send it to your leader earlier (10 Oct.) before they finish ranking between team alignment. Promotion discussion in Dec.  // Start to nominate promotion list in Nov. ( Result? April)  Have a good relationship with customers. To think KPI content in June. Do real projects which can be highlighted. Because they are more valuable. How many leave and sick leave pay?  Next year roadmap.</a:t>
            </a:r>
          </a:p>
          <a:p>
            <a:pPr algn="l">
              <a:lnSpc>
                <a:spcPts val="1620"/>
              </a:lnSpc>
            </a:pPr>
            <a:r>
              <a:rPr lang="en-US" sz="1350" dirty="0">
                <a:solidFill>
                  <a:srgbClr val="000000"/>
                </a:solidFill>
                <a:latin typeface="Calibri (MS)"/>
                <a:ea typeface="Calibri (MS)"/>
                <a:cs typeface="Calibri (MS)"/>
                <a:sym typeface="Calibri (MS)"/>
              </a:rPr>
              <a:t>120. Avoid your colleagues' work shift to your back when you put some questions on the table. Protect yourself.</a:t>
            </a:r>
          </a:p>
          <a:p>
            <a:pPr algn="l">
              <a:lnSpc>
                <a:spcPts val="1620"/>
              </a:lnSpc>
            </a:pPr>
            <a:r>
              <a:rPr lang="en-US" sz="1350" dirty="0">
                <a:solidFill>
                  <a:srgbClr val="000000"/>
                </a:solidFill>
                <a:latin typeface="Calibri (MS)"/>
                <a:ea typeface="Calibri (MS)"/>
                <a:cs typeface="Calibri (MS)"/>
                <a:sym typeface="Calibri (MS)"/>
              </a:rPr>
              <a:t>121. Begin with the end in mind. Working backwards / reversing engineering.</a:t>
            </a:r>
          </a:p>
          <a:p>
            <a:pPr algn="l">
              <a:lnSpc>
                <a:spcPts val="1620"/>
              </a:lnSpc>
            </a:pPr>
            <a:r>
              <a:rPr lang="en-US" sz="1350" dirty="0">
                <a:solidFill>
                  <a:srgbClr val="000000"/>
                </a:solidFill>
                <a:latin typeface="Calibri (MS)"/>
                <a:ea typeface="Calibri (MS)"/>
                <a:cs typeface="Calibri (MS)"/>
                <a:sym typeface="Calibri (MS)"/>
              </a:rPr>
              <a:t>122.Put your ass heavy, you don’t need to reply everyone’s email / message rapidly, even they came to your desk. (How to say NO in 10 ways) Item 21. Try to leave a time slot ( safety of margin) and see if the situation were changed or not. What’s  impact if you do nothing. Even delete first.</a:t>
            </a:r>
          </a:p>
          <a:p>
            <a:pPr algn="l">
              <a:lnSpc>
                <a:spcPts val="1620"/>
              </a:lnSpc>
            </a:pPr>
            <a:r>
              <a:rPr lang="en-US" sz="1350" dirty="0">
                <a:solidFill>
                  <a:srgbClr val="000000"/>
                </a:solidFill>
                <a:latin typeface="Calibri (MS)"/>
                <a:ea typeface="Calibri (MS)"/>
                <a:cs typeface="Calibri (MS)"/>
                <a:sym typeface="Calibri (MS)"/>
              </a:rPr>
              <a:t>123.Ask for promotion with solid achievement. Speak loudly. Work out loud. Collect some evidence as record.  Good documentation and feedback from colleagues. </a:t>
            </a:r>
          </a:p>
          <a:p>
            <a:pPr algn="l">
              <a:lnSpc>
                <a:spcPts val="1620"/>
              </a:lnSpc>
            </a:pPr>
            <a:r>
              <a:rPr lang="en-US" sz="1350" dirty="0">
                <a:solidFill>
                  <a:srgbClr val="000000"/>
                </a:solidFill>
                <a:latin typeface="Calibri (MS)"/>
                <a:ea typeface="Calibri (MS)"/>
                <a:cs typeface="Calibri (MS)"/>
                <a:sym typeface="Calibri (MS)"/>
              </a:rPr>
              <a:t>124.Ask yourself what’s your expertise and long-term plan? What do you want to achieve on it and timeline? (ask a good question to you) To build up a capability or determination to solve /finish one thing like 100 marathons, 100,000 words of novel. （100 tasks list）</a:t>
            </a:r>
          </a:p>
          <a:p>
            <a:pPr>
              <a:lnSpc>
                <a:spcPts val="1620"/>
              </a:lnSpc>
            </a:pPr>
            <a:r>
              <a:rPr lang="en-US" sz="1350" dirty="0">
                <a:solidFill>
                  <a:srgbClr val="000000"/>
                </a:solidFill>
                <a:latin typeface="Calibri (MS)"/>
                <a:ea typeface="Calibri (MS)"/>
                <a:cs typeface="Calibri (MS)"/>
                <a:sym typeface="Calibri (MS)"/>
              </a:rPr>
              <a:t>125.Image when project / life running is not smooth? Black swan. Outliers will be presented in one day. Enter sandbox mode \ different mind mode to emulate. Stress test. How to react impolite speech?  </a:t>
            </a:r>
            <a:r>
              <a:rPr lang="en-US" sz="1350" dirty="0" err="1">
                <a:solidFill>
                  <a:srgbClr val="000000"/>
                </a:solidFill>
                <a:latin typeface="Calibri (MS)"/>
                <a:ea typeface="Calibri (MS)"/>
                <a:cs typeface="Calibri (MS)"/>
                <a:sym typeface="Calibri (MS)"/>
              </a:rPr>
              <a:t>情境思考。Mindset</a:t>
            </a:r>
            <a:r>
              <a:rPr lang="en-US" sz="1350" dirty="0">
                <a:solidFill>
                  <a:srgbClr val="000000"/>
                </a:solidFill>
                <a:latin typeface="Calibri (MS)"/>
                <a:ea typeface="Calibri (MS)"/>
                <a:cs typeface="Calibri (MS)"/>
                <a:sym typeface="Calibri (MS)"/>
              </a:rPr>
              <a:t> scenario </a:t>
            </a:r>
          </a:p>
          <a:p>
            <a:pPr algn="l">
              <a:lnSpc>
                <a:spcPts val="1620"/>
              </a:lnSpc>
            </a:pPr>
            <a:r>
              <a:rPr lang="en-US" sz="1350" dirty="0">
                <a:solidFill>
                  <a:srgbClr val="000000"/>
                </a:solidFill>
                <a:latin typeface="Calibri (MS)"/>
                <a:ea typeface="Calibri (MS)"/>
                <a:cs typeface="Calibri (MS)"/>
                <a:sym typeface="Calibri (MS)"/>
              </a:rPr>
              <a:t>126. Try to learn how your colleague work their project, is there any structure way that you can duplicate and learn? Item 42. It is free but you need to ask. Learn from others. Who can you learn from?</a:t>
            </a:r>
          </a:p>
          <a:p>
            <a:pPr algn="l">
              <a:lnSpc>
                <a:spcPts val="1620"/>
              </a:lnSpc>
            </a:pPr>
            <a:r>
              <a:rPr lang="en-US" sz="1350" dirty="0">
                <a:solidFill>
                  <a:srgbClr val="000000"/>
                </a:solidFill>
                <a:latin typeface="Calibri (MS)"/>
                <a:ea typeface="Calibri (MS)"/>
                <a:cs typeface="Calibri (MS)"/>
                <a:sym typeface="Calibri (MS)"/>
              </a:rPr>
              <a:t>127.Difficulties will pass away ,  just be patient and wait. We need some time and get some results which will help us to make the decision for next step . You cannot jump from A to C directly. Item 46,84, 75, 131.</a:t>
            </a:r>
          </a:p>
          <a:p>
            <a:pPr algn="l">
              <a:lnSpc>
                <a:spcPts val="1620"/>
              </a:lnSpc>
            </a:pPr>
            <a:r>
              <a:rPr lang="en-US" sz="1350" dirty="0">
                <a:solidFill>
                  <a:srgbClr val="000000"/>
                </a:solidFill>
                <a:latin typeface="Calibri (MS)"/>
                <a:ea typeface="Calibri (MS)"/>
                <a:cs typeface="Calibri (MS)"/>
                <a:sym typeface="Calibri (MS)"/>
              </a:rPr>
              <a:t>128.Before starting meeting, ask people how are you, how about holiday….Good icebreaking will help communication. Prepare some global news for instance.  EX: how is your family , kids, house, weather?</a:t>
            </a:r>
          </a:p>
          <a:p>
            <a:pPr algn="l">
              <a:lnSpc>
                <a:spcPts val="1620"/>
              </a:lnSpc>
            </a:pPr>
            <a:r>
              <a:rPr lang="en-US" sz="1350" dirty="0">
                <a:solidFill>
                  <a:srgbClr val="000000"/>
                </a:solidFill>
                <a:latin typeface="Calibri (MS)"/>
                <a:ea typeface="Calibri (MS)"/>
                <a:cs typeface="Calibri (MS)"/>
                <a:sym typeface="Calibri (MS)"/>
              </a:rPr>
              <a:t>129. Build up a capability with mobility and relationship. Item90</a:t>
            </a:r>
          </a:p>
          <a:p>
            <a:pPr algn="l">
              <a:lnSpc>
                <a:spcPts val="1620"/>
              </a:lnSpc>
            </a:pPr>
            <a:r>
              <a:rPr lang="en-US" sz="1350" dirty="0">
                <a:solidFill>
                  <a:srgbClr val="000000"/>
                </a:solidFill>
                <a:latin typeface="Calibri (MS)"/>
                <a:ea typeface="Calibri (MS)"/>
                <a:cs typeface="Calibri (MS)"/>
                <a:sym typeface="Calibri (MS)"/>
              </a:rPr>
              <a:t>130. To develop mental stability, mental resilience, mental balance, anti-fragile.</a:t>
            </a:r>
          </a:p>
          <a:p>
            <a:pPr algn="l">
              <a:lnSpc>
                <a:spcPts val="1620"/>
              </a:lnSpc>
            </a:pPr>
            <a:r>
              <a:rPr lang="en-US" sz="1350" dirty="0">
                <a:solidFill>
                  <a:srgbClr val="000000"/>
                </a:solidFill>
                <a:latin typeface="Calibri (MS)"/>
                <a:ea typeface="Calibri (MS)"/>
                <a:cs typeface="Calibri (MS)"/>
                <a:sym typeface="Calibri (MS)"/>
              </a:rPr>
              <a:t>131. Difficulties shall pass. Encourage yourself, item127,151. People tend to think the worse case which nearly won’t be happened.</a:t>
            </a:r>
          </a:p>
          <a:p>
            <a:pPr algn="l">
              <a:lnSpc>
                <a:spcPts val="1620"/>
              </a:lnSpc>
            </a:pPr>
            <a:r>
              <a:rPr lang="en-US" sz="1350" dirty="0">
                <a:solidFill>
                  <a:srgbClr val="000000"/>
                </a:solidFill>
                <a:latin typeface="Calibri (MS)"/>
                <a:ea typeface="Calibri (MS)"/>
                <a:cs typeface="Calibri (MS)"/>
                <a:sym typeface="Calibri (MS)"/>
              </a:rPr>
              <a:t>132.Write down key items which to be checked after holidays. And don’t forget PWD of laptop. Like your bank account ( good to have a list to maintain), the things to be followed up. ( minimum the complexity.) write down</a:t>
            </a:r>
          </a:p>
          <a:p>
            <a:pPr algn="l">
              <a:lnSpc>
                <a:spcPts val="1620"/>
              </a:lnSpc>
            </a:pPr>
            <a:r>
              <a:rPr lang="en-US" sz="1350" dirty="0">
                <a:solidFill>
                  <a:srgbClr val="000000"/>
                </a:solidFill>
                <a:latin typeface="Calibri (MS)"/>
                <a:ea typeface="Calibri (MS)"/>
                <a:cs typeface="Calibri (MS)"/>
                <a:sym typeface="Calibri (MS)"/>
              </a:rPr>
              <a:t>133. Do you clearly know what’s big priority at this moment this week, next month, even this year, next 5 year, next 10 year? ( how many weeks left in your life? ) Retire plan, bucket list? Item 124.</a:t>
            </a:r>
          </a:p>
          <a:p>
            <a:pPr algn="l">
              <a:lnSpc>
                <a:spcPts val="1620"/>
              </a:lnSpc>
            </a:pPr>
            <a:r>
              <a:rPr lang="en-US" sz="1350" dirty="0">
                <a:solidFill>
                  <a:srgbClr val="000000"/>
                </a:solidFill>
                <a:latin typeface="Calibri (MS)"/>
                <a:ea typeface="Calibri (MS)"/>
                <a:cs typeface="Calibri (MS)"/>
                <a:sym typeface="Calibri (MS)"/>
              </a:rPr>
              <a:t>134. Try to understand which term for each field and take a note. Be curious to learn something new. No matter global news, industrial news and market trend.</a:t>
            </a:r>
          </a:p>
          <a:p>
            <a:pPr algn="l">
              <a:lnSpc>
                <a:spcPts val="1620"/>
              </a:lnSpc>
            </a:pPr>
            <a:r>
              <a:rPr lang="en-US" sz="1350" dirty="0">
                <a:solidFill>
                  <a:srgbClr val="000000"/>
                </a:solidFill>
                <a:latin typeface="Calibri (MS)"/>
                <a:ea typeface="Calibri (MS)"/>
                <a:cs typeface="Calibri (MS)"/>
                <a:sym typeface="Calibri (MS)"/>
              </a:rPr>
              <a:t>135. You cannot copy other’s life, but you can imitate some of their good habits. Exercise, get up early, the way of talking, thinking. AI/ML, Black belt, PMP.</a:t>
            </a:r>
          </a:p>
          <a:p>
            <a:pPr algn="l">
              <a:lnSpc>
                <a:spcPts val="1620"/>
              </a:lnSpc>
            </a:pPr>
            <a:r>
              <a:rPr lang="en-US" sz="1350" dirty="0">
                <a:solidFill>
                  <a:srgbClr val="000000"/>
                </a:solidFill>
                <a:latin typeface="Calibri (MS)"/>
                <a:ea typeface="Calibri (MS)"/>
                <a:cs typeface="Calibri (MS)"/>
                <a:sym typeface="Calibri (MS)"/>
              </a:rPr>
              <a:t>136. What’s the worse situation / scenario / bottom line? Give you a stress test. It is temporary or permanent.  Item 50. Item 125. If fails, what is the loss and impact? What can we learn.</a:t>
            </a:r>
          </a:p>
          <a:p>
            <a:pPr algn="l">
              <a:lnSpc>
                <a:spcPts val="1620"/>
              </a:lnSpc>
            </a:pPr>
            <a:r>
              <a:rPr lang="en-US" sz="1350" dirty="0">
                <a:solidFill>
                  <a:srgbClr val="000000"/>
                </a:solidFill>
                <a:latin typeface="Calibri (MS)"/>
                <a:ea typeface="Calibri (MS)"/>
                <a:cs typeface="Calibri (MS)"/>
                <a:sym typeface="Calibri (MS)"/>
              </a:rPr>
              <a:t>137. Imagine what is the future skill / knowledge (hard/soft), be patient. Market trend.</a:t>
            </a:r>
          </a:p>
          <a:p>
            <a:pPr algn="l">
              <a:lnSpc>
                <a:spcPts val="1620"/>
              </a:lnSpc>
            </a:pPr>
            <a:r>
              <a:rPr lang="en-US" sz="1350" dirty="0">
                <a:solidFill>
                  <a:srgbClr val="000000"/>
                </a:solidFill>
                <a:latin typeface="Calibri (MS)"/>
                <a:ea typeface="Calibri (MS)"/>
                <a:cs typeface="Calibri (MS)"/>
                <a:sym typeface="Calibri (MS)"/>
              </a:rPr>
              <a:t>138.Try to co-work with people who you don’t like. Talk to them with soft and steady tone. Put yourself in their shoes. Sharpen your skill of collaboration. Item2. Focus on process / WoW and result. empathy (</a:t>
            </a:r>
            <a:r>
              <a:rPr lang="en-US" sz="1350" dirty="0" err="1">
                <a:solidFill>
                  <a:srgbClr val="000000"/>
                </a:solidFill>
                <a:latin typeface="Calibri (MS)"/>
                <a:ea typeface="Calibri (MS)"/>
                <a:cs typeface="Calibri (MS)"/>
                <a:sym typeface="Calibri (MS)"/>
              </a:rPr>
              <a:t>同理心</a:t>
            </a:r>
            <a:r>
              <a:rPr lang="en-US" sz="1350" dirty="0">
                <a:solidFill>
                  <a:srgbClr val="000000"/>
                </a:solidFill>
                <a:latin typeface="Calibri (MS)"/>
                <a:ea typeface="Calibri (MS)"/>
                <a:cs typeface="Calibri (MS)"/>
                <a:sym typeface="Calibri (MS)"/>
              </a:rPr>
              <a:t>), compassion 和  sympathy (</a:t>
            </a:r>
            <a:r>
              <a:rPr lang="en-US" sz="1350" dirty="0" err="1">
                <a:solidFill>
                  <a:srgbClr val="000000"/>
                </a:solidFill>
                <a:latin typeface="Calibri (MS)"/>
                <a:ea typeface="Calibri (MS)"/>
                <a:cs typeface="Calibri (MS)"/>
                <a:sym typeface="Calibri (MS)"/>
              </a:rPr>
              <a:t>同情心</a:t>
            </a:r>
            <a:r>
              <a:rPr lang="en-US" sz="1350" dirty="0">
                <a:solidFill>
                  <a:srgbClr val="000000"/>
                </a:solidFill>
                <a:latin typeface="Calibri (MS)"/>
                <a:ea typeface="Calibri (MS)"/>
                <a:cs typeface="Calibri (MS)"/>
                <a:sym typeface="Calibri (MS)"/>
              </a:rPr>
              <a:t>)  item153</a:t>
            </a:r>
          </a:p>
          <a:p>
            <a:pPr algn="l">
              <a:lnSpc>
                <a:spcPts val="1620"/>
              </a:lnSpc>
            </a:pPr>
            <a:r>
              <a:rPr lang="en-US" sz="1350" dirty="0">
                <a:solidFill>
                  <a:srgbClr val="000000"/>
                </a:solidFill>
                <a:latin typeface="Calibri (MS)"/>
                <a:ea typeface="Calibri (MS)"/>
                <a:cs typeface="Calibri (MS)"/>
                <a:sym typeface="Calibri (MS)"/>
              </a:rPr>
              <a:t>139. To promote yourself  (capability-hard/soft skill), speak loudly and show your contribution. KPI. OKR. ( key performance index, object key result) OGSM strategy measurement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4338" y="29708"/>
            <a:ext cx="15911846" cy="10259219"/>
          </a:xfrm>
          <a:prstGeom prst="rect">
            <a:avLst/>
          </a:prstGeom>
        </p:spPr>
        <p:txBody>
          <a:bodyPr lIns="0" tIns="0" rIns="0" bIns="0" rtlCol="0" anchor="t">
            <a:spAutoFit/>
          </a:bodyPr>
          <a:lstStyle/>
          <a:p>
            <a:pPr algn="l">
              <a:lnSpc>
                <a:spcPts val="1620"/>
              </a:lnSpc>
            </a:pPr>
            <a:r>
              <a:rPr lang="en-US" sz="1350" dirty="0">
                <a:solidFill>
                  <a:srgbClr val="000000"/>
                </a:solidFill>
                <a:latin typeface="Calibri (MS)"/>
                <a:ea typeface="Calibri (MS)"/>
                <a:cs typeface="Calibri (MS)"/>
                <a:sym typeface="Calibri (MS)"/>
              </a:rPr>
              <a:t>140. Can you gain new things from this assignment? Always to re-invent yourself and add more identities to fit market in the future. (Yuval Noah Harari) new knowledge, changes, thoughts? Writer, runner, new identity?</a:t>
            </a:r>
          </a:p>
          <a:p>
            <a:pPr algn="l">
              <a:lnSpc>
                <a:spcPts val="1620"/>
              </a:lnSpc>
            </a:pPr>
            <a:r>
              <a:rPr lang="en-US" sz="1350" dirty="0">
                <a:solidFill>
                  <a:srgbClr val="000000"/>
                </a:solidFill>
                <a:latin typeface="Calibri (MS)"/>
                <a:ea typeface="Calibri (MS)"/>
                <a:cs typeface="Calibri (MS)"/>
                <a:sym typeface="Calibri (MS)"/>
              </a:rPr>
              <a:t>141. “Father, give us courage to change what must be altered, serenity to accept what cannot be helped, and the insight to know the one from the other.”</a:t>
            </a:r>
          </a:p>
          <a:p>
            <a:pPr algn="l">
              <a:lnSpc>
                <a:spcPts val="1620"/>
              </a:lnSpc>
            </a:pPr>
            <a:r>
              <a:rPr lang="en-US" sz="1350" dirty="0">
                <a:solidFill>
                  <a:srgbClr val="000000"/>
                </a:solidFill>
                <a:latin typeface="Calibri (MS)"/>
                <a:ea typeface="Calibri (MS)"/>
                <a:cs typeface="Calibri (MS)"/>
                <a:sym typeface="Calibri (MS)"/>
              </a:rPr>
              <a:t>「</a:t>
            </a:r>
            <a:r>
              <a:rPr lang="en-US" sz="1350" dirty="0" err="1">
                <a:solidFill>
                  <a:srgbClr val="000000"/>
                </a:solidFill>
                <a:latin typeface="Calibri (MS)"/>
                <a:ea typeface="Calibri (MS)"/>
                <a:cs typeface="Calibri (MS)"/>
                <a:sym typeface="Calibri (MS)"/>
              </a:rPr>
              <a:t>主啊，賜給我勇氣去改變應該改變的事，請賜給我寧靜去接受不可改變的事，並賜給我智慧去分辨兩者的區別</a:t>
            </a:r>
            <a:r>
              <a:rPr lang="en-US" sz="1350" dirty="0">
                <a:solidFill>
                  <a:srgbClr val="000000"/>
                </a:solidFill>
                <a:latin typeface="Calibri (MS)"/>
                <a:ea typeface="Calibri (MS)"/>
                <a:cs typeface="Calibri (MS)"/>
                <a:sym typeface="Calibri (MS)"/>
              </a:rPr>
              <a:t>。」Item 10. stoicism  </a:t>
            </a:r>
          </a:p>
          <a:p>
            <a:pPr algn="l">
              <a:lnSpc>
                <a:spcPts val="1620"/>
              </a:lnSpc>
            </a:pPr>
            <a:r>
              <a:rPr lang="en-US" sz="1350" dirty="0">
                <a:solidFill>
                  <a:srgbClr val="000000"/>
                </a:solidFill>
                <a:latin typeface="Calibri (MS)"/>
                <a:ea typeface="Calibri (MS)"/>
                <a:cs typeface="Calibri (MS)"/>
                <a:sym typeface="Calibri (MS)"/>
              </a:rPr>
              <a:t>142. Always do reverse thinking. If you don’t do it, what will happen? Item 122. Rethink any anti-facts? Any cost impact or effort? Do less but effectively. Save your bandwidth on the most important things. Worse case</a:t>
            </a:r>
          </a:p>
          <a:p>
            <a:pPr algn="l">
              <a:lnSpc>
                <a:spcPts val="1620"/>
              </a:lnSpc>
            </a:pPr>
            <a:r>
              <a:rPr lang="en-US" sz="1350" dirty="0">
                <a:solidFill>
                  <a:srgbClr val="000000"/>
                </a:solidFill>
                <a:latin typeface="Calibri (MS)"/>
                <a:ea typeface="Calibri (MS)"/>
                <a:cs typeface="Calibri (MS)"/>
                <a:sym typeface="Calibri (MS)"/>
              </a:rPr>
              <a:t>143. Try to get some training lesson if your company offer as free. Even you need to be a seed to teach later. It will promote your visibility with solid result.  Workday, train yourself you are not familiar with.</a:t>
            </a:r>
          </a:p>
          <a:p>
            <a:pPr algn="l">
              <a:lnSpc>
                <a:spcPts val="1620"/>
              </a:lnSpc>
            </a:pPr>
            <a:r>
              <a:rPr lang="en-US" sz="1350" dirty="0">
                <a:solidFill>
                  <a:srgbClr val="000000"/>
                </a:solidFill>
                <a:latin typeface="Calibri (MS)"/>
                <a:ea typeface="Calibri (MS)"/>
                <a:cs typeface="Calibri (MS)"/>
                <a:sym typeface="Calibri (MS)"/>
              </a:rPr>
              <a:t>144. Don’t try to be smarter than your boss. Be as a stupid. Keep silence, low profile. Don’t speak out when you reach it.</a:t>
            </a:r>
          </a:p>
          <a:p>
            <a:pPr algn="l">
              <a:lnSpc>
                <a:spcPts val="1620"/>
              </a:lnSpc>
            </a:pPr>
            <a:r>
              <a:rPr lang="en-US" sz="1350" dirty="0">
                <a:solidFill>
                  <a:srgbClr val="000000"/>
                </a:solidFill>
                <a:latin typeface="Calibri (MS)"/>
                <a:ea typeface="Calibri (MS)"/>
                <a:cs typeface="Calibri (MS)"/>
                <a:sym typeface="Calibri (MS)"/>
              </a:rPr>
              <a:t>145. Try to introduce yourself with 3, 10 minutes, 30 mins… either in work or in private field or in round-table talk. ( working experience, working year which field, private filed, marathon, novel-writer about historical and political fiction.., current project-what kind of products, usage, application, how to test, any issues…)</a:t>
            </a:r>
          </a:p>
          <a:p>
            <a:pPr algn="l">
              <a:lnSpc>
                <a:spcPts val="1620"/>
              </a:lnSpc>
            </a:pPr>
            <a:r>
              <a:rPr lang="en-US" sz="1350" dirty="0">
                <a:solidFill>
                  <a:srgbClr val="000000"/>
                </a:solidFill>
                <a:latin typeface="Calibri (MS)"/>
                <a:ea typeface="Calibri (MS)"/>
                <a:cs typeface="Calibri (MS)"/>
                <a:sym typeface="Calibri (MS)"/>
              </a:rPr>
              <a:t>146. Learn to do a long-term project. Item 124. As managing your retire plan. ( investing, learning…etc.) Be patient. </a:t>
            </a:r>
          </a:p>
          <a:p>
            <a:pPr algn="l">
              <a:lnSpc>
                <a:spcPts val="1620"/>
              </a:lnSpc>
            </a:pPr>
            <a:r>
              <a:rPr lang="en-US" sz="1350" dirty="0">
                <a:solidFill>
                  <a:srgbClr val="000000"/>
                </a:solidFill>
                <a:latin typeface="Calibri (MS)"/>
                <a:ea typeface="Calibri (MS)"/>
                <a:cs typeface="Calibri (MS)"/>
                <a:sym typeface="Calibri (MS)"/>
              </a:rPr>
              <a:t>147. Root cause vs proximate cause, root cause analysis skill. Problem solving skill. ( BGC thinking) (</a:t>
            </a:r>
            <a:r>
              <a:rPr lang="en-US" sz="1350" dirty="0" err="1">
                <a:solidFill>
                  <a:srgbClr val="000000"/>
                </a:solidFill>
                <a:latin typeface="Calibri (MS)"/>
                <a:ea typeface="Calibri (MS)"/>
                <a:cs typeface="Calibri (MS)"/>
                <a:sym typeface="Calibri (MS)"/>
              </a:rPr>
              <a:t>六頂思考帽</a:t>
            </a:r>
            <a:r>
              <a:rPr lang="en-US" sz="1350" dirty="0">
                <a:solidFill>
                  <a:srgbClr val="000000"/>
                </a:solidFill>
                <a:latin typeface="Calibri (MS)"/>
                <a:ea typeface="Calibri (MS)"/>
                <a:cs typeface="Calibri (MS)"/>
                <a:sym typeface="Calibri (MS)"/>
              </a:rPr>
              <a:t>) ; green, red, white, blue, black, yellow.</a:t>
            </a:r>
          </a:p>
          <a:p>
            <a:pPr algn="l">
              <a:lnSpc>
                <a:spcPts val="1620"/>
              </a:lnSpc>
            </a:pPr>
            <a:r>
              <a:rPr lang="en-US" sz="1350" dirty="0">
                <a:solidFill>
                  <a:srgbClr val="000000"/>
                </a:solidFill>
                <a:latin typeface="Calibri (MS)"/>
                <a:ea typeface="Calibri (MS)"/>
                <a:cs typeface="Calibri (MS)"/>
                <a:sym typeface="Calibri (MS)"/>
              </a:rPr>
              <a:t>148. Although busy, there is a cycle, like market. You won’t fail always. Any fail, as log as you still can stand up, it is good for future. Failure happens. Kill your ego.</a:t>
            </a:r>
          </a:p>
          <a:p>
            <a:pPr algn="l">
              <a:lnSpc>
                <a:spcPts val="1620"/>
              </a:lnSpc>
            </a:pPr>
            <a:r>
              <a:rPr lang="en-US" sz="1350" dirty="0">
                <a:solidFill>
                  <a:srgbClr val="000000"/>
                </a:solidFill>
                <a:latin typeface="Calibri (MS)"/>
                <a:ea typeface="Calibri (MS)"/>
                <a:cs typeface="Calibri (MS)"/>
                <a:sym typeface="Calibri (MS)"/>
              </a:rPr>
              <a:t>149. Can you / how can you restart when fail? How long can you survive, ex, had been fired or lost in the mountain. Just a temporary. Find another job in a different area? What new hard or soft skill do you need to learn for future?</a:t>
            </a:r>
          </a:p>
          <a:p>
            <a:pPr algn="l">
              <a:lnSpc>
                <a:spcPts val="1620"/>
              </a:lnSpc>
            </a:pPr>
            <a:r>
              <a:rPr lang="en-US" sz="1350" dirty="0">
                <a:solidFill>
                  <a:srgbClr val="000000"/>
                </a:solidFill>
                <a:latin typeface="Calibri (MS)"/>
                <a:ea typeface="Calibri (MS)"/>
                <a:cs typeface="Calibri (MS)"/>
                <a:sym typeface="Calibri (MS)"/>
              </a:rPr>
              <a:t>150. Make sure your energy is full? Sleep enough, over 6 hours at least, eat nutritious, build your mind stronger enough. At least, take a nap after lunch. it is important to commit and aware that you are tired. Eat nutritious food. </a:t>
            </a:r>
          </a:p>
          <a:p>
            <a:pPr algn="l">
              <a:lnSpc>
                <a:spcPts val="1620"/>
              </a:lnSpc>
            </a:pPr>
            <a:r>
              <a:rPr lang="en-US" sz="1350" dirty="0">
                <a:solidFill>
                  <a:srgbClr val="000000"/>
                </a:solidFill>
                <a:latin typeface="Calibri (MS)"/>
                <a:ea typeface="Calibri (MS)"/>
                <a:cs typeface="Calibri (MS)"/>
                <a:sym typeface="Calibri (MS)"/>
              </a:rPr>
              <a:t>151.Learn to encourage yourself, treat yourself well. Item 75. know how your body and mind works.</a:t>
            </a:r>
          </a:p>
          <a:p>
            <a:pPr algn="l">
              <a:lnSpc>
                <a:spcPts val="1620"/>
              </a:lnSpc>
            </a:pPr>
            <a:r>
              <a:rPr lang="en-US" sz="1350" dirty="0">
                <a:solidFill>
                  <a:srgbClr val="000000"/>
                </a:solidFill>
                <a:latin typeface="Calibri (MS)"/>
                <a:ea typeface="Calibri (MS)"/>
                <a:cs typeface="Calibri (MS)"/>
                <a:sym typeface="Calibri (MS)"/>
              </a:rPr>
              <a:t>152. Make your habit and behavior consistent between life and work. Calendar alignment.</a:t>
            </a:r>
          </a:p>
          <a:p>
            <a:pPr algn="l">
              <a:lnSpc>
                <a:spcPts val="1620"/>
              </a:lnSpc>
            </a:pPr>
            <a:r>
              <a:rPr lang="en-US" sz="1350" dirty="0">
                <a:solidFill>
                  <a:srgbClr val="000000"/>
                </a:solidFill>
                <a:latin typeface="Calibri (MS)"/>
                <a:ea typeface="Calibri (MS)"/>
                <a:cs typeface="Calibri (MS)"/>
                <a:sym typeface="Calibri (MS)"/>
              </a:rPr>
              <a:t>153. “Most Respectful Interpretation” (MRI) is a delightful solution. MRI says we assume the best of others. MRI suggests that you consider only the best, the kindest, the most helpful interpretation of every communication and respond solely to that version. Or asking more questions to understand what people want. ( curiously and politely)</a:t>
            </a:r>
          </a:p>
          <a:p>
            <a:pPr algn="l">
              <a:lnSpc>
                <a:spcPts val="1620"/>
              </a:lnSpc>
            </a:pPr>
            <a:r>
              <a:rPr lang="en-US" sz="1350" dirty="0">
                <a:solidFill>
                  <a:srgbClr val="000000"/>
                </a:solidFill>
                <a:latin typeface="Calibri (MS)"/>
                <a:ea typeface="Calibri (MS)"/>
                <a:cs typeface="Calibri (MS)"/>
                <a:sym typeface="Calibri (MS)"/>
              </a:rPr>
              <a:t>154. Prepare lists of songs, movies and passages  or books for your tough times. Item 46.</a:t>
            </a:r>
          </a:p>
          <a:p>
            <a:pPr algn="l">
              <a:lnSpc>
                <a:spcPts val="1620"/>
              </a:lnSpc>
            </a:pPr>
            <a:r>
              <a:rPr lang="en-US" sz="1350" dirty="0">
                <a:solidFill>
                  <a:srgbClr val="000000"/>
                </a:solidFill>
                <a:latin typeface="Calibri (MS)"/>
                <a:ea typeface="Calibri (MS)"/>
                <a:cs typeface="Calibri (MS)"/>
                <a:sym typeface="Calibri (MS)"/>
              </a:rPr>
              <a:t>155. Done is better than perfect. For some, maybe not start is a better idea.</a:t>
            </a:r>
          </a:p>
          <a:p>
            <a:pPr algn="l">
              <a:lnSpc>
                <a:spcPts val="1620"/>
              </a:lnSpc>
            </a:pPr>
            <a:r>
              <a:rPr lang="en-US" sz="1350" dirty="0">
                <a:solidFill>
                  <a:srgbClr val="000000"/>
                </a:solidFill>
                <a:latin typeface="Calibri (MS)"/>
                <a:ea typeface="Calibri (MS)"/>
                <a:cs typeface="Calibri (MS)"/>
                <a:sym typeface="Calibri (MS)"/>
              </a:rPr>
              <a:t>156. Dress, speak and behave decently. Item 104. Every year, do some changes. Try something differently. EX, reading books with different topic / field (literature, psychology, market business), run different speeds, different area, talk to the peoples you don’t know or not familiar with…etc.</a:t>
            </a:r>
          </a:p>
          <a:p>
            <a:pPr algn="l">
              <a:lnSpc>
                <a:spcPts val="1620"/>
              </a:lnSpc>
            </a:pPr>
            <a:r>
              <a:rPr lang="en-US" sz="1350" dirty="0">
                <a:solidFill>
                  <a:srgbClr val="000000"/>
                </a:solidFill>
                <a:latin typeface="Calibri (MS)"/>
                <a:ea typeface="Calibri (MS)"/>
                <a:cs typeface="Calibri (MS)"/>
                <a:sym typeface="Calibri (MS)"/>
              </a:rPr>
              <a:t>157. Your weak teammate will help you learn more and be an expert. Save time, let them learn themselves.</a:t>
            </a:r>
          </a:p>
          <a:p>
            <a:pPr algn="l">
              <a:lnSpc>
                <a:spcPts val="1620"/>
              </a:lnSpc>
            </a:pPr>
            <a:r>
              <a:rPr lang="en-US" sz="1350" dirty="0">
                <a:solidFill>
                  <a:srgbClr val="000000"/>
                </a:solidFill>
                <a:latin typeface="Calibri (MS)"/>
                <a:ea typeface="Calibri (MS)"/>
                <a:cs typeface="Calibri (MS)"/>
                <a:sym typeface="Calibri (MS)"/>
              </a:rPr>
              <a:t>158. Buy you collogues a drink or coffee. To show you do care them. Say thank you.</a:t>
            </a:r>
          </a:p>
          <a:p>
            <a:pPr algn="l">
              <a:lnSpc>
                <a:spcPts val="1620"/>
              </a:lnSpc>
            </a:pPr>
            <a:r>
              <a:rPr lang="en-US" sz="1350" dirty="0">
                <a:solidFill>
                  <a:srgbClr val="000000"/>
                </a:solidFill>
                <a:latin typeface="Calibri (MS)"/>
                <a:ea typeface="Calibri (MS)"/>
                <a:cs typeface="Calibri (MS)"/>
                <a:sym typeface="Calibri (MS)"/>
              </a:rPr>
              <a:t>159. No coffee after 11:00 AM, 3 cups top per day. 1000cc. Per day </a:t>
            </a:r>
          </a:p>
          <a:p>
            <a:pPr algn="l">
              <a:lnSpc>
                <a:spcPts val="1620"/>
              </a:lnSpc>
            </a:pPr>
            <a:r>
              <a:rPr lang="en-US" sz="1350" dirty="0">
                <a:solidFill>
                  <a:srgbClr val="000000"/>
                </a:solidFill>
                <a:latin typeface="Calibri (MS)"/>
                <a:ea typeface="Calibri (MS)"/>
                <a:cs typeface="Calibri (MS)"/>
                <a:sym typeface="Calibri (MS)"/>
              </a:rPr>
              <a:t>160.Is there any better choices for this situation? Ask yourself. Write down, check your principles and rules, notes… anti-fact thinking</a:t>
            </a:r>
          </a:p>
          <a:p>
            <a:pPr algn="l">
              <a:lnSpc>
                <a:spcPts val="1620"/>
              </a:lnSpc>
            </a:pPr>
            <a:r>
              <a:rPr lang="en-US" sz="1350" dirty="0">
                <a:solidFill>
                  <a:srgbClr val="000000"/>
                </a:solidFill>
                <a:latin typeface="Calibri (MS)"/>
                <a:ea typeface="Calibri (MS)"/>
                <a:cs typeface="Calibri (MS)"/>
                <a:sym typeface="Calibri (MS)"/>
              </a:rPr>
              <a:t>161. Check what kind of skills or tools or knowledges needed in coming Years. Item12. List down potential tasks for next year.  EY, </a:t>
            </a:r>
            <a:r>
              <a:rPr lang="en-US" sz="1350" dirty="0" err="1">
                <a:solidFill>
                  <a:srgbClr val="000000"/>
                </a:solidFill>
                <a:latin typeface="Calibri (MS)"/>
                <a:ea typeface="Calibri (MS)"/>
                <a:cs typeface="Calibri (MS)"/>
                <a:sym typeface="Calibri (MS)"/>
              </a:rPr>
              <a:t>powerbi</a:t>
            </a:r>
            <a:r>
              <a:rPr lang="en-US" sz="1350" dirty="0">
                <a:solidFill>
                  <a:srgbClr val="000000"/>
                </a:solidFill>
                <a:latin typeface="Calibri (MS)"/>
                <a:ea typeface="Calibri (MS)"/>
                <a:cs typeface="Calibri (MS)"/>
                <a:sym typeface="Calibri (MS)"/>
              </a:rPr>
              <a:t>, O+, R, python, BB.</a:t>
            </a:r>
          </a:p>
          <a:p>
            <a:pPr algn="l">
              <a:lnSpc>
                <a:spcPts val="1620"/>
              </a:lnSpc>
            </a:pPr>
            <a:r>
              <a:rPr lang="en-US" sz="1350" dirty="0">
                <a:solidFill>
                  <a:srgbClr val="000000"/>
                </a:solidFill>
                <a:latin typeface="Calibri (MS)"/>
                <a:ea typeface="Calibri (MS)"/>
                <a:cs typeface="Calibri (MS)"/>
                <a:sym typeface="Calibri (MS)"/>
              </a:rPr>
              <a:t>162.Do not talk privacy or complain in social media, ex fb. Away from people who tells about rumors. And office politics. </a:t>
            </a:r>
          </a:p>
          <a:p>
            <a:pPr algn="l">
              <a:lnSpc>
                <a:spcPts val="1620"/>
              </a:lnSpc>
            </a:pPr>
            <a:r>
              <a:rPr lang="en-US" sz="1350" dirty="0">
                <a:solidFill>
                  <a:srgbClr val="000000"/>
                </a:solidFill>
                <a:latin typeface="Calibri (MS)"/>
                <a:ea typeface="Calibri (MS)"/>
                <a:cs typeface="Calibri (MS)"/>
                <a:sym typeface="Calibri (MS)"/>
              </a:rPr>
              <a:t>163. First time right, zero defect and be perfect, they should not be a statement to block us move on. It is always hard to get started.</a:t>
            </a:r>
          </a:p>
          <a:p>
            <a:pPr algn="l">
              <a:lnSpc>
                <a:spcPts val="1620"/>
              </a:lnSpc>
            </a:pPr>
            <a:r>
              <a:rPr lang="en-US" sz="1350" dirty="0">
                <a:solidFill>
                  <a:srgbClr val="000000"/>
                </a:solidFill>
                <a:latin typeface="Calibri (MS)"/>
                <a:ea typeface="Calibri (MS)"/>
                <a:cs typeface="Calibri (MS)"/>
                <a:sym typeface="Calibri (MS)"/>
              </a:rPr>
              <a:t>164. When you open your mouth and don't think about your words, if you don't know how to take your words in the first place, don't be clueless. (</a:t>
            </a:r>
            <a:r>
              <a:rPr lang="en-US" sz="1350" dirty="0" err="1">
                <a:solidFill>
                  <a:srgbClr val="000000"/>
                </a:solidFill>
                <a:latin typeface="Calibri (MS)"/>
                <a:ea typeface="Calibri (MS)"/>
                <a:cs typeface="Calibri (MS)"/>
                <a:sym typeface="Calibri (MS)"/>
              </a:rPr>
              <a:t>白目</a:t>
            </a:r>
            <a:r>
              <a:rPr lang="en-US" sz="1350" dirty="0">
                <a:solidFill>
                  <a:srgbClr val="000000"/>
                </a:solidFill>
                <a:latin typeface="Calibri (MS)"/>
                <a:ea typeface="Calibri (MS)"/>
                <a:cs typeface="Calibri (MS)"/>
                <a:sym typeface="Calibri (MS)"/>
              </a:rPr>
              <a:t>), be careful what you talk to.</a:t>
            </a:r>
          </a:p>
          <a:p>
            <a:pPr algn="l">
              <a:lnSpc>
                <a:spcPts val="1620"/>
              </a:lnSpc>
            </a:pPr>
            <a:r>
              <a:rPr lang="en-US" sz="1350" dirty="0">
                <a:solidFill>
                  <a:srgbClr val="000000"/>
                </a:solidFill>
                <a:latin typeface="Calibri (MS)"/>
                <a:ea typeface="Calibri (MS)"/>
                <a:cs typeface="Calibri (MS)"/>
                <a:sym typeface="Calibri (MS)"/>
              </a:rPr>
              <a:t>165. Principles and order in life make you successful. Stay the course.</a:t>
            </a:r>
          </a:p>
          <a:p>
            <a:pPr algn="l">
              <a:lnSpc>
                <a:spcPts val="1620"/>
              </a:lnSpc>
            </a:pPr>
            <a:r>
              <a:rPr lang="en-US" sz="1350" dirty="0">
                <a:solidFill>
                  <a:srgbClr val="000000"/>
                </a:solidFill>
                <a:latin typeface="Calibri (MS)"/>
                <a:ea typeface="Calibri (MS)"/>
                <a:cs typeface="Calibri (MS)"/>
                <a:sym typeface="Calibri (MS)"/>
              </a:rPr>
              <a:t>166. Get into office earlier. This may impress others and may help develop a good working habit and attitude. Normally, top managers in office early.</a:t>
            </a:r>
          </a:p>
          <a:p>
            <a:pPr algn="l">
              <a:lnSpc>
                <a:spcPts val="1620"/>
              </a:lnSpc>
            </a:pPr>
            <a:r>
              <a:rPr lang="en-US" sz="1350" dirty="0">
                <a:solidFill>
                  <a:srgbClr val="000000"/>
                </a:solidFill>
                <a:latin typeface="Calibri (MS)"/>
                <a:ea typeface="Calibri (MS)"/>
                <a:cs typeface="Calibri (MS)"/>
                <a:sym typeface="Calibri (MS)"/>
              </a:rPr>
              <a:t>167. Practice some old (hard or soft) skills and knowledge. And try to teach others. Be a master. Expert mindset.</a:t>
            </a:r>
          </a:p>
          <a:p>
            <a:pPr algn="l">
              <a:lnSpc>
                <a:spcPts val="1620"/>
              </a:lnSpc>
            </a:pPr>
            <a:r>
              <a:rPr lang="en-US" sz="1350" dirty="0">
                <a:solidFill>
                  <a:srgbClr val="000000"/>
                </a:solidFill>
                <a:latin typeface="Calibri (MS)"/>
                <a:ea typeface="Calibri (MS)"/>
                <a:cs typeface="Calibri (MS)"/>
                <a:sym typeface="Calibri (MS)"/>
              </a:rPr>
              <a:t>168. Don’t be shy to ask feedback to whom work with you in the past. Even he/she is your boss. You deserved it.</a:t>
            </a:r>
          </a:p>
          <a:p>
            <a:pPr algn="l">
              <a:lnSpc>
                <a:spcPts val="1620"/>
              </a:lnSpc>
            </a:pPr>
            <a:r>
              <a:rPr lang="en-US" sz="1350" dirty="0">
                <a:solidFill>
                  <a:srgbClr val="000000"/>
                </a:solidFill>
                <a:latin typeface="Calibri (MS)"/>
                <a:ea typeface="Calibri (MS)"/>
                <a:cs typeface="Calibri (MS)"/>
                <a:sym typeface="Calibri (MS)"/>
              </a:rPr>
              <a:t>169. Once you get bored at work, find interesting points and meanings. Either from your life or from the project. Recall what you had finished and achieved. You may write down what you feel / during the time so you can recall. And think how to make it better or quicker or much automation or think potential risk.</a:t>
            </a:r>
          </a:p>
          <a:p>
            <a:pPr algn="l">
              <a:lnSpc>
                <a:spcPts val="1620"/>
              </a:lnSpc>
            </a:pPr>
            <a:r>
              <a:rPr lang="en-US" sz="1350" dirty="0">
                <a:solidFill>
                  <a:srgbClr val="000000"/>
                </a:solidFill>
                <a:latin typeface="Calibri (MS)"/>
                <a:ea typeface="Calibri (MS)"/>
                <a:cs typeface="Calibri (MS)"/>
                <a:sym typeface="Calibri (MS)"/>
              </a:rPr>
              <a:t>170. Don't see trifles as evil. Sometimes this is unavoidable. You can try to automate it. Use task-oriented mindset. 10 times fast, make it quick.</a:t>
            </a:r>
          </a:p>
          <a:p>
            <a:pPr algn="l">
              <a:lnSpc>
                <a:spcPts val="1620"/>
              </a:lnSpc>
            </a:pPr>
            <a:r>
              <a:rPr lang="en-US" sz="1350" dirty="0">
                <a:solidFill>
                  <a:srgbClr val="000000"/>
                </a:solidFill>
                <a:latin typeface="Calibri (MS)"/>
                <a:ea typeface="Calibri (MS)"/>
                <a:cs typeface="Calibri (MS)"/>
                <a:sym typeface="Calibri (MS)"/>
              </a:rPr>
              <a:t>171. Train your body physically or mentally or spiritually. You may live much longer than you think. Retire plan, train 2nd skill.</a:t>
            </a:r>
          </a:p>
          <a:p>
            <a:pPr algn="l">
              <a:lnSpc>
                <a:spcPts val="1620"/>
              </a:lnSpc>
            </a:pPr>
            <a:r>
              <a:rPr lang="en-US" sz="1350" dirty="0">
                <a:solidFill>
                  <a:srgbClr val="000000"/>
                </a:solidFill>
                <a:latin typeface="Calibri (MS)"/>
                <a:ea typeface="Calibri (MS)"/>
                <a:cs typeface="Calibri (MS)"/>
                <a:sym typeface="Calibri (MS)"/>
              </a:rPr>
              <a:t>173.Keep silence and mouth shut when hearing some rumors. Speak out when you want others know your expertise. Don’t criticize and be humble. (Item 162,190) ; </a:t>
            </a:r>
            <a:r>
              <a:rPr lang="nl-NL" sz="1350" dirty="0">
                <a:solidFill>
                  <a:srgbClr val="000000"/>
                </a:solidFill>
                <a:latin typeface="Calibri (MS)"/>
                <a:ea typeface="Calibri (MS)"/>
                <a:cs typeface="Calibri (MS)"/>
                <a:sym typeface="Calibri (MS)"/>
              </a:rPr>
              <a:t>藏鋒</a:t>
            </a:r>
            <a:endParaRPr lang="en-US" sz="1350" dirty="0">
              <a:solidFill>
                <a:srgbClr val="000000"/>
              </a:solidFill>
              <a:latin typeface="Calibri (MS)"/>
              <a:ea typeface="Calibri (MS)"/>
              <a:cs typeface="Calibri (MS)"/>
              <a:sym typeface="Calibri (MS)"/>
            </a:endParaRPr>
          </a:p>
          <a:p>
            <a:pPr algn="l">
              <a:lnSpc>
                <a:spcPts val="1620"/>
              </a:lnSpc>
            </a:pPr>
            <a:r>
              <a:rPr lang="en-US" sz="1350" dirty="0">
                <a:solidFill>
                  <a:srgbClr val="000000"/>
                </a:solidFill>
                <a:latin typeface="Calibri (MS)"/>
                <a:ea typeface="Calibri (MS)"/>
                <a:cs typeface="Calibri (MS)"/>
                <a:sym typeface="Calibri (MS)"/>
              </a:rPr>
              <a:t>174. Take a deep breath when you feel pressure, </a:t>
            </a:r>
            <a:r>
              <a:rPr lang="en-US" sz="1350" dirty="0" err="1">
                <a:solidFill>
                  <a:srgbClr val="000000"/>
                </a:solidFill>
                <a:latin typeface="Calibri (MS)"/>
                <a:ea typeface="Calibri (MS)"/>
                <a:cs typeface="Calibri (MS)"/>
                <a:sym typeface="Calibri (MS)"/>
              </a:rPr>
              <a:t>ak-chak</a:t>
            </a:r>
            <a:r>
              <a:rPr lang="en-US" sz="1350" dirty="0">
                <a:solidFill>
                  <a:srgbClr val="000000"/>
                </a:solidFill>
                <a:latin typeface="Calibri (MS)"/>
                <a:ea typeface="Calibri (MS)"/>
                <a:cs typeface="Calibri (MS)"/>
                <a:sym typeface="Calibri (MS)"/>
              </a:rPr>
              <a:t>. Take a walk. Inhale for 4 seconds Exhale for 8 seconds. Item 174.</a:t>
            </a:r>
          </a:p>
          <a:p>
            <a:pPr algn="l">
              <a:lnSpc>
                <a:spcPts val="1620"/>
              </a:lnSpc>
            </a:pPr>
            <a:r>
              <a:rPr lang="en-US" sz="1350" dirty="0">
                <a:solidFill>
                  <a:srgbClr val="000000"/>
                </a:solidFill>
                <a:latin typeface="Calibri (MS)"/>
                <a:ea typeface="Calibri (MS)"/>
                <a:cs typeface="Calibri (MS)"/>
                <a:sym typeface="Calibri (MS)"/>
              </a:rPr>
              <a:t>175. Ask how are they if they feel uncomfortable or when they are sick. Stay with them when they may need support.</a:t>
            </a:r>
          </a:p>
          <a:p>
            <a:pPr algn="l">
              <a:lnSpc>
                <a:spcPts val="1620"/>
              </a:lnSpc>
            </a:pPr>
            <a:r>
              <a:rPr lang="en-US" sz="1350" dirty="0">
                <a:solidFill>
                  <a:srgbClr val="000000"/>
                </a:solidFill>
                <a:latin typeface="Calibri (MS)"/>
                <a:ea typeface="Calibri (MS)"/>
                <a:cs typeface="Calibri (MS)"/>
                <a:sym typeface="Calibri (MS)"/>
              </a:rPr>
              <a:t>176. Using soft voice to explain question is what as expertise can do. Item 2, 138.</a:t>
            </a:r>
          </a:p>
          <a:p>
            <a:pPr algn="l">
              <a:lnSpc>
                <a:spcPts val="1620"/>
              </a:lnSpc>
            </a:pPr>
            <a:r>
              <a:rPr lang="en-US" sz="1350" dirty="0">
                <a:solidFill>
                  <a:srgbClr val="000000"/>
                </a:solidFill>
                <a:latin typeface="Calibri (MS)"/>
                <a:ea typeface="Calibri (MS)"/>
                <a:cs typeface="Calibri (MS)"/>
                <a:sym typeface="Calibri (MS)"/>
              </a:rPr>
              <a:t>177. Enjoy your work or make sure you get pay.</a:t>
            </a:r>
          </a:p>
          <a:p>
            <a:pPr algn="l">
              <a:lnSpc>
                <a:spcPts val="1620"/>
              </a:lnSpc>
            </a:pPr>
            <a:r>
              <a:rPr lang="en-US" sz="1350" dirty="0">
                <a:solidFill>
                  <a:srgbClr val="000000"/>
                </a:solidFill>
                <a:latin typeface="Calibri (MS)"/>
                <a:ea typeface="Calibri (MS)"/>
                <a:cs typeface="Calibri (MS)"/>
                <a:sym typeface="Calibri (MS)"/>
              </a:rPr>
              <a:t>178. Try mediation, sport, sleep, stretch. Item 66. Take a deep breath. Tabata exercise. Inhale for 4 seconds hold 7 sec and exhale for 8 seconds. Item 178</a:t>
            </a:r>
          </a:p>
          <a:p>
            <a:pPr algn="l">
              <a:lnSpc>
                <a:spcPts val="1620"/>
              </a:lnSpc>
            </a:pPr>
            <a:r>
              <a:rPr lang="en-US" sz="1350" dirty="0">
                <a:solidFill>
                  <a:srgbClr val="000000"/>
                </a:solidFill>
                <a:latin typeface="Calibri (MS)"/>
                <a:ea typeface="Calibri (MS)"/>
                <a:cs typeface="Calibri (MS)"/>
                <a:sym typeface="Calibri (MS)"/>
              </a:rPr>
              <a:t>179. Use alternative statement, different color means different in different culture. Like red. Don’t use red, people from west country will think it is not good.</a:t>
            </a:r>
          </a:p>
          <a:p>
            <a:pPr algn="l">
              <a:lnSpc>
                <a:spcPts val="1620"/>
              </a:lnSpc>
            </a:pPr>
            <a:r>
              <a:rPr lang="en-US" sz="1350" dirty="0">
                <a:solidFill>
                  <a:srgbClr val="000000"/>
                </a:solidFill>
                <a:latin typeface="Calibri (MS)"/>
                <a:ea typeface="Calibri (MS)"/>
                <a:cs typeface="Calibri (MS)"/>
                <a:sym typeface="Calibri (MS)"/>
              </a:rPr>
              <a:t>180.Speak out your wishes. So, people know you and maybe they may help you or support. And call help if needed. Item 185.</a:t>
            </a:r>
          </a:p>
          <a:p>
            <a:pPr algn="l">
              <a:lnSpc>
                <a:spcPts val="1620"/>
              </a:lnSpc>
            </a:pPr>
            <a:r>
              <a:rPr lang="en-US" sz="1350" dirty="0">
                <a:solidFill>
                  <a:srgbClr val="000000"/>
                </a:solidFill>
                <a:latin typeface="Calibri (MS)"/>
                <a:ea typeface="Calibri (MS)"/>
                <a:cs typeface="Calibri (MS)"/>
                <a:sym typeface="Calibri (MS)"/>
              </a:rPr>
              <a:t>181.Write down meeting minutes and who attends the meeting, especially you want to get approvals. Also request the date for reply if any. Protect yourself.</a:t>
            </a:r>
          </a:p>
          <a:p>
            <a:pPr algn="l">
              <a:lnSpc>
                <a:spcPts val="1620"/>
              </a:lnSpc>
            </a:pPr>
            <a:r>
              <a:rPr lang="en-US" sz="1350" dirty="0">
                <a:solidFill>
                  <a:srgbClr val="000000"/>
                </a:solidFill>
                <a:latin typeface="Calibri (MS)"/>
                <a:ea typeface="Calibri (MS)"/>
                <a:cs typeface="Calibri (MS)"/>
                <a:sym typeface="Calibri (MS)"/>
              </a:rPr>
              <a:t>182. Recite a joke then you may use it in one day. However, Make sure people won’t get wrong and misunderstand. </a:t>
            </a:r>
          </a:p>
          <a:p>
            <a:pPr algn="l">
              <a:lnSpc>
                <a:spcPts val="1620"/>
              </a:lnSpc>
            </a:pPr>
            <a:r>
              <a:rPr lang="en-US" sz="1350" dirty="0">
                <a:solidFill>
                  <a:srgbClr val="000000"/>
                </a:solidFill>
                <a:latin typeface="Calibri (MS)"/>
                <a:ea typeface="Calibri (MS)"/>
                <a:cs typeface="Calibri (MS)"/>
                <a:sym typeface="Calibri (MS)"/>
              </a:rPr>
              <a:t>183. Use English to say your culture, history, weather, population, country area. This need practice, find an article and try to memorize it. Or use English to describe your feeling during the day. Find template. </a:t>
            </a:r>
            <a:r>
              <a:rPr lang="en-US" sz="1350" dirty="0" err="1">
                <a:solidFill>
                  <a:srgbClr val="000000"/>
                </a:solidFill>
                <a:latin typeface="Calibri (MS)"/>
                <a:ea typeface="Calibri (MS)"/>
                <a:cs typeface="Calibri (MS)"/>
                <a:sym typeface="Calibri (MS)"/>
              </a:rPr>
              <a:t>Reglion</a:t>
            </a:r>
            <a:r>
              <a:rPr lang="en-US" sz="1350" dirty="0">
                <a:solidFill>
                  <a:srgbClr val="000000"/>
                </a:solidFill>
                <a:latin typeface="Calibri (MS)"/>
                <a:ea typeface="Calibri (MS)"/>
                <a:cs typeface="Calibri (MS)"/>
                <a:sym typeface="Calibri (MS)"/>
              </a:rPr>
              <a:t>, food culture, geographic, location.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21" y="105423"/>
            <a:ext cx="8958901" cy="9643666"/>
          </a:xfrm>
          <a:prstGeom prst="rect">
            <a:avLst/>
          </a:prstGeom>
        </p:spPr>
        <p:txBody>
          <a:bodyPr lIns="0" tIns="0" rIns="0" bIns="0" rtlCol="0" anchor="t">
            <a:spAutoFit/>
          </a:bodyPr>
          <a:lstStyle/>
          <a:p>
            <a:pPr algn="l">
              <a:lnSpc>
                <a:spcPts val="1620"/>
              </a:lnSpc>
            </a:pPr>
            <a:r>
              <a:rPr lang="en-US" sz="1350" dirty="0">
                <a:solidFill>
                  <a:srgbClr val="000000"/>
                </a:solidFill>
                <a:latin typeface="Calibri (MS)"/>
                <a:ea typeface="Calibri (MS)"/>
                <a:cs typeface="Calibri (MS)"/>
                <a:sym typeface="Calibri (MS)"/>
              </a:rPr>
              <a:t>184. Understand your glass ceiling. What else do you need to break through? Which skill? That is your power of circle, comfort zone. Salary rank. Interest, bonus are based on your KPI and base salary, rank.  And each rank has its ceiling. Power of circle. Item 119</a:t>
            </a:r>
          </a:p>
          <a:p>
            <a:pPr algn="l">
              <a:lnSpc>
                <a:spcPts val="1620"/>
              </a:lnSpc>
            </a:pPr>
            <a:r>
              <a:rPr lang="en-US" sz="1350" dirty="0">
                <a:solidFill>
                  <a:srgbClr val="000000"/>
                </a:solidFill>
                <a:latin typeface="Calibri (MS)"/>
                <a:ea typeface="Calibri (MS)"/>
                <a:cs typeface="Calibri (MS)"/>
                <a:sym typeface="Calibri (MS)"/>
              </a:rPr>
              <a:t>185. Speak out what can you offer or contribute? ( Promotion.) Be proactive and ambitious on what you want. Stand to the front. Be bold.</a:t>
            </a:r>
          </a:p>
          <a:p>
            <a:pPr algn="l">
              <a:lnSpc>
                <a:spcPts val="1620"/>
              </a:lnSpc>
            </a:pPr>
            <a:r>
              <a:rPr lang="en-US" sz="1350" dirty="0">
                <a:solidFill>
                  <a:srgbClr val="000000"/>
                </a:solidFill>
                <a:latin typeface="Calibri (MS)"/>
                <a:ea typeface="Calibri (MS)"/>
                <a:cs typeface="Calibri (MS)"/>
                <a:sym typeface="Calibri (MS)"/>
              </a:rPr>
              <a:t>186. Promote yourself in public or in private. Item 214. But be careful. Be humble. You need solid evidence and speak out.</a:t>
            </a:r>
          </a:p>
          <a:p>
            <a:pPr algn="l">
              <a:lnSpc>
                <a:spcPts val="1620"/>
              </a:lnSpc>
            </a:pPr>
            <a:r>
              <a:rPr lang="en-US" sz="1350" dirty="0">
                <a:solidFill>
                  <a:srgbClr val="000000"/>
                </a:solidFill>
                <a:latin typeface="Calibri (MS)"/>
                <a:ea typeface="Calibri (MS)"/>
                <a:cs typeface="Calibri (MS)"/>
                <a:sym typeface="Calibri (MS)"/>
              </a:rPr>
              <a:t>187. Understand different time zone for different location. You may know it when inviting a meeting.</a:t>
            </a:r>
          </a:p>
          <a:p>
            <a:pPr algn="l">
              <a:lnSpc>
                <a:spcPts val="1620"/>
              </a:lnSpc>
            </a:pPr>
            <a:r>
              <a:rPr lang="en-US" sz="1350" dirty="0">
                <a:solidFill>
                  <a:srgbClr val="000000"/>
                </a:solidFill>
                <a:latin typeface="Calibri (MS)"/>
                <a:ea typeface="Calibri (MS)"/>
                <a:cs typeface="Calibri (MS)"/>
                <a:sym typeface="Calibri (MS)"/>
              </a:rPr>
              <a:t>188. Don't reply so quickly after receiving an email. You can reply but schedule to send it later. Delayed reply.</a:t>
            </a:r>
          </a:p>
          <a:p>
            <a:pPr algn="l">
              <a:lnSpc>
                <a:spcPts val="1620"/>
              </a:lnSpc>
            </a:pPr>
            <a:r>
              <a:rPr lang="en-US" sz="1350" dirty="0">
                <a:solidFill>
                  <a:srgbClr val="000000"/>
                </a:solidFill>
                <a:latin typeface="Calibri (MS)"/>
                <a:ea typeface="Calibri (MS)"/>
                <a:cs typeface="Calibri (MS)"/>
                <a:sym typeface="Calibri (MS)"/>
              </a:rPr>
              <a:t>189. Build up your skillset. Do not only take your duties but also go outside of it. Responsibility and accountability. </a:t>
            </a:r>
          </a:p>
          <a:p>
            <a:pPr algn="l">
              <a:lnSpc>
                <a:spcPts val="1620"/>
              </a:lnSpc>
            </a:pPr>
            <a:r>
              <a:rPr lang="en-US" sz="1350" dirty="0">
                <a:solidFill>
                  <a:srgbClr val="000000"/>
                </a:solidFill>
                <a:latin typeface="Calibri (MS)"/>
                <a:ea typeface="Calibri (MS)"/>
                <a:cs typeface="Calibri (MS)"/>
                <a:sym typeface="Calibri (MS)"/>
              </a:rPr>
              <a:t>190. To avoid a PR (public relation) </a:t>
            </a:r>
            <a:r>
              <a:rPr lang="en-US" sz="1350" dirty="0" err="1">
                <a:solidFill>
                  <a:srgbClr val="000000"/>
                </a:solidFill>
                <a:latin typeface="Calibri (MS)"/>
                <a:ea typeface="Calibri (MS)"/>
                <a:cs typeface="Calibri (MS)"/>
                <a:sym typeface="Calibri (MS)"/>
              </a:rPr>
              <a:t>crisis公關</a:t>
            </a:r>
            <a:r>
              <a:rPr lang="en-US" sz="1350" dirty="0">
                <a:solidFill>
                  <a:srgbClr val="000000"/>
                </a:solidFill>
                <a:latin typeface="Calibri (MS)"/>
                <a:ea typeface="Calibri (MS)"/>
                <a:cs typeface="Calibri (MS)"/>
                <a:sym typeface="Calibri (MS)"/>
              </a:rPr>
              <a:t>, don't talk about something you don't know with 100% confidence. Even so, someone may distribute your email or message to others, which may mislead someone or someone who may be involved.</a:t>
            </a:r>
          </a:p>
          <a:p>
            <a:pPr algn="l">
              <a:lnSpc>
                <a:spcPts val="1620"/>
              </a:lnSpc>
            </a:pPr>
            <a:r>
              <a:rPr lang="en-US" sz="1350" dirty="0">
                <a:solidFill>
                  <a:srgbClr val="000000"/>
                </a:solidFill>
                <a:latin typeface="Calibri (MS)"/>
                <a:ea typeface="Calibri (MS)"/>
                <a:cs typeface="Calibri (MS)"/>
                <a:sym typeface="Calibri (MS)"/>
              </a:rPr>
              <a:t>191.Be careful what you replied email, others may forward to others. Also be careful what webpages you opened and share to others during video call. Also your oral speech.</a:t>
            </a:r>
          </a:p>
          <a:p>
            <a:pPr algn="l">
              <a:lnSpc>
                <a:spcPts val="1620"/>
              </a:lnSpc>
            </a:pPr>
            <a:r>
              <a:rPr lang="en-US" sz="1350" dirty="0">
                <a:solidFill>
                  <a:srgbClr val="000000"/>
                </a:solidFill>
                <a:latin typeface="Calibri (MS)"/>
                <a:ea typeface="Calibri (MS)"/>
                <a:cs typeface="Calibri (MS)"/>
                <a:sym typeface="Calibri (MS)"/>
              </a:rPr>
              <a:t>192. Sometimes showing weakness is the best policy when you want to ask for help or support. Keep low profile. Kill your ego. Low profile, focus on output and improvement.</a:t>
            </a:r>
          </a:p>
          <a:p>
            <a:pPr algn="l">
              <a:lnSpc>
                <a:spcPts val="1620"/>
              </a:lnSpc>
            </a:pPr>
            <a:r>
              <a:rPr lang="en-US" sz="1350" dirty="0">
                <a:solidFill>
                  <a:srgbClr val="000000"/>
                </a:solidFill>
                <a:latin typeface="Calibri (MS)"/>
                <a:ea typeface="Calibri (MS)"/>
                <a:cs typeface="Calibri (MS)"/>
                <a:sym typeface="Calibri (MS)"/>
              </a:rPr>
              <a:t>193. You may learn pretending not heard or not seen to avoid unnecessary trouble. ( Ke-siau2), like performing. </a:t>
            </a:r>
          </a:p>
          <a:p>
            <a:pPr algn="l">
              <a:lnSpc>
                <a:spcPts val="1620"/>
              </a:lnSpc>
            </a:pPr>
            <a:r>
              <a:rPr lang="en-US" sz="1350" dirty="0">
                <a:solidFill>
                  <a:srgbClr val="000000"/>
                </a:solidFill>
                <a:latin typeface="Calibri (MS)"/>
                <a:ea typeface="Calibri (MS)"/>
                <a:cs typeface="Calibri (MS)"/>
                <a:sym typeface="Calibri (MS)"/>
              </a:rPr>
              <a:t>194. PREP, point, reason, example, point method to present. ( presentation.)</a:t>
            </a:r>
          </a:p>
          <a:p>
            <a:pPr algn="l">
              <a:lnSpc>
                <a:spcPts val="1620"/>
              </a:lnSpc>
            </a:pPr>
            <a:r>
              <a:rPr lang="en-US" sz="1350" dirty="0">
                <a:solidFill>
                  <a:srgbClr val="000000"/>
                </a:solidFill>
                <a:latin typeface="Calibri (MS)"/>
                <a:ea typeface="Calibri (MS)"/>
                <a:cs typeface="Calibri (MS)"/>
                <a:sym typeface="Calibri (MS)"/>
              </a:rPr>
              <a:t>195. What can you get / gain / feel from this book, experience or discussion…etc.? Make sure you are not chasing your tail.  Did you accumulate relationship, asset, new skill, competency level increase…etc. how much time you spend on those tasks?</a:t>
            </a:r>
          </a:p>
          <a:p>
            <a:pPr algn="l">
              <a:lnSpc>
                <a:spcPts val="1620"/>
              </a:lnSpc>
            </a:pPr>
            <a:r>
              <a:rPr lang="en-US" sz="1350" dirty="0">
                <a:solidFill>
                  <a:srgbClr val="000000"/>
                </a:solidFill>
                <a:latin typeface="Calibri (MS)"/>
                <a:ea typeface="Calibri (MS)"/>
                <a:cs typeface="Calibri (MS)"/>
                <a:sym typeface="Calibri (MS)"/>
              </a:rPr>
              <a:t>196. Don’t make unnecessary, involuntary (</a:t>
            </a:r>
            <a:r>
              <a:rPr lang="en-US" sz="1350" dirty="0" err="1">
                <a:solidFill>
                  <a:srgbClr val="000000"/>
                </a:solidFill>
                <a:latin typeface="Calibri (MS)"/>
                <a:ea typeface="Calibri (MS)"/>
                <a:cs typeface="Calibri (MS)"/>
                <a:sym typeface="Calibri (MS)"/>
              </a:rPr>
              <a:t>無意識的</a:t>
            </a:r>
            <a:r>
              <a:rPr lang="en-US" sz="1350" dirty="0">
                <a:solidFill>
                  <a:srgbClr val="000000"/>
                </a:solidFill>
                <a:latin typeface="Calibri (MS)"/>
                <a:ea typeface="Calibri (MS)"/>
                <a:cs typeface="Calibri (MS)"/>
                <a:sym typeface="Calibri (MS)"/>
              </a:rPr>
              <a:t>) and stupid mistakes. Stay in your power of circle.</a:t>
            </a:r>
          </a:p>
          <a:p>
            <a:pPr algn="l">
              <a:lnSpc>
                <a:spcPts val="1620"/>
              </a:lnSpc>
            </a:pPr>
            <a:r>
              <a:rPr lang="en-US" sz="1350" dirty="0">
                <a:solidFill>
                  <a:srgbClr val="000000"/>
                </a:solidFill>
                <a:latin typeface="Calibri (MS)"/>
                <a:ea typeface="Calibri (MS)"/>
                <a:cs typeface="Calibri (MS)"/>
                <a:sym typeface="Calibri (MS)"/>
              </a:rPr>
              <a:t>197. No politic in the office and discussion with colleagues.  162 item.</a:t>
            </a:r>
          </a:p>
          <a:p>
            <a:pPr algn="l">
              <a:lnSpc>
                <a:spcPts val="1620"/>
              </a:lnSpc>
            </a:pPr>
            <a:r>
              <a:rPr lang="en-US" sz="1350" dirty="0">
                <a:solidFill>
                  <a:srgbClr val="000000"/>
                </a:solidFill>
                <a:latin typeface="Calibri (MS)"/>
                <a:ea typeface="Calibri (MS)"/>
                <a:cs typeface="Calibri (MS)"/>
                <a:sym typeface="Calibri (MS)"/>
              </a:rPr>
              <a:t>198. Don’t jump to others’ arguments. Keep distance.</a:t>
            </a:r>
          </a:p>
          <a:p>
            <a:pPr algn="l">
              <a:lnSpc>
                <a:spcPts val="1620"/>
              </a:lnSpc>
            </a:pPr>
            <a:r>
              <a:rPr lang="en-US" sz="1350" dirty="0">
                <a:solidFill>
                  <a:srgbClr val="000000"/>
                </a:solidFill>
                <a:latin typeface="Calibri (MS)"/>
                <a:ea typeface="Calibri (MS)"/>
                <a:cs typeface="Calibri (MS)"/>
                <a:sym typeface="Calibri (MS)"/>
              </a:rPr>
              <a:t>199. Don’t feel anxious when people have more comments (suggestions). They will help you. It is good to have this kind of positive thinking instead of negative. Kill your ego.</a:t>
            </a:r>
          </a:p>
          <a:p>
            <a:pPr algn="l">
              <a:lnSpc>
                <a:spcPts val="1620"/>
              </a:lnSpc>
            </a:pPr>
            <a:r>
              <a:rPr lang="en-US" sz="1350" dirty="0">
                <a:solidFill>
                  <a:srgbClr val="000000"/>
                </a:solidFill>
                <a:latin typeface="Calibri (MS)"/>
                <a:ea typeface="Calibri (MS)"/>
                <a:cs typeface="Calibri (MS)"/>
                <a:sym typeface="Calibri (MS)"/>
              </a:rPr>
              <a:t>200. Any benefit  or added value for the work you are doing now. Ask yourself. What skillset should be added.</a:t>
            </a:r>
          </a:p>
          <a:p>
            <a:pPr algn="l">
              <a:lnSpc>
                <a:spcPts val="1620"/>
              </a:lnSpc>
            </a:pPr>
            <a:r>
              <a:rPr lang="en-US" sz="1350" dirty="0">
                <a:solidFill>
                  <a:srgbClr val="000000"/>
                </a:solidFill>
                <a:latin typeface="Calibri (MS)"/>
                <a:ea typeface="Calibri (MS)"/>
                <a:cs typeface="Calibri (MS)"/>
                <a:sym typeface="Calibri (MS)"/>
              </a:rPr>
              <a:t>201. Reduce the number of emails you send. To avoid unnecessary reply. Don’t send over 8 emails per day.</a:t>
            </a:r>
          </a:p>
          <a:p>
            <a:pPr algn="l">
              <a:lnSpc>
                <a:spcPts val="1620"/>
              </a:lnSpc>
            </a:pPr>
            <a:r>
              <a:rPr lang="en-US" sz="1350" dirty="0">
                <a:solidFill>
                  <a:srgbClr val="000000"/>
                </a:solidFill>
                <a:latin typeface="Calibri (MS)"/>
                <a:ea typeface="Calibri (MS)"/>
                <a:cs typeface="Calibri (MS)"/>
                <a:sym typeface="Calibri (MS)"/>
              </a:rPr>
              <a:t>202. Ask you questions if no one ask you. Beyond your expectation, you can be better or excellent. Review your achievement or what you had done in the end of week or day. Better have a roadmap for your career and financial plan.</a:t>
            </a:r>
          </a:p>
          <a:p>
            <a:pPr algn="l">
              <a:lnSpc>
                <a:spcPts val="1620"/>
              </a:lnSpc>
            </a:pPr>
            <a:r>
              <a:rPr lang="en-US" sz="1350" dirty="0">
                <a:solidFill>
                  <a:srgbClr val="000000"/>
                </a:solidFill>
                <a:latin typeface="Calibri (MS)"/>
                <a:ea typeface="Calibri (MS)"/>
                <a:cs typeface="Calibri (MS)"/>
                <a:sym typeface="Calibri (MS)"/>
              </a:rPr>
              <a:t>203. Don’t trust your memory but your notes, data and facts. Take a digital notes. Using good rules of note-taking.</a:t>
            </a:r>
          </a:p>
          <a:p>
            <a:pPr algn="l">
              <a:lnSpc>
                <a:spcPts val="1620"/>
              </a:lnSpc>
            </a:pPr>
            <a:r>
              <a:rPr lang="en-US" sz="1350" dirty="0">
                <a:solidFill>
                  <a:srgbClr val="000000"/>
                </a:solidFill>
                <a:latin typeface="Calibri (MS)"/>
                <a:ea typeface="Calibri (MS)"/>
                <a:cs typeface="Calibri (MS)"/>
                <a:sym typeface="Calibri (MS)"/>
              </a:rPr>
              <a:t>204. Focus on the agenda. Otherwise, It can lead to a fragmented discussion.  To avoid diverge</a:t>
            </a:r>
          </a:p>
          <a:p>
            <a:pPr algn="l">
              <a:lnSpc>
                <a:spcPts val="1620"/>
              </a:lnSpc>
            </a:pPr>
            <a:r>
              <a:rPr lang="en-US" sz="1350" dirty="0">
                <a:solidFill>
                  <a:srgbClr val="000000"/>
                </a:solidFill>
                <a:latin typeface="Calibri (MS)"/>
                <a:ea typeface="Calibri (MS)"/>
                <a:cs typeface="Calibri (MS)"/>
                <a:sym typeface="Calibri (MS)"/>
              </a:rPr>
              <a:t>205.It is not your responsibility or obligation to help your colleagues grown unless someone ask you. Invest yourself first.</a:t>
            </a:r>
          </a:p>
          <a:p>
            <a:pPr algn="l">
              <a:lnSpc>
                <a:spcPts val="1620"/>
              </a:lnSpc>
            </a:pPr>
            <a:r>
              <a:rPr lang="en-US" sz="1350" dirty="0">
                <a:solidFill>
                  <a:srgbClr val="000000"/>
                </a:solidFill>
                <a:latin typeface="Calibri (MS)"/>
                <a:ea typeface="Calibri (MS)"/>
                <a:cs typeface="Calibri (MS)"/>
                <a:sym typeface="Calibri (MS)"/>
              </a:rPr>
              <a:t>206.Use one page /  template to explain/propose your idea. It helps to avoid misleading when using non-mother language.  </a:t>
            </a:r>
          </a:p>
          <a:p>
            <a:pPr algn="l">
              <a:lnSpc>
                <a:spcPts val="1620"/>
              </a:lnSpc>
            </a:pPr>
            <a:r>
              <a:rPr lang="en-US" sz="1350" dirty="0">
                <a:solidFill>
                  <a:srgbClr val="000000"/>
                </a:solidFill>
                <a:latin typeface="Calibri (MS)"/>
                <a:ea typeface="Calibri (MS)"/>
                <a:cs typeface="Calibri (MS)"/>
                <a:sym typeface="Calibri (MS)"/>
              </a:rPr>
              <a:t>207. Always have eye contact when you talk to people. ( see a certain point on their face.)</a:t>
            </a:r>
          </a:p>
          <a:p>
            <a:pPr algn="l">
              <a:lnSpc>
                <a:spcPts val="1620"/>
              </a:lnSpc>
            </a:pPr>
            <a:r>
              <a:rPr lang="en-US" sz="1350" dirty="0">
                <a:solidFill>
                  <a:srgbClr val="000000"/>
                </a:solidFill>
                <a:latin typeface="Calibri (MS)"/>
                <a:ea typeface="Calibri (MS)"/>
                <a:cs typeface="Calibri (MS)"/>
                <a:sym typeface="Calibri (MS)"/>
              </a:rPr>
              <a:t>208. Give your blessing for someone’s birthday or in new year or festival holiday. You can make a name list. Just leave a message.</a:t>
            </a:r>
          </a:p>
          <a:p>
            <a:pPr algn="l">
              <a:lnSpc>
                <a:spcPts val="1620"/>
              </a:lnSpc>
            </a:pPr>
            <a:r>
              <a:rPr lang="en-US" sz="1350" dirty="0">
                <a:solidFill>
                  <a:srgbClr val="000000"/>
                </a:solidFill>
                <a:latin typeface="Calibri (MS)"/>
                <a:ea typeface="Calibri (MS)"/>
                <a:cs typeface="Calibri (MS)"/>
                <a:sym typeface="Calibri (MS)"/>
              </a:rPr>
              <a:t>209.You cannot check data efficiency without template. You may leverage from others or  created by yourself. Productivity.</a:t>
            </a:r>
          </a:p>
          <a:p>
            <a:pPr algn="l">
              <a:lnSpc>
                <a:spcPts val="1620"/>
              </a:lnSpc>
            </a:pPr>
            <a:r>
              <a:rPr lang="en-US" sz="1350" dirty="0">
                <a:solidFill>
                  <a:srgbClr val="000000"/>
                </a:solidFill>
                <a:latin typeface="Calibri (MS)"/>
                <a:ea typeface="Calibri (MS)"/>
                <a:cs typeface="Calibri (MS)"/>
                <a:sym typeface="Calibri (MS)"/>
              </a:rPr>
              <a:t>210.Run your templates to make sure you won’t forget. Or check that your expertise/skills are up-to-date and not unfamiliar due to unused.</a:t>
            </a:r>
          </a:p>
          <a:p>
            <a:pPr algn="l">
              <a:lnSpc>
                <a:spcPts val="1620"/>
              </a:lnSpc>
            </a:pPr>
            <a:r>
              <a:rPr lang="en-US" sz="1350" dirty="0">
                <a:solidFill>
                  <a:srgbClr val="000000"/>
                </a:solidFill>
                <a:latin typeface="Calibri (MS)"/>
                <a:ea typeface="Calibri (MS)"/>
                <a:cs typeface="Calibri (MS)"/>
                <a:sym typeface="Calibri (MS)"/>
              </a:rPr>
              <a:t>211.Turn off laptop when leaving office and clean desktop. Restart  with sense of ritual. Item 268</a:t>
            </a:r>
          </a:p>
          <a:p>
            <a:pPr algn="l">
              <a:lnSpc>
                <a:spcPts val="1620"/>
              </a:lnSpc>
            </a:pPr>
            <a:r>
              <a:rPr lang="en-US" sz="1350" dirty="0">
                <a:solidFill>
                  <a:srgbClr val="000000"/>
                </a:solidFill>
                <a:latin typeface="Calibri (MS)"/>
                <a:ea typeface="Calibri (MS)"/>
                <a:cs typeface="Calibri (MS)"/>
                <a:sym typeface="Calibri (MS)"/>
              </a:rPr>
              <a:t>212.Learn / observe your lead or manager’s habit.</a:t>
            </a:r>
          </a:p>
          <a:p>
            <a:pPr algn="l">
              <a:lnSpc>
                <a:spcPts val="1620"/>
              </a:lnSpc>
            </a:pPr>
            <a:r>
              <a:rPr lang="en-US" sz="1350" dirty="0">
                <a:solidFill>
                  <a:srgbClr val="000000"/>
                </a:solidFill>
                <a:latin typeface="Calibri (MS)"/>
                <a:ea typeface="Calibri (MS)"/>
                <a:cs typeface="Calibri (MS)"/>
                <a:sym typeface="Calibri (MS)"/>
              </a:rPr>
              <a:t>213. To build up multiple mindset models, they should be part of your skillset. You can level up the competency from jumping out conform zone. 100 mindsets / mind model, </a:t>
            </a:r>
            <a:r>
              <a:rPr lang="en-US" sz="1350" dirty="0" err="1">
                <a:solidFill>
                  <a:srgbClr val="000000"/>
                </a:solidFill>
                <a:latin typeface="Calibri (MS)"/>
                <a:ea typeface="Calibri (MS)"/>
                <a:cs typeface="Calibri (MS)"/>
                <a:sym typeface="Calibri (MS)"/>
              </a:rPr>
              <a:t>condition.心適力</a:t>
            </a:r>
            <a:r>
              <a:rPr lang="en-US" sz="1350" dirty="0">
                <a:solidFill>
                  <a:srgbClr val="000000"/>
                </a:solidFill>
                <a:latin typeface="Calibri (MS)"/>
                <a:ea typeface="Calibri (MS)"/>
                <a:cs typeface="Calibri (MS)"/>
                <a:sym typeface="Calibri (MS)"/>
              </a:rPr>
              <a:t>. </a:t>
            </a:r>
            <a:r>
              <a:rPr lang="en-US" sz="1350" dirty="0" err="1">
                <a:solidFill>
                  <a:srgbClr val="000000"/>
                </a:solidFill>
                <a:latin typeface="Calibri (MS)"/>
                <a:ea typeface="Calibri (MS)"/>
                <a:cs typeface="Calibri (MS)"/>
                <a:sym typeface="Calibri (MS)"/>
              </a:rPr>
              <a:t>馬洛斯，棒子。Someone</a:t>
            </a:r>
            <a:r>
              <a:rPr lang="en-US" sz="1350" dirty="0">
                <a:solidFill>
                  <a:srgbClr val="000000"/>
                </a:solidFill>
                <a:latin typeface="Calibri (MS)"/>
                <a:ea typeface="Calibri (MS)"/>
                <a:cs typeface="Calibri (MS)"/>
                <a:sym typeface="Calibri (MS)"/>
              </a:rPr>
              <a:t> said bad things F2F to you. How to react. You cannot satisfy everyone.</a:t>
            </a:r>
          </a:p>
          <a:p>
            <a:pPr algn="l">
              <a:lnSpc>
                <a:spcPts val="1620"/>
              </a:lnSpc>
            </a:pPr>
            <a:r>
              <a:rPr lang="en-US" sz="1350" dirty="0">
                <a:solidFill>
                  <a:srgbClr val="000000"/>
                </a:solidFill>
                <a:latin typeface="Calibri (MS)"/>
                <a:ea typeface="Calibri (MS)"/>
                <a:cs typeface="Calibri (MS)"/>
                <a:sym typeface="Calibri (MS)"/>
              </a:rPr>
              <a:t>214.Show your competence to your boss or manager, share experience and build up an expert image. Expert mindset. Report.</a:t>
            </a:r>
          </a:p>
          <a:p>
            <a:pPr algn="l">
              <a:lnSpc>
                <a:spcPts val="1620"/>
              </a:lnSpc>
            </a:pPr>
            <a:r>
              <a:rPr lang="en-US" sz="1350" dirty="0">
                <a:solidFill>
                  <a:srgbClr val="000000"/>
                </a:solidFill>
                <a:latin typeface="Calibri (MS)"/>
                <a:ea typeface="Calibri (MS)"/>
                <a:cs typeface="Calibri (MS)"/>
                <a:sym typeface="Calibri (MS)"/>
              </a:rPr>
              <a:t>215.Can predict possible pro and cons for decisions. What is worse case? Can survive until everything back to normal.</a:t>
            </a:r>
          </a:p>
          <a:p>
            <a:pPr algn="l">
              <a:lnSpc>
                <a:spcPts val="1620"/>
              </a:lnSpc>
            </a:pPr>
            <a:r>
              <a:rPr lang="en-US" sz="1350" dirty="0">
                <a:solidFill>
                  <a:srgbClr val="000000"/>
                </a:solidFill>
                <a:latin typeface="Calibri (MS)"/>
                <a:ea typeface="Calibri (MS)"/>
                <a:cs typeface="Calibri (MS)"/>
                <a:sym typeface="Calibri (MS)"/>
              </a:rPr>
              <a:t>216.Can execute a project  for long-term. Stay the course. No matter in work or living field.</a:t>
            </a:r>
          </a:p>
          <a:p>
            <a:pPr algn="l">
              <a:lnSpc>
                <a:spcPts val="1620"/>
              </a:lnSpc>
            </a:pPr>
            <a:r>
              <a:rPr lang="en-US" sz="1350" dirty="0">
                <a:solidFill>
                  <a:srgbClr val="000000"/>
                </a:solidFill>
                <a:latin typeface="Calibri (MS)"/>
                <a:ea typeface="Calibri (MS)"/>
                <a:cs typeface="Calibri (MS)"/>
                <a:sym typeface="Calibri (MS)"/>
              </a:rPr>
              <a:t>217. To avoid receiver think you may be too careless, but you need to reply quick, you can add “ sent by cell-phone” message in the end. Ex: quick reply let me know if more explanation is needed.</a:t>
            </a:r>
          </a:p>
        </p:txBody>
      </p:sp>
      <p:sp>
        <p:nvSpPr>
          <p:cNvPr id="3" name="TextBox 3"/>
          <p:cNvSpPr txBox="1"/>
          <p:nvPr/>
        </p:nvSpPr>
        <p:spPr>
          <a:xfrm>
            <a:off x="9233173" y="200797"/>
            <a:ext cx="8961149" cy="8387725"/>
          </a:xfrm>
          <a:prstGeom prst="rect">
            <a:avLst/>
          </a:prstGeom>
        </p:spPr>
        <p:txBody>
          <a:bodyPr lIns="0" tIns="0" rIns="0" bIns="0" rtlCol="0" anchor="t">
            <a:spAutoFit/>
          </a:bodyPr>
          <a:lstStyle/>
          <a:p>
            <a:pPr algn="l">
              <a:lnSpc>
                <a:spcPts val="1620"/>
              </a:lnSpc>
            </a:pPr>
            <a:r>
              <a:rPr lang="en-US" sz="1350" dirty="0">
                <a:solidFill>
                  <a:srgbClr val="000000"/>
                </a:solidFill>
                <a:latin typeface="Calibri (MS)"/>
                <a:ea typeface="Calibri (MS)"/>
                <a:cs typeface="Calibri (MS)"/>
                <a:sym typeface="Calibri (MS)"/>
              </a:rPr>
              <a:t>218. “I have different opinion” vs “ I disagree”  .  Try to reply to your managers as experiment and see how they reply.</a:t>
            </a:r>
          </a:p>
          <a:p>
            <a:pPr algn="l">
              <a:lnSpc>
                <a:spcPts val="1620"/>
              </a:lnSpc>
            </a:pPr>
            <a:r>
              <a:rPr lang="en-US" sz="1350" dirty="0">
                <a:solidFill>
                  <a:srgbClr val="000000"/>
                </a:solidFill>
                <a:latin typeface="Calibri (MS)"/>
                <a:ea typeface="Calibri (MS)"/>
                <a:cs typeface="Calibri (MS)"/>
                <a:sym typeface="Calibri (MS)"/>
              </a:rPr>
              <a:t>219. Build a system instead of reaching a goal. Learn from your mistakes and look back.</a:t>
            </a:r>
          </a:p>
          <a:p>
            <a:pPr algn="l">
              <a:lnSpc>
                <a:spcPts val="1620"/>
              </a:lnSpc>
            </a:pPr>
            <a:r>
              <a:rPr lang="en-US" sz="1350" dirty="0">
                <a:solidFill>
                  <a:srgbClr val="000000"/>
                </a:solidFill>
                <a:latin typeface="Calibri (MS)"/>
                <a:ea typeface="Calibri (MS)"/>
                <a:cs typeface="Calibri (MS)"/>
                <a:sym typeface="Calibri (MS)"/>
              </a:rPr>
              <a:t>220.Mind your business more than other’s business. Focus on growth, no just finance. ( mind, spiritual)</a:t>
            </a:r>
          </a:p>
          <a:p>
            <a:pPr algn="l">
              <a:lnSpc>
                <a:spcPts val="1620"/>
              </a:lnSpc>
            </a:pPr>
            <a:r>
              <a:rPr lang="en-US" sz="1350" dirty="0">
                <a:solidFill>
                  <a:srgbClr val="000000"/>
                </a:solidFill>
                <a:latin typeface="Calibri (MS)"/>
                <a:ea typeface="Calibri (MS)"/>
                <a:cs typeface="Calibri (MS)"/>
                <a:sym typeface="Calibri (MS)"/>
              </a:rPr>
              <a:t>221. You cannot keep saving your colleagues. You need to make sure your capability with growth. Item 234</a:t>
            </a:r>
          </a:p>
          <a:p>
            <a:pPr algn="l">
              <a:lnSpc>
                <a:spcPts val="1620"/>
              </a:lnSpc>
            </a:pPr>
            <a:r>
              <a:rPr lang="en-US" sz="1350" dirty="0">
                <a:solidFill>
                  <a:srgbClr val="000000"/>
                </a:solidFill>
                <a:latin typeface="Calibri (MS)"/>
                <a:ea typeface="Calibri (MS)"/>
                <a:cs typeface="Calibri (MS)"/>
                <a:sym typeface="Calibri (MS)"/>
              </a:rPr>
              <a:t>222. Be curious how your colleagues with good performance finish their works. You may learn from them in different field. ( perform like a show)</a:t>
            </a:r>
          </a:p>
          <a:p>
            <a:pPr algn="l">
              <a:lnSpc>
                <a:spcPts val="1620"/>
              </a:lnSpc>
            </a:pPr>
            <a:r>
              <a:rPr lang="en-US" sz="1350" dirty="0">
                <a:solidFill>
                  <a:srgbClr val="000000"/>
                </a:solidFill>
                <a:latin typeface="Calibri (MS)"/>
                <a:ea typeface="Calibri (MS)"/>
                <a:cs typeface="Calibri (MS)"/>
                <a:sym typeface="Calibri (MS)"/>
              </a:rPr>
              <a:t>223. Identify your team members who has growth mindset and fixed mindset</a:t>
            </a:r>
          </a:p>
          <a:p>
            <a:pPr algn="l">
              <a:lnSpc>
                <a:spcPts val="1620"/>
              </a:lnSpc>
            </a:pPr>
            <a:r>
              <a:rPr lang="en-US" sz="1350" dirty="0">
                <a:solidFill>
                  <a:srgbClr val="000000"/>
                </a:solidFill>
                <a:latin typeface="Calibri (MS)"/>
                <a:ea typeface="Calibri (MS)"/>
                <a:cs typeface="Calibri (MS)"/>
                <a:sym typeface="Calibri (MS)"/>
              </a:rPr>
              <a:t>224. Stop negative words otherwise it will hurt you.</a:t>
            </a:r>
          </a:p>
          <a:p>
            <a:pPr algn="l">
              <a:lnSpc>
                <a:spcPts val="1620"/>
              </a:lnSpc>
            </a:pPr>
            <a:r>
              <a:rPr lang="en-US" sz="1350" dirty="0">
                <a:solidFill>
                  <a:srgbClr val="000000"/>
                </a:solidFill>
                <a:latin typeface="Calibri (MS)"/>
                <a:ea typeface="Calibri (MS)"/>
                <a:cs typeface="Calibri (MS)"/>
                <a:sym typeface="Calibri (MS)"/>
              </a:rPr>
              <a:t>225. Ask yourself what do you learn today any progress for your target and goal. Every day, week, month, and year.</a:t>
            </a:r>
          </a:p>
          <a:p>
            <a:pPr algn="l">
              <a:lnSpc>
                <a:spcPts val="1620"/>
              </a:lnSpc>
            </a:pPr>
            <a:r>
              <a:rPr lang="en-US" sz="1350" dirty="0">
                <a:solidFill>
                  <a:srgbClr val="000000"/>
                </a:solidFill>
                <a:latin typeface="Calibri (MS)"/>
                <a:ea typeface="Calibri (MS)"/>
                <a:cs typeface="Calibri (MS)"/>
                <a:sym typeface="Calibri (MS)"/>
              </a:rPr>
              <a:t>226. Connecting the dot</a:t>
            </a:r>
          </a:p>
          <a:p>
            <a:pPr algn="l">
              <a:lnSpc>
                <a:spcPts val="1620"/>
              </a:lnSpc>
            </a:pPr>
            <a:r>
              <a:rPr lang="en-US" sz="1350" dirty="0">
                <a:solidFill>
                  <a:srgbClr val="757070"/>
                </a:solidFill>
                <a:latin typeface="Calibri (MS)"/>
                <a:ea typeface="Calibri (MS)"/>
                <a:cs typeface="Calibri (MS)"/>
                <a:sym typeface="Calibri (MS)"/>
              </a:rPr>
              <a:t>227. makes rules and follow it. measure time per task. Stay on course. Item 32.</a:t>
            </a:r>
          </a:p>
          <a:p>
            <a:pPr algn="l">
              <a:lnSpc>
                <a:spcPts val="1620"/>
              </a:lnSpc>
            </a:pPr>
            <a:r>
              <a:rPr lang="en-US" sz="1350" dirty="0">
                <a:solidFill>
                  <a:srgbClr val="757070"/>
                </a:solidFill>
                <a:latin typeface="Calibri (MS)"/>
                <a:ea typeface="Calibri (MS)"/>
                <a:cs typeface="Calibri (MS)"/>
                <a:sym typeface="Calibri (MS)"/>
              </a:rPr>
              <a:t>228. Turn off social media message and focus.</a:t>
            </a:r>
          </a:p>
          <a:p>
            <a:pPr algn="l">
              <a:lnSpc>
                <a:spcPts val="1620"/>
              </a:lnSpc>
            </a:pPr>
            <a:r>
              <a:rPr lang="en-US" sz="1350" dirty="0">
                <a:solidFill>
                  <a:srgbClr val="757070"/>
                </a:solidFill>
                <a:latin typeface="Calibri (MS)"/>
                <a:ea typeface="Calibri (MS)"/>
                <a:cs typeface="Calibri (MS)"/>
                <a:sym typeface="Calibri (MS)"/>
              </a:rPr>
              <a:t>229.Reuse your previous works /study and other’s. Reading books. Do documentation. And look back on it </a:t>
            </a:r>
            <a:r>
              <a:rPr lang="en-US" sz="1350" dirty="0" err="1">
                <a:solidFill>
                  <a:srgbClr val="757070"/>
                </a:solidFill>
                <a:latin typeface="Calibri (MS)"/>
                <a:ea typeface="Calibri (MS)"/>
                <a:cs typeface="Calibri (MS)"/>
                <a:sym typeface="Calibri (MS)"/>
              </a:rPr>
              <a:t>rountinely</a:t>
            </a:r>
            <a:r>
              <a:rPr lang="en-US" sz="1350" dirty="0">
                <a:solidFill>
                  <a:srgbClr val="757070"/>
                </a:solidFill>
                <a:latin typeface="Calibri (MS)"/>
                <a:ea typeface="Calibri (MS)"/>
                <a:cs typeface="Calibri (MS)"/>
                <a:sym typeface="Calibri (MS)"/>
              </a:rPr>
              <a:t>.</a:t>
            </a:r>
          </a:p>
          <a:p>
            <a:pPr algn="l">
              <a:lnSpc>
                <a:spcPts val="1620"/>
              </a:lnSpc>
            </a:pPr>
            <a:r>
              <a:rPr lang="en-US" sz="1350" dirty="0">
                <a:solidFill>
                  <a:srgbClr val="757070"/>
                </a:solidFill>
                <a:latin typeface="Calibri (MS)"/>
                <a:ea typeface="Calibri (MS)"/>
                <a:cs typeface="Calibri (MS)"/>
                <a:sym typeface="Calibri (MS)"/>
              </a:rPr>
              <a:t>230.Always face the questions and solve it no matter how long it takes. Breakdown it.</a:t>
            </a:r>
          </a:p>
          <a:p>
            <a:pPr algn="l">
              <a:lnSpc>
                <a:spcPts val="1620"/>
              </a:lnSpc>
            </a:pPr>
            <a:r>
              <a:rPr lang="en-US" sz="1350" dirty="0">
                <a:solidFill>
                  <a:srgbClr val="757070"/>
                </a:solidFill>
                <a:latin typeface="Calibri (MS)"/>
                <a:ea typeface="Calibri (MS)"/>
                <a:cs typeface="Calibri (MS)"/>
                <a:sym typeface="Calibri (MS)"/>
              </a:rPr>
              <a:t>231.Learn WoW, build a system, enhance competency which you can take with you. Item 219.</a:t>
            </a:r>
          </a:p>
          <a:p>
            <a:pPr algn="l">
              <a:lnSpc>
                <a:spcPts val="1620"/>
              </a:lnSpc>
            </a:pPr>
            <a:r>
              <a:rPr lang="en-US" sz="1350" dirty="0">
                <a:solidFill>
                  <a:srgbClr val="757070"/>
                </a:solidFill>
                <a:latin typeface="Calibri (MS)"/>
                <a:ea typeface="Calibri (MS)"/>
                <a:cs typeface="Calibri (MS)"/>
                <a:sym typeface="Calibri (MS)"/>
              </a:rPr>
              <a:t>232. Keep looking for what you want. Stay on the course. </a:t>
            </a:r>
          </a:p>
          <a:p>
            <a:pPr algn="l">
              <a:lnSpc>
                <a:spcPts val="1620"/>
              </a:lnSpc>
            </a:pPr>
            <a:r>
              <a:rPr lang="en-US" sz="1350" dirty="0">
                <a:solidFill>
                  <a:srgbClr val="757070"/>
                </a:solidFill>
                <a:latin typeface="Calibri (MS)"/>
                <a:ea typeface="Calibri (MS)"/>
                <a:cs typeface="Calibri (MS)"/>
                <a:sym typeface="Calibri (MS)"/>
              </a:rPr>
              <a:t>233. Not correct. =&gt;we have different way of working. ( rephrase) Although there are many conflicts in reality…, I have different opinions. </a:t>
            </a:r>
          </a:p>
          <a:p>
            <a:pPr algn="l">
              <a:lnSpc>
                <a:spcPts val="1620"/>
              </a:lnSpc>
            </a:pPr>
            <a:r>
              <a:rPr lang="en-US" sz="1350" dirty="0">
                <a:solidFill>
                  <a:srgbClr val="757070"/>
                </a:solidFill>
                <a:latin typeface="Calibri (MS)"/>
                <a:ea typeface="Calibri (MS)"/>
                <a:cs typeface="Calibri (MS)"/>
                <a:sym typeface="Calibri (MS)"/>
              </a:rPr>
              <a:t>234. Don’t try to correct others’ WoW or attitude. If they don’t ask / request. Item 236</a:t>
            </a:r>
          </a:p>
          <a:p>
            <a:pPr algn="l">
              <a:lnSpc>
                <a:spcPts val="1620"/>
              </a:lnSpc>
            </a:pPr>
            <a:r>
              <a:rPr lang="en-US" sz="1350" dirty="0">
                <a:solidFill>
                  <a:srgbClr val="757070"/>
                </a:solidFill>
                <a:latin typeface="Calibri (MS)"/>
                <a:ea typeface="Calibri (MS)"/>
                <a:cs typeface="Calibri (MS)"/>
                <a:sym typeface="Calibri (MS)"/>
              </a:rPr>
              <a:t>235.Don’t debate people or blame. They need to solve their problems themselves. Don’t criticize.  Don't be asshole</a:t>
            </a:r>
          </a:p>
          <a:p>
            <a:pPr algn="l">
              <a:lnSpc>
                <a:spcPts val="1620"/>
              </a:lnSpc>
            </a:pPr>
            <a:r>
              <a:rPr lang="en-US" sz="1350" dirty="0">
                <a:solidFill>
                  <a:srgbClr val="757070"/>
                </a:solidFill>
                <a:latin typeface="Calibri (MS)"/>
                <a:ea typeface="Calibri (MS)"/>
                <a:cs typeface="Calibri (MS)"/>
                <a:sym typeface="Calibri (MS)"/>
              </a:rPr>
              <a:t>236. You get No pay when you complain to others.  And fools will hate you and wise will thank you. No one will correct mistake when you yell at him/her.</a:t>
            </a:r>
          </a:p>
          <a:p>
            <a:pPr algn="l">
              <a:lnSpc>
                <a:spcPts val="1620"/>
              </a:lnSpc>
            </a:pPr>
            <a:r>
              <a:rPr lang="en-US" sz="1350" dirty="0">
                <a:solidFill>
                  <a:srgbClr val="757070"/>
                </a:solidFill>
                <a:latin typeface="Calibri (MS)"/>
                <a:ea typeface="Calibri (MS)"/>
                <a:cs typeface="Calibri (MS)"/>
                <a:sym typeface="Calibri (MS)"/>
              </a:rPr>
              <a:t>237.Stop unnecessary talking or stop talking deliberately. Item 278.</a:t>
            </a:r>
          </a:p>
          <a:p>
            <a:pPr algn="l">
              <a:lnSpc>
                <a:spcPts val="1620"/>
              </a:lnSpc>
            </a:pPr>
            <a:r>
              <a:rPr lang="en-US" sz="1350" dirty="0">
                <a:solidFill>
                  <a:srgbClr val="757070"/>
                </a:solidFill>
                <a:latin typeface="Calibri (MS)"/>
                <a:ea typeface="Calibri (MS)"/>
                <a:cs typeface="Calibri (MS)"/>
                <a:sym typeface="Calibri (MS)"/>
              </a:rPr>
              <a:t>238.What do you believe? And how do you react/response? And are you willing to stick with that? Fact or news or rumors.</a:t>
            </a:r>
          </a:p>
          <a:p>
            <a:pPr algn="l">
              <a:lnSpc>
                <a:spcPts val="1620"/>
              </a:lnSpc>
            </a:pPr>
            <a:r>
              <a:rPr lang="en-US" sz="1350" dirty="0">
                <a:solidFill>
                  <a:srgbClr val="757070"/>
                </a:solidFill>
                <a:latin typeface="Calibri (MS)"/>
                <a:ea typeface="Calibri (MS)"/>
                <a:cs typeface="Calibri (MS)"/>
                <a:sym typeface="Calibri (MS)"/>
              </a:rPr>
              <a:t>239. Waiting and caring needs time and patience.</a:t>
            </a:r>
          </a:p>
          <a:p>
            <a:pPr algn="l">
              <a:lnSpc>
                <a:spcPts val="1620"/>
              </a:lnSpc>
            </a:pPr>
            <a:r>
              <a:rPr lang="en-US" sz="1350" dirty="0">
                <a:solidFill>
                  <a:srgbClr val="757070"/>
                </a:solidFill>
                <a:latin typeface="Calibri (MS)"/>
                <a:ea typeface="Calibri (MS)"/>
                <a:cs typeface="Calibri (MS)"/>
                <a:sym typeface="Calibri (MS)"/>
              </a:rPr>
              <a:t>240. Find out who can help you or give you suggestions when you have troubles. Write it down.</a:t>
            </a:r>
          </a:p>
          <a:p>
            <a:pPr algn="l">
              <a:lnSpc>
                <a:spcPts val="1620"/>
              </a:lnSpc>
            </a:pPr>
            <a:r>
              <a:rPr lang="en-US" sz="1350" dirty="0">
                <a:solidFill>
                  <a:srgbClr val="757070"/>
                </a:solidFill>
                <a:latin typeface="Calibri (MS)"/>
                <a:ea typeface="Calibri (MS)"/>
                <a:cs typeface="Calibri (MS)"/>
                <a:sym typeface="Calibri (MS)"/>
              </a:rPr>
              <a:t>241. Do not do those things again if you already are familiar with and it won’t generate more benefit if you cannot get a deep thought on it. Or do it faster.</a:t>
            </a:r>
          </a:p>
          <a:p>
            <a:pPr algn="l">
              <a:lnSpc>
                <a:spcPts val="1620"/>
              </a:lnSpc>
            </a:pPr>
            <a:r>
              <a:rPr lang="en-US" sz="1350" dirty="0">
                <a:solidFill>
                  <a:srgbClr val="757070"/>
                </a:solidFill>
                <a:latin typeface="Calibri (MS)"/>
                <a:ea typeface="Calibri (MS)"/>
                <a:cs typeface="Calibri (MS)"/>
                <a:sym typeface="Calibri (MS)"/>
              </a:rPr>
              <a:t>242. Focus on solving problems then you will forget your emotion.</a:t>
            </a:r>
          </a:p>
          <a:p>
            <a:pPr algn="l">
              <a:lnSpc>
                <a:spcPts val="1620"/>
              </a:lnSpc>
            </a:pPr>
            <a:r>
              <a:rPr lang="en-US" sz="1350" dirty="0">
                <a:solidFill>
                  <a:srgbClr val="757070"/>
                </a:solidFill>
                <a:latin typeface="Calibri (MS)"/>
                <a:ea typeface="Calibri (MS)"/>
                <a:cs typeface="Calibri (MS)"/>
                <a:sym typeface="Calibri (MS)"/>
              </a:rPr>
              <a:t>243. Keeping busy is not good, you won’t get time to think. To check latest industrial status/movement. Avoid blindly busy. What is the goal / target.</a:t>
            </a:r>
          </a:p>
          <a:p>
            <a:pPr algn="l">
              <a:lnSpc>
                <a:spcPts val="1620"/>
              </a:lnSpc>
            </a:pPr>
            <a:r>
              <a:rPr lang="en-US" sz="1350" dirty="0">
                <a:solidFill>
                  <a:srgbClr val="757070"/>
                </a:solidFill>
                <a:latin typeface="Calibri (MS)"/>
                <a:ea typeface="Calibri (MS)"/>
                <a:cs typeface="Calibri (MS)"/>
                <a:sym typeface="Calibri (MS)"/>
              </a:rPr>
              <a:t>244. Make own checklist/principles. Like this sheet</a:t>
            </a:r>
          </a:p>
          <a:p>
            <a:pPr algn="l">
              <a:lnSpc>
                <a:spcPts val="1620"/>
              </a:lnSpc>
            </a:pPr>
            <a:r>
              <a:rPr lang="en-US" sz="1350" dirty="0">
                <a:solidFill>
                  <a:srgbClr val="757070"/>
                </a:solidFill>
                <a:latin typeface="Calibri (MS)"/>
                <a:ea typeface="Calibri (MS)"/>
                <a:cs typeface="Calibri (MS)"/>
                <a:sym typeface="Calibri (MS)"/>
              </a:rPr>
              <a:t>245. Soft skill to communicate with your team members, leaders and managers.</a:t>
            </a:r>
          </a:p>
          <a:p>
            <a:pPr algn="l">
              <a:lnSpc>
                <a:spcPts val="1620"/>
              </a:lnSpc>
            </a:pPr>
            <a:r>
              <a:rPr lang="en-US" sz="1350" dirty="0">
                <a:solidFill>
                  <a:srgbClr val="757070"/>
                </a:solidFill>
                <a:latin typeface="Calibri (MS)"/>
                <a:ea typeface="Calibri (MS)"/>
                <a:cs typeface="Calibri (MS)"/>
                <a:sym typeface="Calibri (MS)"/>
              </a:rPr>
              <a:t>246.What do you lack for being a good engineer, leader and father… more practices. </a:t>
            </a:r>
          </a:p>
          <a:p>
            <a:pPr algn="l">
              <a:lnSpc>
                <a:spcPts val="1620"/>
              </a:lnSpc>
            </a:pPr>
            <a:r>
              <a:rPr lang="en-US" sz="1350" dirty="0">
                <a:solidFill>
                  <a:srgbClr val="757070"/>
                </a:solidFill>
                <a:latin typeface="Calibri (MS)"/>
                <a:ea typeface="Calibri (MS)"/>
                <a:cs typeface="Calibri (MS)"/>
                <a:sym typeface="Calibri (MS)"/>
              </a:rPr>
              <a:t>247. Reduce the frequency of checking email and real time notification should be turn off. ( scroll social media)</a:t>
            </a:r>
          </a:p>
          <a:p>
            <a:pPr algn="l">
              <a:lnSpc>
                <a:spcPts val="1620"/>
              </a:lnSpc>
            </a:pPr>
            <a:r>
              <a:rPr lang="en-US" sz="1350" dirty="0">
                <a:solidFill>
                  <a:srgbClr val="757070"/>
                </a:solidFill>
                <a:latin typeface="Calibri (MS)"/>
                <a:ea typeface="Calibri (MS)"/>
                <a:cs typeface="Calibri (MS)"/>
                <a:sym typeface="Calibri (MS)"/>
              </a:rPr>
              <a:t>248. Don’t be over passionate on the tasks which is not belong to you. At least, hide it.</a:t>
            </a:r>
          </a:p>
          <a:p>
            <a:pPr algn="l">
              <a:lnSpc>
                <a:spcPts val="1620"/>
              </a:lnSpc>
            </a:pPr>
            <a:r>
              <a:rPr lang="en-US" sz="1350" dirty="0">
                <a:solidFill>
                  <a:srgbClr val="757070"/>
                </a:solidFill>
                <a:latin typeface="Calibri (MS)"/>
                <a:ea typeface="Calibri (MS)"/>
                <a:cs typeface="Calibri (MS)"/>
                <a:sym typeface="Calibri (MS)"/>
              </a:rPr>
              <a:t>249.Don’t over-do, proactive, some co-operation between departments may cause political issue. To set a line / boundary.</a:t>
            </a:r>
          </a:p>
          <a:p>
            <a:pPr algn="l">
              <a:lnSpc>
                <a:spcPts val="1620"/>
              </a:lnSpc>
            </a:pPr>
            <a:r>
              <a:rPr lang="en-US" sz="1350" dirty="0">
                <a:solidFill>
                  <a:srgbClr val="757070"/>
                </a:solidFill>
                <a:latin typeface="Calibri (MS)"/>
                <a:ea typeface="Calibri (MS)"/>
                <a:cs typeface="Calibri (MS)"/>
                <a:sym typeface="Calibri (MS)"/>
              </a:rPr>
              <a:t>250. Try to co-work with slacker, procrastinator and ass-hole.</a:t>
            </a:r>
          </a:p>
          <a:p>
            <a:pPr algn="l">
              <a:lnSpc>
                <a:spcPts val="1620"/>
              </a:lnSpc>
            </a:pPr>
            <a:r>
              <a:rPr lang="en-US" sz="1350" dirty="0">
                <a:solidFill>
                  <a:srgbClr val="757070"/>
                </a:solidFill>
                <a:latin typeface="Calibri (MS)"/>
                <a:ea typeface="Calibri (MS)"/>
                <a:cs typeface="Calibri (MS)"/>
                <a:sym typeface="Calibri (MS)"/>
              </a:rPr>
              <a:t>251. Embrace it! If you're nervous, that's a good thing.  It means you are likely to succeed, so accept that and embrace it.</a:t>
            </a:r>
          </a:p>
          <a:p>
            <a:pPr algn="l">
              <a:lnSpc>
                <a:spcPts val="1620"/>
              </a:lnSpc>
            </a:pPr>
            <a:r>
              <a:rPr lang="en-US" sz="1350" dirty="0">
                <a:solidFill>
                  <a:srgbClr val="757070"/>
                </a:solidFill>
                <a:latin typeface="Calibri (MS)"/>
                <a:ea typeface="Calibri (MS)"/>
                <a:cs typeface="Calibri (MS)"/>
                <a:sym typeface="Calibri (MS)"/>
              </a:rPr>
              <a:t>252. Stick with plan, principle you will thank you in the future. Don’t give up but take a rest. Time can solve most of them.</a:t>
            </a:r>
          </a:p>
          <a:p>
            <a:pPr algn="l">
              <a:lnSpc>
                <a:spcPts val="1620"/>
              </a:lnSpc>
            </a:pPr>
            <a:r>
              <a:rPr lang="en-US" sz="1350" dirty="0">
                <a:solidFill>
                  <a:srgbClr val="757070"/>
                </a:solidFill>
                <a:latin typeface="Calibri (MS)"/>
                <a:ea typeface="Calibri (MS)"/>
                <a:cs typeface="Calibri (MS)"/>
                <a:sym typeface="Calibri (MS)"/>
              </a:rPr>
              <a:t>253.Difficulties, issue, problem, question, dilemma, obstacle,  bottleneck. Work with time. Setback, adversity.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21" y="234372"/>
            <a:ext cx="8961149" cy="10429137"/>
          </a:xfrm>
          <a:prstGeom prst="rect">
            <a:avLst/>
          </a:prstGeom>
        </p:spPr>
        <p:txBody>
          <a:bodyPr lIns="0" tIns="0" rIns="0" bIns="0" rtlCol="0" anchor="t">
            <a:spAutoFit/>
          </a:bodyPr>
          <a:lstStyle/>
          <a:p>
            <a:pPr algn="l">
              <a:lnSpc>
                <a:spcPts val="2160"/>
              </a:lnSpc>
            </a:pPr>
            <a:r>
              <a:rPr lang="en-US" sz="1800" dirty="0">
                <a:solidFill>
                  <a:srgbClr val="757070"/>
                </a:solidFill>
                <a:latin typeface="Calibri (MS)"/>
                <a:ea typeface="Calibri (MS)"/>
                <a:cs typeface="Calibri (MS)"/>
                <a:sym typeface="Calibri (MS)"/>
              </a:rPr>
              <a:t>254. Refresh / retrospective flow, system and CIP continuously improvement Program , </a:t>
            </a:r>
            <a:r>
              <a:rPr lang="en-US" sz="1800" dirty="0" err="1">
                <a:solidFill>
                  <a:srgbClr val="757070"/>
                </a:solidFill>
                <a:latin typeface="Calibri (MS)"/>
                <a:ea typeface="Calibri (MS)"/>
                <a:cs typeface="Calibri (MS)"/>
                <a:sym typeface="Calibri (MS)"/>
              </a:rPr>
              <a:t>kaizen.發展最佳系統解</a:t>
            </a:r>
            <a:r>
              <a:rPr lang="en-US" sz="1800" dirty="0">
                <a:solidFill>
                  <a:srgbClr val="757070"/>
                </a:solidFill>
                <a:latin typeface="Calibri (MS)"/>
                <a:ea typeface="Calibri (MS)"/>
                <a:cs typeface="Calibri (MS)"/>
                <a:sym typeface="Calibri (MS)"/>
              </a:rPr>
              <a:t>(Best Known Method, BKM)</a:t>
            </a:r>
          </a:p>
          <a:p>
            <a:pPr algn="l">
              <a:lnSpc>
                <a:spcPts val="2160"/>
              </a:lnSpc>
            </a:pPr>
            <a:r>
              <a:rPr lang="en-US" sz="1800" dirty="0">
                <a:solidFill>
                  <a:srgbClr val="757070"/>
                </a:solidFill>
                <a:latin typeface="Calibri (MS)"/>
                <a:ea typeface="Calibri (MS)"/>
                <a:cs typeface="Calibri (MS)"/>
                <a:sym typeface="Calibri (MS)"/>
              </a:rPr>
              <a:t>255. Finding problems and developing thoughtful questions are survival skills, whether in the workplace or in daily living.</a:t>
            </a:r>
          </a:p>
          <a:p>
            <a:pPr algn="l">
              <a:lnSpc>
                <a:spcPts val="2160"/>
              </a:lnSpc>
            </a:pPr>
            <a:r>
              <a:rPr lang="en-US" sz="1800" dirty="0">
                <a:solidFill>
                  <a:srgbClr val="757070"/>
                </a:solidFill>
                <a:latin typeface="Calibri (MS)"/>
                <a:ea typeface="Calibri (MS)"/>
                <a:cs typeface="Calibri (MS)"/>
                <a:sym typeface="Calibri (MS)"/>
              </a:rPr>
              <a:t>256. Not over-reply email next time if no feedback. Be patient.</a:t>
            </a:r>
          </a:p>
          <a:p>
            <a:pPr algn="l">
              <a:lnSpc>
                <a:spcPts val="2160"/>
              </a:lnSpc>
            </a:pPr>
            <a:r>
              <a:rPr lang="en-US" sz="1800" dirty="0">
                <a:solidFill>
                  <a:srgbClr val="757070"/>
                </a:solidFill>
                <a:latin typeface="Calibri (MS)"/>
                <a:ea typeface="Calibri (MS)"/>
                <a:cs typeface="Calibri (MS)"/>
                <a:sym typeface="Calibri (MS)"/>
              </a:rPr>
              <a:t>257. Try to ask / collect salary information from headhunter. ( important date, Off date, bonus, salary, interest increment, ESPP, RSU and children welfare and physical examination, Self-Service Welfare Plan. ) Total package, GYM facility, free lunch. (gross -&gt; net)</a:t>
            </a:r>
          </a:p>
          <a:p>
            <a:pPr algn="l">
              <a:lnSpc>
                <a:spcPts val="2160"/>
              </a:lnSpc>
            </a:pPr>
            <a:r>
              <a:rPr lang="en-US" sz="1800" dirty="0">
                <a:solidFill>
                  <a:srgbClr val="757070"/>
                </a:solidFill>
                <a:latin typeface="Calibri (MS)"/>
                <a:ea typeface="Calibri (MS)"/>
                <a:cs typeface="Calibri (MS)"/>
                <a:sym typeface="Calibri (MS)"/>
              </a:rPr>
              <a:t>258. And new skill should be added and learned annually.</a:t>
            </a:r>
          </a:p>
          <a:p>
            <a:pPr algn="l">
              <a:lnSpc>
                <a:spcPts val="2160"/>
              </a:lnSpc>
            </a:pPr>
            <a:r>
              <a:rPr lang="en-US" sz="1800" dirty="0">
                <a:solidFill>
                  <a:srgbClr val="757070"/>
                </a:solidFill>
                <a:latin typeface="Calibri (MS)"/>
                <a:ea typeface="Calibri (MS)"/>
                <a:cs typeface="Calibri (MS)"/>
                <a:sym typeface="Calibri (MS)"/>
              </a:rPr>
              <a:t>259. Early trigger and inform to the team ( as DRI or stakeholder) for applying holiday.</a:t>
            </a:r>
          </a:p>
          <a:p>
            <a:pPr algn="l">
              <a:lnSpc>
                <a:spcPts val="2160"/>
              </a:lnSpc>
            </a:pPr>
            <a:r>
              <a:rPr lang="en-US" sz="1800" dirty="0">
                <a:solidFill>
                  <a:srgbClr val="757070"/>
                </a:solidFill>
                <a:latin typeface="Calibri (MS)"/>
                <a:ea typeface="Calibri (MS)"/>
                <a:cs typeface="Calibri (MS)"/>
                <a:sym typeface="Calibri (MS)"/>
              </a:rPr>
              <a:t>260.They can take responsibility as adults.</a:t>
            </a:r>
          </a:p>
          <a:p>
            <a:pPr algn="l">
              <a:lnSpc>
                <a:spcPts val="2160"/>
              </a:lnSpc>
            </a:pPr>
            <a:r>
              <a:rPr lang="en-US" sz="1800" dirty="0">
                <a:solidFill>
                  <a:srgbClr val="757070"/>
                </a:solidFill>
                <a:latin typeface="Calibri (MS)"/>
                <a:ea typeface="Calibri (MS)"/>
                <a:cs typeface="Calibri (MS)"/>
                <a:sym typeface="Calibri (MS)"/>
              </a:rPr>
              <a:t>261. Don’t be an ass hole. ( from zero rule.)</a:t>
            </a:r>
          </a:p>
          <a:p>
            <a:pPr algn="l">
              <a:lnSpc>
                <a:spcPts val="2160"/>
              </a:lnSpc>
            </a:pPr>
            <a:r>
              <a:rPr lang="en-US" sz="1800" dirty="0">
                <a:solidFill>
                  <a:srgbClr val="757070"/>
                </a:solidFill>
                <a:latin typeface="Calibri (MS)"/>
                <a:ea typeface="Calibri (MS)"/>
                <a:cs typeface="Calibri (MS)"/>
                <a:sym typeface="Calibri (MS)"/>
              </a:rPr>
              <a:t>262. Finding a mistake is good thing. Failure is a process and to success.</a:t>
            </a:r>
          </a:p>
          <a:p>
            <a:pPr algn="l">
              <a:lnSpc>
                <a:spcPts val="2160"/>
              </a:lnSpc>
            </a:pPr>
            <a:r>
              <a:rPr lang="en-US" sz="1800" dirty="0">
                <a:solidFill>
                  <a:srgbClr val="757070"/>
                </a:solidFill>
                <a:latin typeface="Calibri (MS)"/>
                <a:ea typeface="Calibri (MS)"/>
                <a:cs typeface="Calibri (MS)"/>
                <a:sym typeface="Calibri (MS)"/>
              </a:rPr>
              <a:t>263.don’t do dumb shit. Notice you may be regretful after speaking out. Protect yourself.</a:t>
            </a:r>
          </a:p>
          <a:p>
            <a:pPr algn="l">
              <a:lnSpc>
                <a:spcPts val="2160"/>
              </a:lnSpc>
            </a:pPr>
            <a:r>
              <a:rPr lang="en-US" sz="1800" dirty="0">
                <a:solidFill>
                  <a:srgbClr val="757070"/>
                </a:solidFill>
                <a:latin typeface="Calibri (MS)"/>
                <a:ea typeface="Calibri (MS)"/>
                <a:cs typeface="Calibri (MS)"/>
                <a:sym typeface="Calibri (MS)"/>
              </a:rPr>
              <a:t>264. Use auto email reply when you are busy. Item 1. directly not reply. Email is big noise.</a:t>
            </a:r>
          </a:p>
          <a:p>
            <a:pPr algn="l">
              <a:lnSpc>
                <a:spcPts val="2160"/>
              </a:lnSpc>
            </a:pPr>
            <a:r>
              <a:rPr lang="en-US" sz="1800" dirty="0">
                <a:solidFill>
                  <a:srgbClr val="757070"/>
                </a:solidFill>
                <a:latin typeface="Calibri (MS)"/>
                <a:ea typeface="Calibri (MS)"/>
                <a:cs typeface="Calibri (MS)"/>
                <a:sym typeface="Calibri (MS)"/>
              </a:rPr>
              <a:t>265. Forget about what you achieved. And understand why you fail.</a:t>
            </a:r>
          </a:p>
          <a:p>
            <a:pPr algn="l">
              <a:lnSpc>
                <a:spcPts val="2160"/>
              </a:lnSpc>
            </a:pPr>
            <a:r>
              <a:rPr lang="en-US" sz="1800" dirty="0">
                <a:solidFill>
                  <a:srgbClr val="757070"/>
                </a:solidFill>
                <a:latin typeface="Calibri (MS)"/>
                <a:ea typeface="Calibri (MS)"/>
                <a:cs typeface="Calibri (MS)"/>
                <a:sym typeface="Calibri (MS)"/>
              </a:rPr>
              <a:t>266. Use common language ( for each position ) to avoid misunderstand. Boundary.</a:t>
            </a:r>
          </a:p>
          <a:p>
            <a:pPr algn="l">
              <a:lnSpc>
                <a:spcPts val="2160"/>
              </a:lnSpc>
            </a:pPr>
            <a:r>
              <a:rPr lang="en-US" sz="1800" dirty="0">
                <a:solidFill>
                  <a:srgbClr val="757070"/>
                </a:solidFill>
                <a:latin typeface="Calibri (MS)"/>
                <a:ea typeface="Calibri (MS)"/>
                <a:cs typeface="Calibri (MS)"/>
                <a:sym typeface="Calibri (MS)"/>
              </a:rPr>
              <a:t>267. Keep your mouth shunt on purpose, try to reply email later. Set a delayed delivery. Item 1.</a:t>
            </a:r>
          </a:p>
          <a:p>
            <a:pPr algn="l">
              <a:lnSpc>
                <a:spcPts val="2160"/>
              </a:lnSpc>
            </a:pPr>
            <a:r>
              <a:rPr lang="en-US" sz="1800" dirty="0">
                <a:solidFill>
                  <a:srgbClr val="757070"/>
                </a:solidFill>
                <a:latin typeface="Calibri (MS)"/>
                <a:ea typeface="Calibri (MS)"/>
                <a:cs typeface="Calibri (MS)"/>
                <a:sym typeface="Calibri (MS)"/>
              </a:rPr>
              <a:t>268. Clean up your desk and add coming task in your calendar and turn off your laptop when you leave office.  ( take it as ritual) item 211.</a:t>
            </a:r>
          </a:p>
          <a:p>
            <a:pPr algn="l">
              <a:lnSpc>
                <a:spcPts val="2160"/>
              </a:lnSpc>
            </a:pPr>
            <a:r>
              <a:rPr lang="en-US" sz="1800" dirty="0">
                <a:solidFill>
                  <a:srgbClr val="757070"/>
                </a:solidFill>
                <a:latin typeface="Calibri (MS)"/>
                <a:ea typeface="Calibri (MS)"/>
                <a:cs typeface="Calibri (MS)"/>
                <a:sym typeface="Calibri (MS)"/>
              </a:rPr>
              <a:t>269. Take some rests for the future, your body and mentality and your families.</a:t>
            </a:r>
          </a:p>
          <a:p>
            <a:pPr algn="l">
              <a:lnSpc>
                <a:spcPts val="2160"/>
              </a:lnSpc>
            </a:pPr>
            <a:r>
              <a:rPr lang="en-US" sz="1800" dirty="0">
                <a:solidFill>
                  <a:srgbClr val="757070"/>
                </a:solidFill>
                <a:latin typeface="Calibri (MS)"/>
                <a:ea typeface="Calibri (MS)"/>
                <a:cs typeface="Calibri (MS)"/>
                <a:sym typeface="Calibri (MS)"/>
              </a:rPr>
              <a:t>270.Sometimes we need to commit this job is a job to earn money for your family. It is about asset allocation. It may take longer to find the job you want to look for. Two engines. Financial intelligence. </a:t>
            </a:r>
          </a:p>
          <a:p>
            <a:pPr algn="l">
              <a:lnSpc>
                <a:spcPts val="2160"/>
              </a:lnSpc>
            </a:pPr>
            <a:r>
              <a:rPr lang="en-US" sz="1800" dirty="0">
                <a:solidFill>
                  <a:srgbClr val="757070"/>
                </a:solidFill>
                <a:latin typeface="Calibri (MS)"/>
                <a:ea typeface="Calibri (MS)"/>
                <a:cs typeface="Calibri (MS)"/>
                <a:sym typeface="Calibri (MS)"/>
              </a:rPr>
              <a:t>271. You don’t need to move fast but move with stable steps.</a:t>
            </a:r>
          </a:p>
          <a:p>
            <a:pPr algn="l">
              <a:lnSpc>
                <a:spcPts val="2160"/>
              </a:lnSpc>
            </a:pPr>
            <a:r>
              <a:rPr lang="en-US" sz="1800" dirty="0">
                <a:solidFill>
                  <a:srgbClr val="757070"/>
                </a:solidFill>
                <a:latin typeface="Calibri (MS)"/>
                <a:ea typeface="Calibri (MS)"/>
                <a:cs typeface="Calibri (MS)"/>
                <a:sym typeface="Calibri (MS)"/>
              </a:rPr>
              <a:t>272. "If I do a job in 30 minutes it’s because I spent 10 years learning how to do that in 30 minutes. You owe me for the years, not the minutes."​ But AI may take 1 min.</a:t>
            </a:r>
          </a:p>
          <a:p>
            <a:pPr algn="l">
              <a:lnSpc>
                <a:spcPts val="2160"/>
              </a:lnSpc>
            </a:pPr>
            <a:r>
              <a:rPr lang="en-US" sz="1800" dirty="0">
                <a:solidFill>
                  <a:srgbClr val="757070"/>
                </a:solidFill>
                <a:latin typeface="Calibri (MS)"/>
                <a:ea typeface="Calibri (MS)"/>
                <a:cs typeface="Calibri (MS)"/>
                <a:sym typeface="Calibri (MS)"/>
              </a:rPr>
              <a:t>273. be cruel to your colleagues. Their growth is not your responsibility. Item 234, 236</a:t>
            </a:r>
          </a:p>
          <a:p>
            <a:pPr algn="l">
              <a:lnSpc>
                <a:spcPts val="2160"/>
              </a:lnSpc>
            </a:pPr>
            <a:r>
              <a:rPr lang="en-US" sz="1800" dirty="0">
                <a:solidFill>
                  <a:srgbClr val="757070"/>
                </a:solidFill>
                <a:latin typeface="Calibri (MS)"/>
                <a:ea typeface="Calibri (MS)"/>
                <a:cs typeface="Calibri (MS)"/>
                <a:sym typeface="Calibri (MS)"/>
              </a:rPr>
              <a:t>274. Understand market rules, so you may not go to wrong way and save time.</a:t>
            </a:r>
          </a:p>
          <a:p>
            <a:pPr algn="l">
              <a:lnSpc>
                <a:spcPts val="2160"/>
              </a:lnSpc>
            </a:pPr>
            <a:r>
              <a:rPr lang="en-US" sz="1800" dirty="0">
                <a:solidFill>
                  <a:srgbClr val="757070"/>
                </a:solidFill>
                <a:latin typeface="Calibri (MS)"/>
                <a:ea typeface="Calibri (MS)"/>
                <a:cs typeface="Calibri (MS)"/>
                <a:sym typeface="Calibri (MS)"/>
              </a:rPr>
              <a:t>275.Use better naming, even longer string to identify. Therefore, it is easier to find the document. Item 203</a:t>
            </a:r>
          </a:p>
          <a:p>
            <a:pPr algn="l">
              <a:lnSpc>
                <a:spcPts val="2160"/>
              </a:lnSpc>
            </a:pPr>
            <a:r>
              <a:rPr lang="en-US" sz="1800" dirty="0">
                <a:solidFill>
                  <a:srgbClr val="757070"/>
                </a:solidFill>
                <a:latin typeface="Calibri (MS)"/>
                <a:ea typeface="Calibri (MS)"/>
                <a:cs typeface="Calibri (MS)"/>
                <a:sym typeface="Calibri (MS)"/>
              </a:rPr>
              <a:t>276. Use one page to describe current project status, flow and identify folder / tools to be used. DRI / schedule.</a:t>
            </a:r>
          </a:p>
          <a:p>
            <a:pPr algn="l">
              <a:lnSpc>
                <a:spcPts val="2160"/>
              </a:lnSpc>
            </a:pPr>
            <a:r>
              <a:rPr lang="en-US" sz="1800" dirty="0">
                <a:solidFill>
                  <a:srgbClr val="757070"/>
                </a:solidFill>
                <a:latin typeface="Calibri (MS)"/>
                <a:ea typeface="Calibri (MS)"/>
                <a:cs typeface="Calibri (MS)"/>
                <a:sym typeface="Calibri (MS)"/>
              </a:rPr>
              <a:t>277. Don’t be afraid to re-start. Through redoing one thing, you will optimize the efficiency and understand more. ( you may teach others what you learned. To build an expert mindset.</a:t>
            </a:r>
          </a:p>
          <a:p>
            <a:pPr algn="l">
              <a:lnSpc>
                <a:spcPts val="2160"/>
              </a:lnSpc>
            </a:pPr>
            <a:r>
              <a:rPr lang="en-US" sz="1800" dirty="0">
                <a:solidFill>
                  <a:srgbClr val="757070"/>
                </a:solidFill>
                <a:latin typeface="Calibri (MS)"/>
                <a:ea typeface="Calibri (MS)"/>
                <a:cs typeface="Calibri (MS)"/>
                <a:sym typeface="Calibri (MS)"/>
              </a:rPr>
              <a:t>278. Don’t make joke which others may not take it as a joke.  Keep mouth shunt and focus on tasks.  Item 292. Keep silent before you reach the goal.</a:t>
            </a:r>
          </a:p>
        </p:txBody>
      </p:sp>
      <p:sp>
        <p:nvSpPr>
          <p:cNvPr id="3" name="TextBox 3"/>
          <p:cNvSpPr txBox="1"/>
          <p:nvPr/>
        </p:nvSpPr>
        <p:spPr>
          <a:xfrm>
            <a:off x="9657931" y="17126"/>
            <a:ext cx="8021545" cy="8708746"/>
          </a:xfrm>
          <a:prstGeom prst="rect">
            <a:avLst/>
          </a:prstGeom>
        </p:spPr>
        <p:txBody>
          <a:bodyPr lIns="0" tIns="0" rIns="0" bIns="0" rtlCol="0" anchor="t">
            <a:spAutoFit/>
          </a:bodyPr>
          <a:lstStyle/>
          <a:p>
            <a:pPr algn="l">
              <a:lnSpc>
                <a:spcPts val="1980"/>
              </a:lnSpc>
            </a:pPr>
            <a:r>
              <a:rPr lang="en-US" sz="1650" dirty="0">
                <a:solidFill>
                  <a:srgbClr val="757070"/>
                </a:solidFill>
                <a:latin typeface="Calibri (MS)"/>
                <a:ea typeface="Calibri (MS)"/>
                <a:cs typeface="Calibri (MS)"/>
                <a:sym typeface="Calibri (MS)"/>
              </a:rPr>
              <a:t>279. Don’t ask questions if you won’t never get a correct answers or reply. Or it is too sensitive. ( too personal)</a:t>
            </a:r>
          </a:p>
          <a:p>
            <a:pPr algn="l">
              <a:lnSpc>
                <a:spcPts val="1980"/>
              </a:lnSpc>
            </a:pPr>
            <a:r>
              <a:rPr lang="en-US" sz="1650" dirty="0">
                <a:solidFill>
                  <a:srgbClr val="757070"/>
                </a:solidFill>
                <a:latin typeface="Calibri (MS)"/>
                <a:ea typeface="Calibri (MS)"/>
                <a:cs typeface="Calibri (MS)"/>
                <a:sym typeface="Calibri (MS)"/>
              </a:rPr>
              <a:t>280. If not understandable, “please ask again by using other words”. Can you elaborate more?  And what is the goal purpose.</a:t>
            </a:r>
          </a:p>
          <a:p>
            <a:pPr algn="l">
              <a:lnSpc>
                <a:spcPts val="1980"/>
              </a:lnSpc>
            </a:pPr>
            <a:r>
              <a:rPr lang="en-US" sz="1650" dirty="0">
                <a:solidFill>
                  <a:srgbClr val="757070"/>
                </a:solidFill>
                <a:latin typeface="Calibri (MS)"/>
                <a:ea typeface="Calibri (MS)"/>
                <a:cs typeface="Calibri (MS)"/>
                <a:sym typeface="Calibri (MS)"/>
              </a:rPr>
              <a:t>281. Need to lock the screen when leaving., clean up desktop especially holiday.</a:t>
            </a:r>
          </a:p>
          <a:p>
            <a:pPr algn="l">
              <a:lnSpc>
                <a:spcPts val="1980"/>
              </a:lnSpc>
            </a:pPr>
            <a:r>
              <a:rPr lang="en-US" sz="1650" dirty="0">
                <a:solidFill>
                  <a:srgbClr val="757070"/>
                </a:solidFill>
                <a:latin typeface="Calibri (MS)"/>
                <a:ea typeface="Calibri (MS)"/>
                <a:cs typeface="Calibri (MS)"/>
                <a:sym typeface="Calibri (MS)"/>
              </a:rPr>
              <a:t>282. Say “you are right” instead of defense. Ex, but.</a:t>
            </a:r>
          </a:p>
          <a:p>
            <a:pPr algn="l">
              <a:lnSpc>
                <a:spcPts val="1980"/>
              </a:lnSpc>
            </a:pPr>
            <a:r>
              <a:rPr lang="en-US" sz="1650" dirty="0">
                <a:solidFill>
                  <a:srgbClr val="757070"/>
                </a:solidFill>
                <a:latin typeface="Calibri (MS)"/>
                <a:ea typeface="Calibri (MS)"/>
                <a:cs typeface="Calibri (MS)"/>
                <a:sym typeface="Calibri (MS)"/>
              </a:rPr>
              <a:t>283. To accept uncertainty. That is a normal condition in the future. Changing is an unchangeable fact. Well-prepared, strong-willed, growth mindset and mature-minded. Item 296.</a:t>
            </a:r>
          </a:p>
          <a:p>
            <a:pPr algn="l">
              <a:lnSpc>
                <a:spcPts val="1980"/>
              </a:lnSpc>
            </a:pPr>
            <a:r>
              <a:rPr lang="en-US" sz="1650" dirty="0">
                <a:solidFill>
                  <a:srgbClr val="757070"/>
                </a:solidFill>
                <a:latin typeface="Calibri (MS)"/>
                <a:ea typeface="Calibri (MS)"/>
                <a:cs typeface="Calibri (MS)"/>
                <a:sym typeface="Calibri (MS)"/>
              </a:rPr>
              <a:t>284. Raise your hand and call for help if this is not in your control. Role/ responsibility.</a:t>
            </a:r>
          </a:p>
          <a:p>
            <a:pPr algn="l">
              <a:lnSpc>
                <a:spcPts val="1980"/>
              </a:lnSpc>
            </a:pPr>
            <a:r>
              <a:rPr lang="en-US" sz="1650" dirty="0">
                <a:solidFill>
                  <a:srgbClr val="757070"/>
                </a:solidFill>
                <a:latin typeface="Calibri (MS)"/>
                <a:ea typeface="Calibri (MS)"/>
                <a:cs typeface="Calibri (MS)"/>
                <a:sym typeface="Calibri (MS)"/>
              </a:rPr>
              <a:t>285. Dare to reject the requests which are not reasonable. Be careful with office politics.  State R/R clearly.</a:t>
            </a:r>
          </a:p>
          <a:p>
            <a:pPr algn="l">
              <a:lnSpc>
                <a:spcPts val="1980"/>
              </a:lnSpc>
            </a:pPr>
            <a:r>
              <a:rPr lang="en-US" sz="1650" dirty="0">
                <a:solidFill>
                  <a:srgbClr val="757070"/>
                </a:solidFill>
                <a:latin typeface="Calibri (MS)"/>
                <a:ea typeface="Calibri (MS)"/>
                <a:cs typeface="Calibri (MS)"/>
                <a:sym typeface="Calibri (MS)"/>
              </a:rPr>
              <a:t>286. You cannot do everything in one time. Set up a plan, breakdown the sub-tasks. Small win.</a:t>
            </a:r>
          </a:p>
          <a:p>
            <a:pPr algn="l">
              <a:lnSpc>
                <a:spcPts val="1980"/>
              </a:lnSpc>
            </a:pPr>
            <a:r>
              <a:rPr lang="en-US" sz="1650" dirty="0">
                <a:solidFill>
                  <a:srgbClr val="757070"/>
                </a:solidFill>
                <a:latin typeface="Calibri (MS)"/>
                <a:ea typeface="Calibri (MS)"/>
                <a:cs typeface="Calibri (MS)"/>
                <a:sym typeface="Calibri (MS)"/>
              </a:rPr>
              <a:t>287.Do right vs Do quick. It depends on situations. Item 312. fast fail and do It again. Finish vs start.</a:t>
            </a:r>
          </a:p>
          <a:p>
            <a:pPr algn="l">
              <a:lnSpc>
                <a:spcPts val="1980"/>
              </a:lnSpc>
            </a:pPr>
            <a:r>
              <a:rPr lang="en-US" sz="1650" dirty="0">
                <a:solidFill>
                  <a:srgbClr val="757070"/>
                </a:solidFill>
                <a:latin typeface="Calibri (MS)"/>
                <a:ea typeface="Calibri (MS)"/>
                <a:cs typeface="Calibri (MS)"/>
                <a:sym typeface="Calibri (MS)"/>
              </a:rPr>
              <a:t>288.No mercy. No one care who you are. World keep spinning whatever you think about it. Focus on what you want to achieve.</a:t>
            </a:r>
          </a:p>
          <a:p>
            <a:pPr algn="l">
              <a:lnSpc>
                <a:spcPts val="1980"/>
              </a:lnSpc>
            </a:pPr>
            <a:r>
              <a:rPr lang="en-US" sz="1650" dirty="0">
                <a:solidFill>
                  <a:srgbClr val="757070"/>
                </a:solidFill>
                <a:latin typeface="Calibri (MS)"/>
                <a:ea typeface="Calibri (MS)"/>
                <a:cs typeface="Calibri (MS)"/>
                <a:sym typeface="Calibri (MS)"/>
              </a:rPr>
              <a:t>289.Look the bright side, be optimistic.  </a:t>
            </a:r>
          </a:p>
          <a:p>
            <a:pPr algn="l">
              <a:lnSpc>
                <a:spcPts val="1980"/>
              </a:lnSpc>
            </a:pPr>
            <a:r>
              <a:rPr lang="en-US" sz="1650" dirty="0">
                <a:solidFill>
                  <a:srgbClr val="757070"/>
                </a:solidFill>
                <a:latin typeface="Calibri (MS)"/>
                <a:ea typeface="Calibri (MS)"/>
                <a:cs typeface="Calibri (MS)"/>
                <a:sym typeface="Calibri (MS)"/>
              </a:rPr>
              <a:t>290. State the responsibility and role clearly. R/R.</a:t>
            </a:r>
          </a:p>
          <a:p>
            <a:pPr algn="l">
              <a:lnSpc>
                <a:spcPts val="1980"/>
              </a:lnSpc>
            </a:pPr>
            <a:r>
              <a:rPr lang="en-US" sz="1650" dirty="0">
                <a:solidFill>
                  <a:srgbClr val="757070"/>
                </a:solidFill>
                <a:latin typeface="Calibri (MS)"/>
                <a:ea typeface="Calibri (MS)"/>
                <a:cs typeface="Calibri (MS)"/>
                <a:sym typeface="Calibri (MS)"/>
              </a:rPr>
              <a:t>291. Deliberately   not to engaged or not criticize and take a break. Be still, not pursuit” productivities.” chose the battle.</a:t>
            </a:r>
          </a:p>
          <a:p>
            <a:pPr algn="l">
              <a:lnSpc>
                <a:spcPts val="1980"/>
              </a:lnSpc>
            </a:pPr>
            <a:r>
              <a:rPr lang="en-US" sz="1650" dirty="0">
                <a:solidFill>
                  <a:srgbClr val="757070"/>
                </a:solidFill>
                <a:latin typeface="Calibri (MS)"/>
                <a:ea typeface="Calibri (MS)"/>
                <a:cs typeface="Calibri (MS)"/>
                <a:sym typeface="Calibri (MS)"/>
              </a:rPr>
              <a:t>292.Forget about emotion and focus on problem solving and grown. Improve the quality of life, better communication and WoW.</a:t>
            </a:r>
          </a:p>
          <a:p>
            <a:pPr algn="l">
              <a:lnSpc>
                <a:spcPts val="1980"/>
              </a:lnSpc>
            </a:pPr>
            <a:r>
              <a:rPr lang="en-US" sz="1650" dirty="0">
                <a:solidFill>
                  <a:srgbClr val="757070"/>
                </a:solidFill>
                <a:latin typeface="Calibri (MS)"/>
                <a:ea typeface="Calibri (MS)"/>
                <a:cs typeface="Calibri (MS)"/>
                <a:sym typeface="Calibri (MS)"/>
              </a:rPr>
              <a:t>293.Repeating is part of learning.  Try to enjoy it. Rep by rep, brick by brick.</a:t>
            </a:r>
          </a:p>
          <a:p>
            <a:pPr algn="l">
              <a:lnSpc>
                <a:spcPts val="1980"/>
              </a:lnSpc>
            </a:pPr>
            <a:r>
              <a:rPr lang="en-US" sz="1650" dirty="0">
                <a:solidFill>
                  <a:srgbClr val="757070"/>
                </a:solidFill>
                <a:latin typeface="Calibri (MS)"/>
                <a:ea typeface="Calibri (MS)"/>
                <a:cs typeface="Calibri (MS)"/>
                <a:sym typeface="Calibri (MS)"/>
              </a:rPr>
              <a:t>294.Go running/jogging, reading but not complaining or criticizing.</a:t>
            </a:r>
          </a:p>
          <a:p>
            <a:pPr algn="l">
              <a:lnSpc>
                <a:spcPts val="1980"/>
              </a:lnSpc>
            </a:pPr>
            <a:r>
              <a:rPr lang="en-US" sz="1650" dirty="0">
                <a:solidFill>
                  <a:srgbClr val="757070"/>
                </a:solidFill>
                <a:latin typeface="Calibri (MS)"/>
                <a:ea typeface="Calibri (MS)"/>
                <a:cs typeface="Calibri (MS)"/>
                <a:sym typeface="Calibri (MS)"/>
              </a:rPr>
              <a:t>295. You cannot survive  well without principles and rules. Or make it effectively.</a:t>
            </a:r>
          </a:p>
          <a:p>
            <a:pPr algn="l">
              <a:lnSpc>
                <a:spcPts val="1980"/>
              </a:lnSpc>
            </a:pPr>
            <a:r>
              <a:rPr lang="en-US" sz="1650" dirty="0">
                <a:solidFill>
                  <a:srgbClr val="757070"/>
                </a:solidFill>
                <a:latin typeface="Calibri (MS)"/>
                <a:ea typeface="Calibri (MS)"/>
                <a:cs typeface="Calibri (MS)"/>
                <a:sym typeface="Calibri (MS)"/>
              </a:rPr>
              <a:t>296.Adapted to unknown. Changing is always. Remember </a:t>
            </a:r>
            <a:r>
              <a:rPr lang="en-US" sz="1650" dirty="0" err="1">
                <a:solidFill>
                  <a:srgbClr val="757070"/>
                </a:solidFill>
                <a:latin typeface="Calibri (MS)"/>
                <a:ea typeface="Calibri (MS)"/>
                <a:cs typeface="Calibri (MS)"/>
                <a:sym typeface="Calibri (MS)"/>
              </a:rPr>
              <a:t>momentro</a:t>
            </a:r>
            <a:r>
              <a:rPr lang="en-US" sz="1650" dirty="0">
                <a:solidFill>
                  <a:srgbClr val="757070"/>
                </a:solidFill>
                <a:latin typeface="Calibri (MS)"/>
                <a:ea typeface="Calibri (MS)"/>
                <a:cs typeface="Calibri (MS)"/>
                <a:sym typeface="Calibri (MS)"/>
              </a:rPr>
              <a:t> mori.</a:t>
            </a:r>
          </a:p>
          <a:p>
            <a:pPr algn="l">
              <a:lnSpc>
                <a:spcPts val="1980"/>
              </a:lnSpc>
            </a:pPr>
            <a:r>
              <a:rPr lang="en-US" sz="1650" dirty="0">
                <a:solidFill>
                  <a:srgbClr val="757070"/>
                </a:solidFill>
                <a:latin typeface="Calibri (MS)"/>
                <a:ea typeface="Calibri (MS)"/>
                <a:cs typeface="Calibri (MS)"/>
                <a:sym typeface="Calibri (MS)"/>
              </a:rPr>
              <a:t>297.Premeditatio </a:t>
            </a:r>
            <a:r>
              <a:rPr lang="en-US" sz="1650" dirty="0" err="1">
                <a:solidFill>
                  <a:srgbClr val="757070"/>
                </a:solidFill>
                <a:latin typeface="Calibri (MS)"/>
                <a:ea typeface="Calibri (MS)"/>
                <a:cs typeface="Calibri (MS)"/>
                <a:sym typeface="Calibri (MS)"/>
              </a:rPr>
              <a:t>malorum</a:t>
            </a:r>
            <a:r>
              <a:rPr lang="en-US" sz="1650" dirty="0">
                <a:solidFill>
                  <a:srgbClr val="757070"/>
                </a:solidFill>
                <a:latin typeface="Calibri (MS)"/>
                <a:ea typeface="Calibri (MS)"/>
                <a:cs typeface="Calibri (MS)"/>
                <a:sym typeface="Calibri (MS)"/>
              </a:rPr>
              <a:t> : </a:t>
            </a:r>
            <a:r>
              <a:rPr lang="en-US" sz="1650" dirty="0" err="1">
                <a:solidFill>
                  <a:srgbClr val="757070"/>
                </a:solidFill>
                <a:latin typeface="Calibri (MS)"/>
                <a:ea typeface="Calibri (MS)"/>
                <a:cs typeface="Calibri (MS)"/>
                <a:sym typeface="Calibri (MS)"/>
              </a:rPr>
              <a:t>意思是：對邪惡的事先冥思。Item</a:t>
            </a:r>
            <a:r>
              <a:rPr lang="en-US" sz="1650" dirty="0">
                <a:solidFill>
                  <a:srgbClr val="757070"/>
                </a:solidFill>
                <a:latin typeface="Calibri (MS)"/>
                <a:ea typeface="Calibri (MS)"/>
                <a:cs typeface="Calibri (MS)"/>
                <a:sym typeface="Calibri (MS)"/>
              </a:rPr>
              <a:t> 50,125,136.意象 But not to overthink vs black swan. post-mortem, </a:t>
            </a:r>
            <a:r>
              <a:rPr lang="en-US" sz="1650" dirty="0" err="1">
                <a:solidFill>
                  <a:srgbClr val="757070"/>
                </a:solidFill>
                <a:latin typeface="Calibri (MS)"/>
                <a:ea typeface="Calibri (MS)"/>
                <a:cs typeface="Calibri (MS)"/>
                <a:sym typeface="Calibri (MS)"/>
              </a:rPr>
              <a:t>預先驗屍</a:t>
            </a:r>
            <a:r>
              <a:rPr lang="en-US" sz="1650" dirty="0">
                <a:solidFill>
                  <a:srgbClr val="757070"/>
                </a:solidFill>
                <a:latin typeface="Calibri (MS)"/>
                <a:ea typeface="Calibri (MS)"/>
                <a:cs typeface="Calibri (MS)"/>
                <a:sym typeface="Calibri (MS)"/>
              </a:rPr>
              <a:t>。</a:t>
            </a:r>
          </a:p>
          <a:p>
            <a:pPr algn="l">
              <a:lnSpc>
                <a:spcPts val="1980"/>
              </a:lnSpc>
            </a:pPr>
            <a:r>
              <a:rPr lang="en-US" sz="1650" dirty="0">
                <a:solidFill>
                  <a:srgbClr val="757070"/>
                </a:solidFill>
                <a:latin typeface="Calibri (MS)"/>
                <a:ea typeface="Calibri (MS)"/>
                <a:cs typeface="Calibri (MS)"/>
                <a:sym typeface="Calibri (MS)"/>
              </a:rPr>
              <a:t>298.Keeping silence, more humor and laugh. </a:t>
            </a:r>
          </a:p>
          <a:p>
            <a:pPr algn="l">
              <a:lnSpc>
                <a:spcPts val="1980"/>
              </a:lnSpc>
            </a:pPr>
            <a:r>
              <a:rPr lang="en-US" sz="1650" dirty="0">
                <a:solidFill>
                  <a:srgbClr val="757070"/>
                </a:solidFill>
                <a:latin typeface="Calibri (MS)"/>
                <a:ea typeface="Calibri (MS)"/>
                <a:cs typeface="Calibri (MS)"/>
                <a:sym typeface="Calibri (MS)"/>
              </a:rPr>
              <a:t>299.Your position or skillset is not in that level and not fit this task? If not, good to keep silence. How to grow? Make it as a project. Self –study.</a:t>
            </a:r>
          </a:p>
          <a:p>
            <a:pPr algn="l">
              <a:lnSpc>
                <a:spcPts val="1980"/>
              </a:lnSpc>
            </a:pPr>
            <a:r>
              <a:rPr lang="en-US" sz="1650" dirty="0">
                <a:solidFill>
                  <a:srgbClr val="757070"/>
                </a:solidFill>
                <a:latin typeface="Calibri (MS)"/>
                <a:ea typeface="Calibri (MS)"/>
                <a:cs typeface="Calibri (MS)"/>
                <a:sym typeface="Calibri (MS)"/>
              </a:rPr>
              <a:t>300.Fallacy: confirmation bias, survivor bias, Negativity bias, short term mindset. Tunnel vision. M̄-thang </a:t>
            </a:r>
            <a:r>
              <a:rPr lang="nl-NL" sz="1650" dirty="0">
                <a:solidFill>
                  <a:srgbClr val="757070"/>
                </a:solidFill>
                <a:latin typeface="Calibri (MS)"/>
                <a:ea typeface="Calibri (MS)"/>
                <a:cs typeface="Calibri (MS)"/>
                <a:sym typeface="Calibri (MS)"/>
              </a:rPr>
              <a:t>tòng</a:t>
            </a:r>
            <a:r>
              <a:rPr lang="en-US" sz="1650" dirty="0">
                <a:solidFill>
                  <a:srgbClr val="757070"/>
                </a:solidFill>
                <a:latin typeface="Calibri (MS)"/>
                <a:ea typeface="Calibri (MS)"/>
                <a:cs typeface="Calibri (MS)"/>
                <a:sym typeface="Calibri (MS)"/>
              </a:rPr>
              <a:t> </a:t>
            </a:r>
            <a:r>
              <a:rPr lang="en-US" sz="1650" dirty="0" err="1">
                <a:solidFill>
                  <a:srgbClr val="757070"/>
                </a:solidFill>
                <a:latin typeface="Calibri (MS)"/>
                <a:ea typeface="Calibri (MS)"/>
                <a:cs typeface="Calibri (MS)"/>
                <a:sym typeface="Calibri (MS)"/>
              </a:rPr>
              <a:t>lâng</a:t>
            </a:r>
            <a:r>
              <a:rPr lang="en-US" sz="1650" dirty="0">
                <a:solidFill>
                  <a:srgbClr val="757070"/>
                </a:solidFill>
                <a:latin typeface="Calibri (MS)"/>
                <a:ea typeface="Calibri (MS)"/>
                <a:cs typeface="Calibri (MS)"/>
                <a:sym typeface="Calibri (MS)"/>
              </a:rPr>
              <a:t> ê KPI.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05733" y="138370"/>
            <a:ext cx="9941595" cy="10233571"/>
          </a:xfrm>
          <a:prstGeom prst="rect">
            <a:avLst/>
          </a:prstGeom>
        </p:spPr>
        <p:txBody>
          <a:bodyPr lIns="0" tIns="0" rIns="0" bIns="0" rtlCol="0" anchor="t">
            <a:spAutoFit/>
          </a:bodyPr>
          <a:lstStyle/>
          <a:p>
            <a:pPr algn="l">
              <a:lnSpc>
                <a:spcPts val="1620"/>
              </a:lnSpc>
            </a:pPr>
            <a:r>
              <a:rPr lang="en-US" sz="1350" dirty="0">
                <a:solidFill>
                  <a:srgbClr val="757070"/>
                </a:solidFill>
                <a:latin typeface="Calibri (MS)"/>
                <a:ea typeface="Calibri (MS)"/>
                <a:cs typeface="Calibri (MS)"/>
                <a:sym typeface="Calibri (MS)"/>
              </a:rPr>
              <a:t>301.Leader host statement: ( for meeting)</a:t>
            </a:r>
          </a:p>
          <a:p>
            <a:pPr algn="l">
              <a:lnSpc>
                <a:spcPts val="1620"/>
              </a:lnSpc>
            </a:pPr>
            <a:r>
              <a:rPr lang="en-US" sz="1350" dirty="0">
                <a:solidFill>
                  <a:srgbClr val="757070"/>
                </a:solidFill>
                <a:latin typeface="Calibri (MS)"/>
                <a:ea typeface="Calibri (MS)"/>
                <a:cs typeface="Calibri (MS)"/>
                <a:sym typeface="Calibri (MS)"/>
              </a:rPr>
              <a:t>I repeat what we agreed upon during the meeting</a:t>
            </a:r>
          </a:p>
          <a:p>
            <a:pPr algn="l">
              <a:lnSpc>
                <a:spcPts val="1620"/>
              </a:lnSpc>
            </a:pPr>
            <a:r>
              <a:rPr lang="en-US" sz="1350" dirty="0">
                <a:solidFill>
                  <a:srgbClr val="757070"/>
                </a:solidFill>
                <a:latin typeface="Calibri (MS)"/>
                <a:ea typeface="Calibri (MS)"/>
                <a:cs typeface="Calibri (MS)"/>
                <a:sym typeface="Calibri (MS)"/>
              </a:rPr>
              <a:t>I repeat what you said, make sure my understanding is correct.</a:t>
            </a:r>
          </a:p>
          <a:p>
            <a:pPr algn="l">
              <a:lnSpc>
                <a:spcPts val="1620"/>
              </a:lnSpc>
            </a:pPr>
            <a:r>
              <a:rPr lang="en-US" sz="1350" dirty="0">
                <a:solidFill>
                  <a:srgbClr val="757070"/>
                </a:solidFill>
                <a:latin typeface="Calibri (MS)"/>
                <a:ea typeface="Calibri (MS)"/>
                <a:cs typeface="Calibri (MS)"/>
                <a:sym typeface="Calibri (MS)"/>
              </a:rPr>
              <a:t>Allow me confirm. </a:t>
            </a:r>
          </a:p>
          <a:p>
            <a:pPr algn="l">
              <a:lnSpc>
                <a:spcPts val="1620"/>
              </a:lnSpc>
            </a:pPr>
            <a:r>
              <a:rPr lang="en-US" sz="1350" dirty="0">
                <a:solidFill>
                  <a:srgbClr val="757070"/>
                </a:solidFill>
                <a:latin typeface="Calibri (MS)"/>
                <a:ea typeface="Calibri (MS)"/>
                <a:cs typeface="Calibri (MS)"/>
                <a:sym typeface="Calibri (MS)"/>
              </a:rPr>
              <a:t>I got a lot of help from the team. Thank for all your dedicated hard work.</a:t>
            </a:r>
          </a:p>
          <a:p>
            <a:pPr algn="l">
              <a:lnSpc>
                <a:spcPts val="1620"/>
              </a:lnSpc>
            </a:pPr>
            <a:r>
              <a:rPr lang="en-US" sz="1350" dirty="0">
                <a:solidFill>
                  <a:srgbClr val="757070"/>
                </a:solidFill>
                <a:latin typeface="Calibri (MS)"/>
                <a:ea typeface="Calibri (MS)"/>
                <a:cs typeface="Calibri (MS)"/>
                <a:sym typeface="Calibri (MS)"/>
              </a:rPr>
              <a:t>When will be the next discussion and what is agenda.</a:t>
            </a:r>
          </a:p>
          <a:p>
            <a:pPr algn="l">
              <a:lnSpc>
                <a:spcPts val="1620"/>
              </a:lnSpc>
            </a:pPr>
            <a:r>
              <a:rPr lang="en-US" sz="1350" dirty="0">
                <a:solidFill>
                  <a:srgbClr val="757070"/>
                </a:solidFill>
                <a:latin typeface="Calibri (MS)"/>
                <a:ea typeface="Calibri (MS)"/>
                <a:cs typeface="Calibri (MS)"/>
                <a:sym typeface="Calibri (MS)"/>
              </a:rPr>
              <a:t>What is the goal that should be achieved in the end?</a:t>
            </a:r>
          </a:p>
          <a:p>
            <a:pPr algn="l">
              <a:lnSpc>
                <a:spcPts val="1620"/>
              </a:lnSpc>
            </a:pPr>
            <a:r>
              <a:rPr lang="en-US" sz="1350" dirty="0">
                <a:solidFill>
                  <a:srgbClr val="757070"/>
                </a:solidFill>
                <a:latin typeface="Calibri (MS)"/>
                <a:ea typeface="Calibri (MS)"/>
                <a:cs typeface="Calibri (MS)"/>
                <a:sym typeface="Calibri (MS)"/>
              </a:rPr>
              <a:t>Can you make it on time or before that day ( time)?</a:t>
            </a:r>
          </a:p>
          <a:p>
            <a:pPr algn="l">
              <a:lnSpc>
                <a:spcPts val="1620"/>
              </a:lnSpc>
            </a:pPr>
            <a:r>
              <a:rPr lang="en-US" sz="1350" dirty="0">
                <a:solidFill>
                  <a:srgbClr val="757070"/>
                </a:solidFill>
                <a:latin typeface="Calibri (MS)"/>
                <a:ea typeface="Calibri (MS)"/>
                <a:cs typeface="Calibri (MS)"/>
                <a:sym typeface="Calibri (MS)"/>
              </a:rPr>
              <a:t>Ask why should we do this? PAR, purpose, action, Result. ORID.</a:t>
            </a:r>
          </a:p>
          <a:p>
            <a:pPr algn="l">
              <a:lnSpc>
                <a:spcPts val="1620"/>
              </a:lnSpc>
            </a:pPr>
            <a:r>
              <a:rPr lang="en-US" sz="1350" dirty="0">
                <a:solidFill>
                  <a:srgbClr val="757070"/>
                </a:solidFill>
                <a:latin typeface="Calibri (MS)"/>
                <a:ea typeface="Calibri (MS)"/>
                <a:cs typeface="Calibri (MS)"/>
                <a:sym typeface="Calibri (MS)"/>
              </a:rPr>
              <a:t>My skillset is not enough for this discussion or assignment. It is not my position to discuss that. ( kind of saying no)</a:t>
            </a:r>
          </a:p>
          <a:p>
            <a:pPr algn="l">
              <a:lnSpc>
                <a:spcPts val="1620"/>
              </a:lnSpc>
            </a:pPr>
            <a:r>
              <a:rPr lang="en-US" sz="1350" dirty="0">
                <a:solidFill>
                  <a:srgbClr val="757070"/>
                </a:solidFill>
                <a:latin typeface="Calibri (MS)"/>
                <a:ea typeface="Calibri (MS)"/>
                <a:cs typeface="Calibri (MS)"/>
                <a:sym typeface="Calibri (MS)"/>
              </a:rPr>
              <a:t>Challenge what you haven’t done in the past. One marathon, one new speech, one new book. Longer trail, different path. Broaden your view.</a:t>
            </a:r>
          </a:p>
          <a:p>
            <a:pPr algn="l">
              <a:lnSpc>
                <a:spcPts val="1620"/>
              </a:lnSpc>
            </a:pPr>
            <a:r>
              <a:rPr lang="en-US" sz="1350" dirty="0">
                <a:solidFill>
                  <a:srgbClr val="757070"/>
                </a:solidFill>
                <a:latin typeface="Calibri (MS)"/>
                <a:ea typeface="Calibri (MS)"/>
                <a:cs typeface="Calibri (MS)"/>
                <a:sym typeface="Calibri (MS)"/>
              </a:rPr>
              <a:t>302. watch out economic environment and industrial trend. your salary is the top priority for your retire plan. Good to ask promotion if you did a great job and boss recognize you. if not, you may consider not to do. Good to track yearly salary increment is more than market inflation (3%) so Purchasing power parity won't be degraded. in the end, do rebalance on your asset allocation and keep going without worrying market too much. Saving rate.</a:t>
            </a:r>
          </a:p>
          <a:p>
            <a:pPr algn="l">
              <a:lnSpc>
                <a:spcPts val="1620"/>
              </a:lnSpc>
            </a:pPr>
            <a:r>
              <a:rPr lang="en-US" sz="1350" dirty="0">
                <a:solidFill>
                  <a:srgbClr val="757070"/>
                </a:solidFill>
                <a:latin typeface="Calibri (MS)"/>
                <a:ea typeface="Calibri (MS)"/>
                <a:cs typeface="Calibri (MS)"/>
                <a:sym typeface="Calibri (MS)"/>
              </a:rPr>
              <a:t>303.Understand welfare policy, any compensation, food allowance, leave ( depends on rank, 14-22 days), baby / </a:t>
            </a:r>
            <a:r>
              <a:rPr lang="en-US" sz="1350" dirty="0" err="1">
                <a:solidFill>
                  <a:srgbClr val="757070"/>
                </a:solidFill>
                <a:latin typeface="Calibri (MS)"/>
                <a:ea typeface="Calibri (MS)"/>
                <a:cs typeface="Calibri (MS)"/>
                <a:sym typeface="Calibri (MS)"/>
              </a:rPr>
              <a:t>children,..LTIP.AIP</a:t>
            </a:r>
            <a:r>
              <a:rPr lang="en-US" sz="1350" dirty="0">
                <a:solidFill>
                  <a:srgbClr val="757070"/>
                </a:solidFill>
                <a:latin typeface="Calibri (MS)"/>
                <a:ea typeface="Calibri (MS)"/>
                <a:cs typeface="Calibri (MS)"/>
                <a:sym typeface="Calibri (MS)"/>
              </a:rPr>
              <a:t>, RSU, ESPP, health check, scholarship..., how to apply and earn.  business traveler, training...you also need this when you apply next job or before leaving current position. It is part of financial management. Flexibility WFH. (max. day per year?20days)</a:t>
            </a:r>
          </a:p>
          <a:p>
            <a:pPr algn="l">
              <a:lnSpc>
                <a:spcPts val="1458"/>
              </a:lnSpc>
            </a:pPr>
            <a:r>
              <a:rPr lang="en-US" sz="1350" dirty="0">
                <a:solidFill>
                  <a:srgbClr val="000000"/>
                </a:solidFill>
                <a:latin typeface="Calibri (MS)"/>
                <a:ea typeface="Calibri (MS)"/>
                <a:cs typeface="Calibri (MS)"/>
                <a:sym typeface="Calibri (MS)"/>
              </a:rPr>
              <a:t>304.Try to train yourself to look into someone's eyes. Or certain point on their face.</a:t>
            </a:r>
          </a:p>
          <a:p>
            <a:pPr algn="l">
              <a:lnSpc>
                <a:spcPts val="1458"/>
              </a:lnSpc>
            </a:pPr>
            <a:r>
              <a:rPr lang="en-US" sz="1350" dirty="0">
                <a:solidFill>
                  <a:srgbClr val="000000"/>
                </a:solidFill>
                <a:latin typeface="Calibri (MS)"/>
                <a:ea typeface="Calibri (MS)"/>
                <a:cs typeface="Calibri (MS)"/>
                <a:sym typeface="Calibri (MS)"/>
              </a:rPr>
              <a:t>305. when you feel frustrated and disappointed, be patient, take a deep breath, you did a good job and don't burn out yourself, control what you can control and let the things what you cannot control go. life is not fair, that is true, but still, you need to move on and grow up for yourself, not for your company or your colleagues. Indeed, life is struggling, and you need earn moneys for kids and families, also for your ideal. You have no time to think better and find a better way to survey. You know what? no one knows how until the time is arrived. as a result, think positive, I knew it is hard, but you need to try. Live a better  version of you and you will thank yourself after many years later.</a:t>
            </a:r>
          </a:p>
          <a:p>
            <a:pPr algn="l">
              <a:lnSpc>
                <a:spcPts val="1458"/>
              </a:lnSpc>
            </a:pPr>
            <a:r>
              <a:rPr lang="en-US" sz="1350" dirty="0">
                <a:solidFill>
                  <a:srgbClr val="000000"/>
                </a:solidFill>
                <a:latin typeface="Calibri (MS)"/>
                <a:ea typeface="Calibri (MS)"/>
                <a:cs typeface="Calibri (MS)"/>
                <a:sym typeface="Calibri (MS)"/>
              </a:rPr>
              <a:t>306.What do you want to achieve? </a:t>
            </a:r>
          </a:p>
          <a:p>
            <a:pPr algn="l">
              <a:lnSpc>
                <a:spcPts val="1458"/>
              </a:lnSpc>
            </a:pPr>
            <a:r>
              <a:rPr lang="en-US" sz="1350" dirty="0">
                <a:solidFill>
                  <a:srgbClr val="000000"/>
                </a:solidFill>
                <a:latin typeface="Calibri (MS)"/>
                <a:ea typeface="Calibri (MS)"/>
                <a:cs typeface="Calibri (MS)"/>
                <a:sym typeface="Calibri (MS)"/>
              </a:rPr>
              <a:t>307. Do you spend time on it/them? What is the result / achievement? What you want to achieve. ITEM306. Result-oriented.</a:t>
            </a:r>
          </a:p>
          <a:p>
            <a:pPr algn="l">
              <a:lnSpc>
                <a:spcPts val="1458"/>
              </a:lnSpc>
            </a:pPr>
            <a:r>
              <a:rPr lang="en-US" sz="1350" dirty="0">
                <a:solidFill>
                  <a:srgbClr val="000000"/>
                </a:solidFill>
                <a:latin typeface="Calibri (MS)"/>
                <a:ea typeface="Calibri (MS)"/>
                <a:cs typeface="Calibri (MS)"/>
                <a:sym typeface="Calibri (MS)"/>
              </a:rPr>
              <a:t>308. What are you doing right now? is it aligned with the goal you want to achieve?  Daily questions.</a:t>
            </a:r>
          </a:p>
          <a:p>
            <a:pPr algn="l">
              <a:lnSpc>
                <a:spcPts val="1458"/>
              </a:lnSpc>
            </a:pPr>
            <a:r>
              <a:rPr lang="en-US" sz="1350" dirty="0">
                <a:solidFill>
                  <a:srgbClr val="000000"/>
                </a:solidFill>
                <a:latin typeface="Calibri (MS)"/>
                <a:ea typeface="Calibri (MS)"/>
                <a:cs typeface="Calibri (MS)"/>
                <a:sym typeface="Calibri (MS)"/>
              </a:rPr>
              <a:t>309. “I’m glad you brought it up. Is there anything to be covered? “</a:t>
            </a:r>
          </a:p>
          <a:p>
            <a:pPr algn="l">
              <a:lnSpc>
                <a:spcPts val="1458"/>
              </a:lnSpc>
            </a:pPr>
            <a:r>
              <a:rPr lang="en-US" sz="1350" dirty="0">
                <a:solidFill>
                  <a:srgbClr val="000000"/>
                </a:solidFill>
                <a:latin typeface="Calibri (MS)"/>
                <a:ea typeface="Calibri (MS)"/>
                <a:cs typeface="Calibri (MS)"/>
                <a:sym typeface="Calibri (MS)"/>
              </a:rPr>
              <a:t>310. If you find your sleep less than 6 hours, watch out you may speak something wrong or doing something wrong. You may lose your judgement. Energy management.</a:t>
            </a:r>
          </a:p>
          <a:p>
            <a:pPr algn="l">
              <a:lnSpc>
                <a:spcPts val="1458"/>
              </a:lnSpc>
            </a:pPr>
            <a:r>
              <a:rPr lang="en-US" sz="1350" dirty="0">
                <a:solidFill>
                  <a:srgbClr val="000000"/>
                </a:solidFill>
                <a:latin typeface="Calibri (MS)"/>
                <a:ea typeface="Calibri (MS)"/>
                <a:cs typeface="Calibri (MS)"/>
                <a:sym typeface="Calibri (MS)"/>
              </a:rPr>
              <a:t>311. Using bcc, send “ FYI” email, just in case someone ask odd questions to all, and you need to reply.</a:t>
            </a:r>
          </a:p>
          <a:p>
            <a:pPr algn="l">
              <a:lnSpc>
                <a:spcPts val="1458"/>
              </a:lnSpc>
            </a:pPr>
            <a:r>
              <a:rPr lang="en-US" sz="1350" dirty="0">
                <a:solidFill>
                  <a:srgbClr val="000000"/>
                </a:solidFill>
                <a:latin typeface="Calibri (MS)"/>
                <a:ea typeface="Calibri (MS)"/>
                <a:cs typeface="Calibri (MS)"/>
                <a:sym typeface="Calibri (MS)"/>
              </a:rPr>
              <a:t>312. Do the right thing vs do the things boss thinks it is right.</a:t>
            </a:r>
          </a:p>
          <a:p>
            <a:pPr algn="l">
              <a:lnSpc>
                <a:spcPts val="1458"/>
              </a:lnSpc>
            </a:pPr>
            <a:r>
              <a:rPr lang="en-US" sz="1350" dirty="0">
                <a:solidFill>
                  <a:srgbClr val="000000"/>
                </a:solidFill>
                <a:latin typeface="Calibri (MS)"/>
                <a:ea typeface="Calibri (MS)"/>
                <a:cs typeface="Calibri (MS)"/>
                <a:sym typeface="Calibri (MS)"/>
              </a:rPr>
              <a:t>313. Too busy to think how to do better and find a better solution/way. ( be careful with the trap.)</a:t>
            </a:r>
          </a:p>
          <a:p>
            <a:pPr algn="l">
              <a:lnSpc>
                <a:spcPts val="1458"/>
              </a:lnSpc>
            </a:pPr>
            <a:r>
              <a:rPr lang="en-US" sz="1350" dirty="0">
                <a:solidFill>
                  <a:srgbClr val="000000"/>
                </a:solidFill>
                <a:latin typeface="Calibri (MS)"/>
                <a:ea typeface="Calibri (MS)"/>
                <a:cs typeface="Calibri (MS)"/>
                <a:sym typeface="Calibri (MS)"/>
              </a:rPr>
              <a:t>314. After grabbing low hanging fruit, what is the next?</a:t>
            </a:r>
          </a:p>
          <a:p>
            <a:pPr algn="l">
              <a:lnSpc>
                <a:spcPts val="1458"/>
              </a:lnSpc>
            </a:pPr>
            <a:r>
              <a:rPr lang="en-US" sz="1350" dirty="0">
                <a:solidFill>
                  <a:srgbClr val="000000"/>
                </a:solidFill>
                <a:latin typeface="Calibri (MS)"/>
                <a:ea typeface="Calibri (MS)"/>
                <a:cs typeface="Calibri (MS)"/>
                <a:sym typeface="Calibri (MS)"/>
              </a:rPr>
              <a:t>315. Face the uncertainty and ambiguity. ( VUCA, volatility, complexity) </a:t>
            </a:r>
          </a:p>
          <a:p>
            <a:pPr algn="l">
              <a:lnSpc>
                <a:spcPts val="1458"/>
              </a:lnSpc>
            </a:pPr>
            <a:r>
              <a:rPr lang="en-US" sz="1350" dirty="0">
                <a:solidFill>
                  <a:srgbClr val="000000"/>
                </a:solidFill>
                <a:latin typeface="Calibri (MS)"/>
                <a:ea typeface="Calibri (MS)"/>
                <a:cs typeface="Calibri (MS)"/>
                <a:sym typeface="Calibri (MS)"/>
              </a:rPr>
              <a:t>316. Be careful of tunnel vision effect, being too concentrated to see other side effects.</a:t>
            </a:r>
          </a:p>
          <a:p>
            <a:pPr algn="l">
              <a:lnSpc>
                <a:spcPts val="1458"/>
              </a:lnSpc>
            </a:pPr>
            <a:r>
              <a:rPr lang="en-US" sz="1350" dirty="0">
                <a:solidFill>
                  <a:srgbClr val="000000"/>
                </a:solidFill>
                <a:latin typeface="Calibri (MS)"/>
                <a:ea typeface="Calibri (MS)"/>
                <a:cs typeface="Calibri (MS)"/>
                <a:sym typeface="Calibri (MS)"/>
              </a:rPr>
              <a:t>317. Quick learn / collect the latest information which may need in the future market.  ( the methodology of taking "electrical" note)</a:t>
            </a:r>
          </a:p>
          <a:p>
            <a:pPr algn="l">
              <a:lnSpc>
                <a:spcPts val="1458"/>
              </a:lnSpc>
            </a:pPr>
            <a:r>
              <a:rPr lang="en-US" sz="1350" dirty="0">
                <a:solidFill>
                  <a:srgbClr val="000000"/>
                </a:solidFill>
                <a:latin typeface="Calibri (MS)"/>
                <a:ea typeface="Calibri (MS)"/>
                <a:cs typeface="Calibri (MS)"/>
                <a:sym typeface="Calibri (MS)"/>
              </a:rPr>
              <a:t>318. How does you contribute for this project? To show your value in a quantization way . </a:t>
            </a:r>
          </a:p>
          <a:p>
            <a:pPr algn="l">
              <a:lnSpc>
                <a:spcPts val="1458"/>
              </a:lnSpc>
            </a:pPr>
            <a:r>
              <a:rPr lang="en-US" sz="1350" dirty="0">
                <a:solidFill>
                  <a:srgbClr val="000000"/>
                </a:solidFill>
                <a:latin typeface="Calibri (MS)"/>
                <a:ea typeface="Calibri (MS)"/>
                <a:cs typeface="Calibri (MS)"/>
                <a:sym typeface="Calibri (MS)"/>
              </a:rPr>
              <a:t>319. You can't always be in the best condition. In the end, you are dead. Don’t be shy to pursuit. Don’t be shy to pursuit. </a:t>
            </a:r>
          </a:p>
          <a:p>
            <a:pPr algn="l">
              <a:lnSpc>
                <a:spcPts val="1458"/>
              </a:lnSpc>
            </a:pPr>
            <a:r>
              <a:rPr lang="en-US" sz="1350" dirty="0">
                <a:solidFill>
                  <a:srgbClr val="000000"/>
                </a:solidFill>
                <a:latin typeface="Calibri (MS)"/>
                <a:ea typeface="Calibri (MS)"/>
                <a:cs typeface="Calibri (MS)"/>
                <a:sym typeface="Calibri (MS)"/>
              </a:rPr>
              <a:t>320. Last but not least, read those principles routinely. Think what you achieved and what should be added and enhanced. Think about your achievement and what should be added and enhanced.</a:t>
            </a:r>
          </a:p>
          <a:p>
            <a:pPr algn="l">
              <a:lnSpc>
                <a:spcPts val="1458"/>
              </a:lnSpc>
            </a:pPr>
            <a:r>
              <a:rPr lang="en-US" sz="1350" dirty="0">
                <a:solidFill>
                  <a:srgbClr val="000000"/>
                </a:solidFill>
                <a:latin typeface="Calibri (MS)"/>
                <a:ea typeface="Calibri (MS)"/>
                <a:cs typeface="Calibri (MS)"/>
                <a:sym typeface="Calibri (MS)"/>
              </a:rPr>
              <a:t>321. Call for help if it is needed. Ask for consult and suggestions. Find your mentors and people. ( </a:t>
            </a:r>
            <a:r>
              <a:rPr lang="en-US" sz="1350" dirty="0" err="1">
                <a:solidFill>
                  <a:srgbClr val="000000"/>
                </a:solidFill>
                <a:latin typeface="Calibri (MS)"/>
                <a:ea typeface="Calibri (MS)"/>
                <a:cs typeface="Calibri (MS)"/>
                <a:sym typeface="Calibri (MS)"/>
              </a:rPr>
              <a:t>族人</a:t>
            </a:r>
            <a:r>
              <a:rPr lang="en-US" sz="1350" dirty="0">
                <a:solidFill>
                  <a:srgbClr val="000000"/>
                </a:solidFill>
                <a:latin typeface="Calibri (MS)"/>
                <a:ea typeface="Calibri (MS)"/>
                <a:cs typeface="Calibri (MS)"/>
                <a:sym typeface="Calibri (MS)"/>
              </a:rPr>
              <a:t>)</a:t>
            </a:r>
          </a:p>
          <a:p>
            <a:pPr algn="l">
              <a:lnSpc>
                <a:spcPts val="1458"/>
              </a:lnSpc>
            </a:pPr>
            <a:r>
              <a:rPr lang="en-US" sz="1350" dirty="0">
                <a:solidFill>
                  <a:srgbClr val="000000"/>
                </a:solidFill>
                <a:latin typeface="Calibri (MS)"/>
                <a:ea typeface="Calibri (MS)"/>
                <a:cs typeface="Calibri (MS)"/>
                <a:sym typeface="Calibri (MS)"/>
              </a:rPr>
              <a:t>322.Avoid to be an asshole. Be nice to people you met. Slime, friend. But set up a clear line.</a:t>
            </a:r>
          </a:p>
          <a:p>
            <a:pPr algn="l">
              <a:lnSpc>
                <a:spcPts val="1458"/>
              </a:lnSpc>
            </a:pPr>
            <a:r>
              <a:rPr lang="en-US" sz="1350" dirty="0">
                <a:solidFill>
                  <a:srgbClr val="000000"/>
                </a:solidFill>
                <a:latin typeface="Calibri (MS)"/>
                <a:ea typeface="Calibri (MS)"/>
                <a:cs typeface="Calibri (MS)"/>
                <a:sym typeface="Calibri (MS)"/>
              </a:rPr>
              <a:t>323. Practice how to ask a good questions. Make a list, your talk speed. What you had achieved.</a:t>
            </a:r>
          </a:p>
          <a:p>
            <a:pPr algn="l">
              <a:lnSpc>
                <a:spcPts val="1458"/>
              </a:lnSpc>
            </a:pPr>
            <a:r>
              <a:rPr lang="en-US" sz="1350" dirty="0">
                <a:solidFill>
                  <a:srgbClr val="000000"/>
                </a:solidFill>
                <a:latin typeface="Calibri (MS)"/>
                <a:ea typeface="Calibri (MS)"/>
                <a:cs typeface="Calibri (MS)"/>
                <a:sym typeface="Calibri (MS)"/>
              </a:rPr>
              <a:t>324. To bring yourself to another higher level. Buy more insurance (power of circle), and you don’t need to prepare all in one time and it will burnout your energy.</a:t>
            </a:r>
          </a:p>
          <a:p>
            <a:pPr algn="l">
              <a:lnSpc>
                <a:spcPts val="1458"/>
              </a:lnSpc>
            </a:pPr>
            <a:r>
              <a:rPr lang="en-US" sz="1350" dirty="0">
                <a:solidFill>
                  <a:srgbClr val="000000"/>
                </a:solidFill>
                <a:latin typeface="Calibri (MS)"/>
                <a:ea typeface="Calibri (MS)"/>
                <a:cs typeface="Calibri (MS)"/>
                <a:sym typeface="Calibri (MS)"/>
              </a:rPr>
              <a:t>325. Check when big boss visit your department and prepare question list. ( or potential document for review), future view.</a:t>
            </a:r>
          </a:p>
          <a:p>
            <a:pPr algn="l">
              <a:lnSpc>
                <a:spcPts val="1458"/>
              </a:lnSpc>
            </a:pPr>
            <a:r>
              <a:rPr lang="en-US" sz="1350" dirty="0">
                <a:solidFill>
                  <a:srgbClr val="000000"/>
                </a:solidFill>
                <a:latin typeface="Calibri (MS)"/>
                <a:ea typeface="Calibri (MS)"/>
                <a:cs typeface="Calibri (MS)"/>
                <a:sym typeface="Calibri (MS)"/>
              </a:rPr>
              <a:t>321. Leverage The outcomes from others and share to different team members or department or stakeholders.</a:t>
            </a:r>
          </a:p>
          <a:p>
            <a:pPr algn="l">
              <a:lnSpc>
                <a:spcPts val="1458"/>
              </a:lnSpc>
            </a:pPr>
            <a:r>
              <a:rPr lang="en-US" sz="1350" dirty="0">
                <a:solidFill>
                  <a:srgbClr val="000000"/>
                </a:solidFill>
                <a:latin typeface="Calibri (MS)"/>
                <a:ea typeface="Calibri (MS)"/>
                <a:cs typeface="Calibri (MS)"/>
                <a:sym typeface="Calibri (MS)"/>
              </a:rPr>
              <a:t>322. Set a deadline or expected time  to check result. Evaluate the effort and value. Using a google calendar. Set small milestone</a:t>
            </a:r>
          </a:p>
          <a:p>
            <a:pPr algn="l">
              <a:lnSpc>
                <a:spcPts val="1458"/>
              </a:lnSpc>
            </a:pPr>
            <a:r>
              <a:rPr lang="en-US" sz="1350" dirty="0">
                <a:solidFill>
                  <a:srgbClr val="000000"/>
                </a:solidFill>
                <a:latin typeface="Calibri (MS)"/>
                <a:ea typeface="Calibri (MS)"/>
                <a:cs typeface="Calibri (MS)"/>
                <a:sym typeface="Calibri (MS)"/>
              </a:rPr>
              <a:t>323. Does your boss really need your personal opinion or expertise? Is this project need it or need team decision or based on facts and scientific / statistical data. Or only judge by manager’s feeling.</a:t>
            </a:r>
          </a:p>
          <a:p>
            <a:pPr algn="l">
              <a:lnSpc>
                <a:spcPts val="1458"/>
              </a:lnSpc>
            </a:pPr>
            <a:r>
              <a:rPr lang="en-US" sz="1350" dirty="0">
                <a:solidFill>
                  <a:srgbClr val="000000"/>
                </a:solidFill>
                <a:latin typeface="Calibri (MS)"/>
                <a:ea typeface="Calibri (MS)"/>
                <a:cs typeface="Calibri (MS)"/>
                <a:sym typeface="Calibri (MS)"/>
              </a:rPr>
              <a:t>324. What is possible strategies and tactics to deal with the task/action to achieve? With structurally thinking. Breakdown the detail.</a:t>
            </a:r>
          </a:p>
        </p:txBody>
      </p:sp>
      <p:sp>
        <p:nvSpPr>
          <p:cNvPr id="3" name="TextBox 3"/>
          <p:cNvSpPr txBox="1"/>
          <p:nvPr/>
        </p:nvSpPr>
        <p:spPr>
          <a:xfrm>
            <a:off x="10274903" y="166945"/>
            <a:ext cx="7707354" cy="8346067"/>
          </a:xfrm>
          <a:prstGeom prst="rect">
            <a:avLst/>
          </a:prstGeom>
        </p:spPr>
        <p:txBody>
          <a:bodyPr lIns="0" tIns="0" rIns="0" bIns="0" rtlCol="0" anchor="t">
            <a:spAutoFit/>
          </a:bodyPr>
          <a:lstStyle/>
          <a:p>
            <a:pPr algn="l">
              <a:lnSpc>
                <a:spcPts val="1458"/>
              </a:lnSpc>
            </a:pPr>
            <a:r>
              <a:rPr lang="en-US" sz="1350" dirty="0">
                <a:solidFill>
                  <a:srgbClr val="000000"/>
                </a:solidFill>
                <a:latin typeface="Arial"/>
                <a:ea typeface="Arial"/>
                <a:cs typeface="Arial"/>
                <a:sym typeface="Arial"/>
              </a:rPr>
              <a:t>325. Many people only asking or questioning without action. And you? Thinker or doer.</a:t>
            </a:r>
          </a:p>
          <a:p>
            <a:pPr algn="l">
              <a:lnSpc>
                <a:spcPts val="1458"/>
              </a:lnSpc>
            </a:pPr>
            <a:r>
              <a:rPr lang="en-US" sz="1350" dirty="0">
                <a:solidFill>
                  <a:srgbClr val="000000"/>
                </a:solidFill>
                <a:latin typeface="Arial"/>
                <a:ea typeface="Arial"/>
                <a:cs typeface="Arial"/>
                <a:sym typeface="Arial"/>
              </a:rPr>
              <a:t>326.Learn how to learn.</a:t>
            </a:r>
          </a:p>
          <a:p>
            <a:pPr algn="l">
              <a:lnSpc>
                <a:spcPts val="1458"/>
              </a:lnSpc>
            </a:pPr>
            <a:r>
              <a:rPr lang="en-US" sz="1350" dirty="0">
                <a:solidFill>
                  <a:srgbClr val="000000"/>
                </a:solidFill>
                <a:latin typeface="Arial"/>
                <a:ea typeface="Arial"/>
                <a:cs typeface="Arial"/>
                <a:sym typeface="Arial"/>
              </a:rPr>
              <a:t>327.be careful the time you spent on which task you need to list down the priorities and make sure you do the things with higher priority first</a:t>
            </a:r>
          </a:p>
          <a:p>
            <a:pPr algn="l">
              <a:lnSpc>
                <a:spcPts val="1458"/>
              </a:lnSpc>
            </a:pPr>
            <a:r>
              <a:rPr lang="en-US" sz="1350" dirty="0">
                <a:solidFill>
                  <a:srgbClr val="000000"/>
                </a:solidFill>
                <a:latin typeface="Arial"/>
                <a:ea typeface="Arial"/>
                <a:cs typeface="Arial"/>
                <a:sym typeface="Arial"/>
              </a:rPr>
              <a:t>328.Question list for the one you admire or whom you can learn from. Failure experiment.</a:t>
            </a:r>
          </a:p>
          <a:p>
            <a:pPr algn="l">
              <a:lnSpc>
                <a:spcPts val="1458"/>
              </a:lnSpc>
            </a:pPr>
            <a:r>
              <a:rPr lang="en-US" sz="1350" dirty="0">
                <a:solidFill>
                  <a:srgbClr val="000000"/>
                </a:solidFill>
                <a:latin typeface="Arial"/>
                <a:ea typeface="Arial"/>
                <a:cs typeface="Arial"/>
                <a:sym typeface="Arial"/>
              </a:rPr>
              <a:t>Do you have any failure experience in NXP and communication issue with the BL. How do you conquer?</a:t>
            </a:r>
          </a:p>
          <a:p>
            <a:pPr algn="l">
              <a:lnSpc>
                <a:spcPts val="1458"/>
              </a:lnSpc>
            </a:pPr>
            <a:r>
              <a:rPr lang="en-US" sz="1350" dirty="0">
                <a:solidFill>
                  <a:srgbClr val="000000"/>
                </a:solidFill>
                <a:latin typeface="Arial"/>
                <a:ea typeface="Arial"/>
                <a:cs typeface="Arial"/>
                <a:sym typeface="Arial"/>
              </a:rPr>
              <a:t>Do you have any career / skill enhancement / financial plan to reach your current position ? Any feedback for what you observed from me? SBI model. Situation-Behavior-Impact (SBI)</a:t>
            </a:r>
          </a:p>
          <a:p>
            <a:pPr algn="l">
              <a:lnSpc>
                <a:spcPts val="1458"/>
              </a:lnSpc>
            </a:pPr>
            <a:r>
              <a:rPr lang="en-US" sz="1350" dirty="0">
                <a:solidFill>
                  <a:srgbClr val="000000"/>
                </a:solidFill>
                <a:latin typeface="Arial"/>
                <a:ea typeface="Arial"/>
                <a:cs typeface="Arial"/>
                <a:sym typeface="Arial"/>
              </a:rPr>
              <a:t>329. Each task has DRI, schedule, bottleneck, what kind of information and approval needed, or support…etc.</a:t>
            </a:r>
          </a:p>
          <a:p>
            <a:pPr algn="l">
              <a:lnSpc>
                <a:spcPts val="1458"/>
              </a:lnSpc>
            </a:pPr>
            <a:r>
              <a:rPr lang="en-US" sz="1350" dirty="0">
                <a:solidFill>
                  <a:srgbClr val="000000"/>
                </a:solidFill>
                <a:latin typeface="Arial"/>
                <a:ea typeface="Arial"/>
                <a:cs typeface="Arial"/>
                <a:sym typeface="Arial"/>
              </a:rPr>
              <a:t>330. To have a long-term problem-solving attitude / grown mindset. Patient, slow down and resilient and antifragile.</a:t>
            </a:r>
          </a:p>
          <a:p>
            <a:pPr algn="l">
              <a:lnSpc>
                <a:spcPts val="1458"/>
              </a:lnSpc>
            </a:pPr>
            <a:r>
              <a:rPr lang="en-US" sz="1350" dirty="0">
                <a:solidFill>
                  <a:srgbClr val="000000"/>
                </a:solidFill>
                <a:latin typeface="Arial"/>
                <a:ea typeface="Arial"/>
                <a:cs typeface="Arial"/>
                <a:sym typeface="Arial"/>
              </a:rPr>
              <a:t>331. Don’t’ give up to find a better solution for some tasks. It could be a long journey. For some items, it may be good enough for now.</a:t>
            </a:r>
          </a:p>
          <a:p>
            <a:pPr algn="l">
              <a:lnSpc>
                <a:spcPts val="1458"/>
              </a:lnSpc>
            </a:pPr>
            <a:r>
              <a:rPr lang="en-US" sz="1350" dirty="0">
                <a:solidFill>
                  <a:srgbClr val="000000"/>
                </a:solidFill>
                <a:latin typeface="Arial"/>
                <a:ea typeface="Arial"/>
                <a:cs typeface="Arial"/>
                <a:sym typeface="Arial"/>
              </a:rPr>
              <a:t>332. Let your colleagues and boss do their jobs. Don’t cross the line. Speak their language / terms.</a:t>
            </a:r>
          </a:p>
          <a:p>
            <a:pPr algn="l">
              <a:lnSpc>
                <a:spcPts val="1458"/>
              </a:lnSpc>
            </a:pPr>
            <a:r>
              <a:rPr lang="en-US" sz="1350" dirty="0">
                <a:solidFill>
                  <a:srgbClr val="000000"/>
                </a:solidFill>
                <a:latin typeface="Arial"/>
                <a:ea typeface="Arial"/>
                <a:cs typeface="Arial"/>
                <a:sym typeface="Arial"/>
              </a:rPr>
              <a:t>333. You cannot say no for tasks related to business level. Be silent.</a:t>
            </a:r>
          </a:p>
          <a:p>
            <a:pPr algn="l">
              <a:lnSpc>
                <a:spcPts val="1458"/>
              </a:lnSpc>
            </a:pPr>
            <a:r>
              <a:rPr lang="en-US" sz="1350" dirty="0">
                <a:solidFill>
                  <a:srgbClr val="000000"/>
                </a:solidFill>
                <a:latin typeface="Arial"/>
                <a:ea typeface="Arial"/>
                <a:cs typeface="Arial"/>
                <a:sym typeface="Arial"/>
              </a:rPr>
              <a:t>334. No pursuit fairness in the office.</a:t>
            </a:r>
          </a:p>
          <a:p>
            <a:pPr algn="l">
              <a:lnSpc>
                <a:spcPts val="1458"/>
              </a:lnSpc>
            </a:pPr>
            <a:r>
              <a:rPr lang="en-US" sz="1350" dirty="0">
                <a:solidFill>
                  <a:srgbClr val="000000"/>
                </a:solidFill>
                <a:latin typeface="Arial"/>
                <a:ea typeface="Arial"/>
                <a:cs typeface="Arial"/>
                <a:sym typeface="Arial"/>
              </a:rPr>
              <a:t>335. No one can stop your learning.</a:t>
            </a:r>
          </a:p>
          <a:p>
            <a:pPr algn="l">
              <a:lnSpc>
                <a:spcPts val="1458"/>
              </a:lnSpc>
            </a:pPr>
            <a:r>
              <a:rPr lang="en-US" sz="1350" dirty="0">
                <a:solidFill>
                  <a:srgbClr val="000000"/>
                </a:solidFill>
                <a:latin typeface="Arial"/>
                <a:ea typeface="Arial"/>
                <a:cs typeface="Arial"/>
                <a:sym typeface="Arial"/>
              </a:rPr>
              <a:t>336. Evaluate the value  of your tasks. In short term or long term view. Try to gain value or experience from what you did.</a:t>
            </a:r>
          </a:p>
          <a:p>
            <a:pPr algn="l">
              <a:lnSpc>
                <a:spcPts val="1458"/>
              </a:lnSpc>
            </a:pPr>
            <a:r>
              <a:rPr lang="en-US" sz="1350" dirty="0">
                <a:solidFill>
                  <a:srgbClr val="000000"/>
                </a:solidFill>
                <a:latin typeface="Arial"/>
                <a:ea typeface="Arial"/>
                <a:cs typeface="Arial"/>
                <a:sym typeface="Arial"/>
              </a:rPr>
              <a:t>337.People attend to think in a negative way or overthink. </a:t>
            </a:r>
          </a:p>
          <a:p>
            <a:pPr algn="l">
              <a:lnSpc>
                <a:spcPts val="1458"/>
              </a:lnSpc>
            </a:pPr>
            <a:r>
              <a:rPr lang="en-US" sz="1350" dirty="0">
                <a:solidFill>
                  <a:srgbClr val="000000"/>
                </a:solidFill>
                <a:latin typeface="Arial"/>
                <a:ea typeface="Arial"/>
                <a:cs typeface="Arial"/>
                <a:sym typeface="Arial"/>
              </a:rPr>
              <a:t>338. More discussions is good ( if not diverge). Learn from others.</a:t>
            </a:r>
          </a:p>
          <a:p>
            <a:pPr algn="l">
              <a:lnSpc>
                <a:spcPts val="1458"/>
              </a:lnSpc>
            </a:pPr>
            <a:r>
              <a:rPr lang="en-US" sz="1350" dirty="0">
                <a:solidFill>
                  <a:srgbClr val="000000"/>
                </a:solidFill>
                <a:latin typeface="Arial"/>
                <a:ea typeface="Arial"/>
                <a:cs typeface="Arial"/>
                <a:sym typeface="Arial"/>
              </a:rPr>
              <a:t>339. Speak out, you are occupied by other business.</a:t>
            </a:r>
          </a:p>
          <a:p>
            <a:pPr algn="l">
              <a:lnSpc>
                <a:spcPts val="1458"/>
              </a:lnSpc>
            </a:pPr>
            <a:r>
              <a:rPr lang="en-US" sz="1350" dirty="0">
                <a:solidFill>
                  <a:srgbClr val="000000"/>
                </a:solidFill>
                <a:latin typeface="Arial"/>
                <a:ea typeface="Arial"/>
                <a:cs typeface="Arial"/>
                <a:sym typeface="Arial"/>
              </a:rPr>
              <a:t>340. To be an expert in your field</a:t>
            </a:r>
          </a:p>
          <a:p>
            <a:pPr algn="l">
              <a:lnSpc>
                <a:spcPts val="1458"/>
              </a:lnSpc>
            </a:pPr>
            <a:r>
              <a:rPr lang="en-US" sz="1350" dirty="0">
                <a:solidFill>
                  <a:srgbClr val="000000"/>
                </a:solidFill>
                <a:latin typeface="Arial"/>
                <a:ea typeface="Arial"/>
                <a:cs typeface="Arial"/>
                <a:sym typeface="Arial"/>
              </a:rPr>
              <a:t>341. Choose OKR / OGSM / KPI. The important things first. Top 3 dailies. OGSM.</a:t>
            </a:r>
          </a:p>
          <a:p>
            <a:pPr algn="l">
              <a:lnSpc>
                <a:spcPts val="1458"/>
              </a:lnSpc>
            </a:pPr>
            <a:r>
              <a:rPr lang="en-US" sz="1350" dirty="0">
                <a:solidFill>
                  <a:srgbClr val="000000"/>
                </a:solidFill>
                <a:latin typeface="Arial"/>
                <a:ea typeface="Arial"/>
                <a:cs typeface="Arial"/>
                <a:sym typeface="Arial"/>
              </a:rPr>
              <a:t>342. Secure your field ( territory)  first and protect your passion. Energy.</a:t>
            </a:r>
          </a:p>
          <a:p>
            <a:pPr algn="l">
              <a:lnSpc>
                <a:spcPts val="1458"/>
              </a:lnSpc>
            </a:pPr>
            <a:r>
              <a:rPr lang="en-US" sz="1350" dirty="0">
                <a:solidFill>
                  <a:srgbClr val="000000"/>
                </a:solidFill>
                <a:latin typeface="Arial"/>
                <a:ea typeface="Arial"/>
                <a:cs typeface="Arial"/>
                <a:sym typeface="Arial"/>
              </a:rPr>
              <a:t>343.Reserved your time for exercise, family, learning. Let things with less important go ( the less the better).  OKR. Sacred time</a:t>
            </a:r>
          </a:p>
          <a:p>
            <a:pPr algn="l">
              <a:lnSpc>
                <a:spcPts val="1458"/>
              </a:lnSpc>
            </a:pPr>
            <a:r>
              <a:rPr lang="en-US" sz="1350" dirty="0">
                <a:solidFill>
                  <a:srgbClr val="000000"/>
                </a:solidFill>
                <a:latin typeface="Calibri (MS)"/>
                <a:ea typeface="Calibri (MS)"/>
                <a:cs typeface="Calibri (MS)"/>
                <a:sym typeface="Calibri (MS)"/>
              </a:rPr>
              <a:t>344.You won’t work in this company till retire. You need to have some backup plan. What is future roadmap for your product and career? Item 328</a:t>
            </a:r>
          </a:p>
          <a:p>
            <a:pPr algn="l">
              <a:lnSpc>
                <a:spcPts val="1458"/>
              </a:lnSpc>
            </a:pPr>
            <a:r>
              <a:rPr lang="en-US" sz="1350" dirty="0">
                <a:solidFill>
                  <a:srgbClr val="000000"/>
                </a:solidFill>
                <a:latin typeface="Calibri (MS)"/>
                <a:ea typeface="Calibri (MS)"/>
                <a:cs typeface="Calibri (MS)"/>
                <a:sym typeface="Calibri (MS)"/>
              </a:rPr>
              <a:t>345.Do you have any list for travel, or any activities?</a:t>
            </a:r>
          </a:p>
          <a:p>
            <a:pPr algn="l">
              <a:lnSpc>
                <a:spcPts val="1458"/>
              </a:lnSpc>
            </a:pPr>
            <a:r>
              <a:rPr lang="en-US" sz="1350" dirty="0">
                <a:solidFill>
                  <a:srgbClr val="000000"/>
                </a:solidFill>
                <a:latin typeface="Calibri (MS)"/>
                <a:ea typeface="Calibri (MS)"/>
                <a:cs typeface="Calibri (MS)"/>
                <a:sym typeface="Calibri (MS)"/>
              </a:rPr>
              <a:t>346. Prepare an inspiring song list for the downturn and setback.</a:t>
            </a:r>
          </a:p>
          <a:p>
            <a:pPr algn="l">
              <a:lnSpc>
                <a:spcPts val="1458"/>
              </a:lnSpc>
            </a:pPr>
            <a:r>
              <a:rPr lang="en-US" sz="1350" dirty="0">
                <a:solidFill>
                  <a:srgbClr val="000000"/>
                </a:solidFill>
                <a:latin typeface="Calibri (MS)"/>
                <a:ea typeface="Calibri (MS)"/>
                <a:cs typeface="Calibri (MS)"/>
                <a:sym typeface="Calibri (MS)"/>
              </a:rPr>
              <a:t>347. Always to challenge yourself for being best. Improve a little everyday. Small win</a:t>
            </a:r>
          </a:p>
          <a:p>
            <a:pPr algn="l">
              <a:lnSpc>
                <a:spcPts val="1458"/>
              </a:lnSpc>
            </a:pPr>
            <a:r>
              <a:rPr lang="en-US" sz="1350" dirty="0">
                <a:solidFill>
                  <a:srgbClr val="000000"/>
                </a:solidFill>
                <a:latin typeface="Calibri (MS)"/>
                <a:ea typeface="Calibri (MS)"/>
                <a:cs typeface="Calibri (MS)"/>
                <a:sym typeface="Calibri (MS)"/>
              </a:rPr>
              <a:t>350. What’s takeaways for this meeting / discussion?</a:t>
            </a:r>
          </a:p>
          <a:p>
            <a:pPr algn="l">
              <a:lnSpc>
                <a:spcPts val="1458"/>
              </a:lnSpc>
            </a:pPr>
            <a:r>
              <a:rPr lang="en-US" sz="1350" dirty="0">
                <a:solidFill>
                  <a:srgbClr val="000000"/>
                </a:solidFill>
                <a:latin typeface="Calibri (MS)"/>
                <a:ea typeface="Calibri (MS)"/>
                <a:cs typeface="Calibri (MS)"/>
                <a:sym typeface="Calibri (MS)"/>
              </a:rPr>
              <a:t>351. Pay attention to the anchoring effect when making plans. A certain margin is also required.</a:t>
            </a:r>
          </a:p>
          <a:p>
            <a:pPr algn="l">
              <a:lnSpc>
                <a:spcPts val="1458"/>
              </a:lnSpc>
            </a:pPr>
            <a:r>
              <a:rPr lang="en-US" sz="1350" dirty="0">
                <a:solidFill>
                  <a:srgbClr val="000000"/>
                </a:solidFill>
                <a:latin typeface="Calibri (MS)"/>
                <a:ea typeface="Calibri (MS)"/>
                <a:cs typeface="Calibri (MS)"/>
                <a:sym typeface="Calibri (MS)"/>
              </a:rPr>
              <a:t>352.Antifragile, prepare resign letter and update your resume (adding the latest keywords so people hunter can find you.).  Understand your power of circle. Call / connect head hunter to see if any opportunities. </a:t>
            </a:r>
          </a:p>
          <a:p>
            <a:pPr algn="l">
              <a:lnSpc>
                <a:spcPts val="1458"/>
              </a:lnSpc>
            </a:pPr>
            <a:r>
              <a:rPr lang="en-US" sz="1350" dirty="0">
                <a:solidFill>
                  <a:srgbClr val="000000"/>
                </a:solidFill>
                <a:latin typeface="Calibri (MS)"/>
                <a:ea typeface="Calibri (MS)"/>
                <a:cs typeface="Calibri (MS)"/>
                <a:sym typeface="Calibri (MS)"/>
              </a:rPr>
              <a:t>353. Reserve/book coffee breaks between consecutive meetings. No more than 3 sessions per day.</a:t>
            </a:r>
          </a:p>
          <a:p>
            <a:pPr algn="l">
              <a:lnSpc>
                <a:spcPts val="1458"/>
              </a:lnSpc>
            </a:pPr>
            <a:r>
              <a:rPr lang="en-US" sz="1350" dirty="0">
                <a:solidFill>
                  <a:srgbClr val="000000"/>
                </a:solidFill>
                <a:latin typeface="Calibri (MS)"/>
                <a:ea typeface="Calibri (MS)"/>
                <a:cs typeface="Calibri (MS)"/>
                <a:sym typeface="Calibri (MS)"/>
              </a:rPr>
              <a:t>354. Spend time on reviewing what you achieved, documentation and what and how you feel. For annual performance, item 331.) every week, month, quarterly and year.</a:t>
            </a:r>
          </a:p>
          <a:p>
            <a:pPr algn="l">
              <a:lnSpc>
                <a:spcPts val="1458"/>
              </a:lnSpc>
            </a:pPr>
            <a:r>
              <a:rPr lang="en-US" sz="1350" dirty="0">
                <a:solidFill>
                  <a:srgbClr val="000000"/>
                </a:solidFill>
                <a:latin typeface="Calibri (MS)"/>
                <a:ea typeface="Calibri (MS)"/>
                <a:cs typeface="Calibri (MS)"/>
                <a:sym typeface="Calibri (MS)"/>
              </a:rPr>
              <a:t>355.CAGR, EBIT, understand financial terms.  ITEM 62. YOY, QoQ</a:t>
            </a:r>
          </a:p>
          <a:p>
            <a:pPr algn="l">
              <a:lnSpc>
                <a:spcPts val="2268"/>
              </a:lnSpc>
            </a:pPr>
            <a:endParaRPr lang="en-US" sz="1350" dirty="0">
              <a:solidFill>
                <a:srgbClr val="000000"/>
              </a:solidFill>
              <a:latin typeface="Calibri (MS)"/>
              <a:ea typeface="Calibri (MS)"/>
              <a:cs typeface="Calibri (MS)"/>
              <a:sym typeface="Calibri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7633" y="225895"/>
            <a:ext cx="9703651" cy="8552469"/>
          </a:xfrm>
          <a:prstGeom prst="rect">
            <a:avLst/>
          </a:prstGeom>
        </p:spPr>
        <p:txBody>
          <a:bodyPr lIns="0" tIns="0" rIns="0" bIns="0" rtlCol="0" anchor="t">
            <a:spAutoFit/>
          </a:bodyPr>
          <a:lstStyle/>
          <a:p>
            <a:pPr algn="l">
              <a:lnSpc>
                <a:spcPts val="1701"/>
              </a:lnSpc>
            </a:pPr>
            <a:r>
              <a:rPr lang="en-US" sz="1575" dirty="0">
                <a:solidFill>
                  <a:srgbClr val="000000"/>
                </a:solidFill>
                <a:latin typeface="Calibri (MS)"/>
                <a:ea typeface="Calibri (MS)"/>
                <a:cs typeface="Calibri (MS)"/>
                <a:sym typeface="Calibri (MS)"/>
              </a:rPr>
              <a:t>356. Don’t be perfect, don’t need to finish thing in one time, the difference between good and good for you. Be patient, step by step.</a:t>
            </a:r>
          </a:p>
          <a:p>
            <a:pPr algn="l">
              <a:lnSpc>
                <a:spcPts val="1701"/>
              </a:lnSpc>
            </a:pPr>
            <a:r>
              <a:rPr lang="en-US" sz="1575" dirty="0">
                <a:solidFill>
                  <a:srgbClr val="000000"/>
                </a:solidFill>
                <a:latin typeface="Calibri (MS)"/>
                <a:ea typeface="Calibri (MS)"/>
                <a:cs typeface="Calibri (MS)"/>
                <a:sym typeface="Calibri (MS)"/>
              </a:rPr>
              <a:t>357. Care about your instinct, what does it feel and want to tell you?  ( however, scientific  data talk more)</a:t>
            </a:r>
          </a:p>
          <a:p>
            <a:pPr algn="l">
              <a:lnSpc>
                <a:spcPts val="1701"/>
              </a:lnSpc>
            </a:pPr>
            <a:r>
              <a:rPr lang="en-US" sz="1575" dirty="0">
                <a:solidFill>
                  <a:srgbClr val="000000"/>
                </a:solidFill>
                <a:latin typeface="Calibri (MS)"/>
                <a:ea typeface="Calibri (MS)"/>
                <a:cs typeface="Calibri (MS)"/>
                <a:sym typeface="Calibri (MS)"/>
              </a:rPr>
              <a:t>358. Go  around when tired in front of laptop, find someone you feel he/she is stressful and encourage him/her.</a:t>
            </a:r>
          </a:p>
          <a:p>
            <a:pPr algn="l">
              <a:lnSpc>
                <a:spcPts val="1701"/>
              </a:lnSpc>
            </a:pPr>
            <a:r>
              <a:rPr lang="en-US" sz="1575" dirty="0">
                <a:solidFill>
                  <a:srgbClr val="000000"/>
                </a:solidFill>
                <a:latin typeface="Calibri (MS)"/>
                <a:ea typeface="Calibri (MS)"/>
                <a:cs typeface="Calibri (MS)"/>
                <a:sym typeface="Calibri (MS)"/>
              </a:rPr>
              <a:t>359. Be proactive when no one realize what you did or any contribution, highlights them autonomously, they may value you again or learn from you, in the end you will earn respect. what did you accumulate?</a:t>
            </a:r>
          </a:p>
          <a:p>
            <a:pPr algn="l">
              <a:lnSpc>
                <a:spcPts val="1701"/>
              </a:lnSpc>
            </a:pPr>
            <a:r>
              <a:rPr lang="en-US" sz="1575" dirty="0">
                <a:solidFill>
                  <a:srgbClr val="000000"/>
                </a:solidFill>
                <a:latin typeface="Calibri (MS)"/>
                <a:ea typeface="Calibri (MS)"/>
                <a:cs typeface="Calibri (MS)"/>
                <a:sym typeface="Calibri (MS)"/>
              </a:rPr>
              <a:t>360. Make a good report template for regular meeting and certain topic. ( EX: 8D, one page…, yield, </a:t>
            </a:r>
            <a:r>
              <a:rPr lang="en-US" sz="1575" dirty="0" err="1">
                <a:solidFill>
                  <a:srgbClr val="000000"/>
                </a:solidFill>
                <a:latin typeface="Calibri (MS)"/>
                <a:ea typeface="Calibri (MS)"/>
                <a:cs typeface="Calibri (MS)"/>
                <a:sym typeface="Calibri (MS)"/>
              </a:rPr>
              <a:t>tarshiro</a:t>
            </a:r>
            <a:r>
              <a:rPr lang="en-US" sz="1575" dirty="0">
                <a:solidFill>
                  <a:srgbClr val="000000"/>
                </a:solidFill>
                <a:latin typeface="Calibri (MS)"/>
                <a:ea typeface="Calibri (MS)"/>
                <a:cs typeface="Calibri (MS)"/>
                <a:sym typeface="Calibri (MS)"/>
              </a:rPr>
              <a:t>)</a:t>
            </a:r>
          </a:p>
          <a:p>
            <a:pPr algn="l">
              <a:lnSpc>
                <a:spcPts val="1701"/>
              </a:lnSpc>
            </a:pPr>
            <a:r>
              <a:rPr lang="en-US" sz="1575" dirty="0">
                <a:solidFill>
                  <a:srgbClr val="000000"/>
                </a:solidFill>
                <a:latin typeface="Calibri (MS)"/>
                <a:ea typeface="Calibri (MS)"/>
                <a:cs typeface="Calibri (MS)"/>
                <a:sym typeface="Calibri (MS)"/>
              </a:rPr>
              <a:t>361. You don't need to comment for everything. Keep silence. Keep mouth shunt.</a:t>
            </a:r>
          </a:p>
          <a:p>
            <a:pPr algn="l">
              <a:lnSpc>
                <a:spcPts val="1701"/>
              </a:lnSpc>
            </a:pPr>
            <a:r>
              <a:rPr lang="en-US" sz="1575" dirty="0">
                <a:solidFill>
                  <a:srgbClr val="000000"/>
                </a:solidFill>
                <a:latin typeface="Calibri (MS)"/>
                <a:ea typeface="Calibri (MS)"/>
                <a:cs typeface="Calibri (MS)"/>
                <a:sym typeface="Calibri (MS)"/>
              </a:rPr>
              <a:t>Separate fields between work and life. it is not easy.  No reply is a reply.</a:t>
            </a:r>
          </a:p>
          <a:p>
            <a:pPr algn="l">
              <a:lnSpc>
                <a:spcPts val="1701"/>
              </a:lnSpc>
            </a:pPr>
            <a:r>
              <a:rPr lang="en-US" sz="1575" dirty="0">
                <a:solidFill>
                  <a:srgbClr val="000000"/>
                </a:solidFill>
                <a:latin typeface="Calibri (MS)"/>
                <a:ea typeface="Calibri (MS)"/>
                <a:cs typeface="Calibri (MS)"/>
                <a:sym typeface="Calibri (MS)"/>
              </a:rPr>
              <a:t>362. Focus on 3 key tasks per day. Don’t exceed 3 items ( major).</a:t>
            </a:r>
          </a:p>
          <a:p>
            <a:pPr algn="l">
              <a:lnSpc>
                <a:spcPts val="1701"/>
              </a:lnSpc>
            </a:pPr>
            <a:r>
              <a:rPr lang="en-US" sz="1575" dirty="0">
                <a:solidFill>
                  <a:srgbClr val="000000"/>
                </a:solidFill>
                <a:latin typeface="Calibri (MS)"/>
                <a:ea typeface="Calibri (MS)"/>
                <a:cs typeface="Calibri (MS)"/>
                <a:sym typeface="Calibri (MS)"/>
              </a:rPr>
              <a:t>363. Don’t need to finish task in one time. Be patient. ( breakdown), Long term mindset.</a:t>
            </a:r>
          </a:p>
          <a:p>
            <a:pPr algn="l">
              <a:lnSpc>
                <a:spcPts val="1701"/>
              </a:lnSpc>
            </a:pPr>
            <a:r>
              <a:rPr lang="en-US" sz="1575" dirty="0">
                <a:solidFill>
                  <a:srgbClr val="000000"/>
                </a:solidFill>
                <a:latin typeface="Calibri (MS)"/>
                <a:ea typeface="Calibri (MS)"/>
                <a:cs typeface="Calibri (MS)"/>
                <a:sym typeface="Calibri (MS)"/>
              </a:rPr>
              <a:t>364.Do high value-added work. Separate high/low value job, but don’t forget basic knowledge. Rep by rep.</a:t>
            </a:r>
          </a:p>
          <a:p>
            <a:pPr algn="l">
              <a:lnSpc>
                <a:spcPts val="1701"/>
              </a:lnSpc>
            </a:pPr>
            <a:r>
              <a:rPr lang="en-US" sz="1575" dirty="0">
                <a:solidFill>
                  <a:srgbClr val="000000"/>
                </a:solidFill>
                <a:latin typeface="Calibri (MS)"/>
                <a:ea typeface="Calibri (MS)"/>
                <a:cs typeface="Calibri (MS)"/>
                <a:sym typeface="Calibri (MS)"/>
              </a:rPr>
              <a:t>365. Taking statistics, it may cheat by percentage, absolute number, and base number, unit fallacy. What’s reference</a:t>
            </a:r>
          </a:p>
          <a:p>
            <a:pPr algn="l">
              <a:lnSpc>
                <a:spcPts val="1701"/>
              </a:lnSpc>
            </a:pPr>
            <a:r>
              <a:rPr lang="en-US" sz="1575" dirty="0">
                <a:solidFill>
                  <a:srgbClr val="000000"/>
                </a:solidFill>
                <a:latin typeface="Calibri (MS)"/>
                <a:ea typeface="Calibri (MS)"/>
                <a:cs typeface="Calibri (MS)"/>
                <a:sym typeface="Calibri (MS)"/>
              </a:rPr>
              <a:t>366.Improve yourself while you are waiting for things ( environment) to improve. But not squeeze too much</a:t>
            </a:r>
          </a:p>
          <a:p>
            <a:pPr algn="l">
              <a:lnSpc>
                <a:spcPts val="1701"/>
              </a:lnSpc>
            </a:pPr>
            <a:r>
              <a:rPr lang="en-US" sz="1575" dirty="0">
                <a:solidFill>
                  <a:srgbClr val="000000"/>
                </a:solidFill>
                <a:latin typeface="Calibri (MS)"/>
                <a:ea typeface="Calibri (MS)"/>
                <a:cs typeface="Calibri (MS)"/>
                <a:sym typeface="Calibri (MS)"/>
              </a:rPr>
              <a:t>367.Perfection may kill you in some cases. Small step everyday achieve big. item 356.</a:t>
            </a:r>
          </a:p>
          <a:p>
            <a:pPr algn="l">
              <a:lnSpc>
                <a:spcPts val="1701"/>
              </a:lnSpc>
            </a:pPr>
            <a:r>
              <a:rPr lang="en-US" sz="1575" dirty="0">
                <a:solidFill>
                  <a:srgbClr val="000000"/>
                </a:solidFill>
                <a:latin typeface="Calibri (MS)"/>
                <a:ea typeface="Calibri (MS)"/>
                <a:cs typeface="Calibri (MS)"/>
                <a:sym typeface="Calibri (MS)"/>
              </a:rPr>
              <a:t>368.Digest big information / date in short period. ( need practices and time), use new technology tool.</a:t>
            </a:r>
          </a:p>
          <a:p>
            <a:pPr algn="l">
              <a:lnSpc>
                <a:spcPts val="1701"/>
              </a:lnSpc>
            </a:pPr>
            <a:r>
              <a:rPr lang="en-US" sz="1575" dirty="0">
                <a:solidFill>
                  <a:srgbClr val="000000"/>
                </a:solidFill>
                <a:latin typeface="Calibri (MS)"/>
                <a:ea typeface="Calibri (MS)"/>
                <a:cs typeface="Calibri (MS)"/>
                <a:sym typeface="Calibri (MS)"/>
              </a:rPr>
              <a:t>369. Don’t over think too much. Just do and execute it and see what happened and adjust.</a:t>
            </a:r>
          </a:p>
          <a:p>
            <a:pPr algn="l">
              <a:lnSpc>
                <a:spcPts val="1701"/>
              </a:lnSpc>
            </a:pPr>
            <a:r>
              <a:rPr lang="en-US" sz="1575" dirty="0">
                <a:solidFill>
                  <a:srgbClr val="000000"/>
                </a:solidFill>
                <a:latin typeface="Calibri (MS)"/>
                <a:ea typeface="Calibri (MS)"/>
                <a:cs typeface="Calibri (MS)"/>
                <a:sym typeface="Calibri (MS)"/>
              </a:rPr>
              <a:t>370. PDCA, finish cycle. Accept uncertainty, make sure your mind get stronger day by day, it is a long journey. </a:t>
            </a:r>
          </a:p>
          <a:p>
            <a:pPr algn="l">
              <a:lnSpc>
                <a:spcPts val="1701"/>
              </a:lnSpc>
            </a:pPr>
            <a:r>
              <a:rPr lang="en-US" sz="1575" dirty="0">
                <a:solidFill>
                  <a:srgbClr val="000000"/>
                </a:solidFill>
                <a:latin typeface="Calibri (MS)"/>
                <a:ea typeface="Calibri (MS)"/>
                <a:cs typeface="Calibri (MS)"/>
                <a:sym typeface="Calibri (MS)"/>
              </a:rPr>
              <a:t>371. Don’t overlook every small step you walk. Be consistent.</a:t>
            </a:r>
          </a:p>
          <a:p>
            <a:pPr algn="l">
              <a:lnSpc>
                <a:spcPts val="1701"/>
              </a:lnSpc>
            </a:pPr>
            <a:r>
              <a:rPr lang="en-US" sz="1575" dirty="0">
                <a:solidFill>
                  <a:srgbClr val="000000"/>
                </a:solidFill>
                <a:latin typeface="Calibri (MS)"/>
                <a:ea typeface="Calibri (MS)"/>
                <a:cs typeface="Calibri (MS)"/>
                <a:sym typeface="Calibri (MS)"/>
              </a:rPr>
              <a:t>372. A simple talks may ease some tension situation. Like talking weathers, sports. Holiday events</a:t>
            </a:r>
          </a:p>
          <a:p>
            <a:pPr algn="l">
              <a:lnSpc>
                <a:spcPts val="1701"/>
              </a:lnSpc>
            </a:pPr>
            <a:r>
              <a:rPr lang="en-US" sz="1575" dirty="0">
                <a:solidFill>
                  <a:srgbClr val="000000"/>
                </a:solidFill>
                <a:latin typeface="Calibri (MS)"/>
                <a:ea typeface="Calibri (MS)"/>
                <a:cs typeface="Calibri (MS)"/>
                <a:sym typeface="Calibri (MS)"/>
              </a:rPr>
              <a:t>373. Make fun for your job. Find new things. To grow your mind. </a:t>
            </a:r>
            <a:r>
              <a:rPr lang="en-US" sz="1575" dirty="0" err="1">
                <a:solidFill>
                  <a:srgbClr val="000000"/>
                </a:solidFill>
                <a:latin typeface="Calibri (MS)"/>
                <a:ea typeface="Calibri (MS)"/>
                <a:cs typeface="Calibri (MS)"/>
                <a:sym typeface="Calibri (MS)"/>
              </a:rPr>
              <a:t>Resilance</a:t>
            </a:r>
            <a:endParaRPr lang="en-US" sz="1575" dirty="0">
              <a:solidFill>
                <a:srgbClr val="000000"/>
              </a:solidFill>
              <a:latin typeface="Calibri (MS)"/>
              <a:ea typeface="Calibri (MS)"/>
              <a:cs typeface="Calibri (MS)"/>
              <a:sym typeface="Calibri (MS)"/>
            </a:endParaRPr>
          </a:p>
          <a:p>
            <a:pPr algn="l">
              <a:lnSpc>
                <a:spcPts val="1701"/>
              </a:lnSpc>
            </a:pPr>
            <a:r>
              <a:rPr lang="en-US" sz="1575" dirty="0">
                <a:solidFill>
                  <a:srgbClr val="000000"/>
                </a:solidFill>
                <a:latin typeface="Calibri (MS)"/>
                <a:ea typeface="Calibri (MS)"/>
                <a:cs typeface="Calibri (MS)"/>
                <a:sym typeface="Calibri (MS)"/>
              </a:rPr>
              <a:t>374. Set a one-minute goal. ( MVP) P380</a:t>
            </a:r>
          </a:p>
          <a:p>
            <a:pPr algn="l">
              <a:lnSpc>
                <a:spcPts val="1701"/>
              </a:lnSpc>
            </a:pPr>
            <a:r>
              <a:rPr lang="en-US" sz="1575" dirty="0">
                <a:solidFill>
                  <a:srgbClr val="000000"/>
                </a:solidFill>
                <a:latin typeface="Calibri (MS)"/>
                <a:ea typeface="Calibri (MS)"/>
                <a:cs typeface="Calibri (MS)"/>
                <a:sym typeface="Calibri (MS)"/>
              </a:rPr>
              <a:t>375.Spend time on your goal and spend more time on execution. </a:t>
            </a:r>
          </a:p>
          <a:p>
            <a:pPr algn="l">
              <a:lnSpc>
                <a:spcPts val="1701"/>
              </a:lnSpc>
            </a:pPr>
            <a:r>
              <a:rPr lang="en-US" sz="1575" dirty="0">
                <a:solidFill>
                  <a:srgbClr val="000000"/>
                </a:solidFill>
                <a:latin typeface="Calibri (MS)"/>
                <a:ea typeface="Calibri (MS)"/>
                <a:cs typeface="Calibri (MS)"/>
                <a:sym typeface="Calibri (MS)"/>
              </a:rPr>
              <a:t>376. Stop telling people more than they need to know. P457</a:t>
            </a:r>
          </a:p>
          <a:p>
            <a:pPr algn="l">
              <a:lnSpc>
                <a:spcPts val="1701"/>
              </a:lnSpc>
            </a:pPr>
            <a:r>
              <a:rPr lang="en-US" sz="1575" dirty="0">
                <a:solidFill>
                  <a:srgbClr val="000000"/>
                </a:solidFill>
                <a:latin typeface="Calibri (MS)"/>
                <a:ea typeface="Calibri (MS)"/>
                <a:cs typeface="Calibri (MS)"/>
                <a:sym typeface="Calibri (MS)"/>
              </a:rPr>
              <a:t>377. =&gt; don't reply email after 3:00 PM if it is not necessary. spend time on real output, learn new things/growth, documentation...etc. habit, positive words,=&gt; just fine....just good. </a:t>
            </a:r>
          </a:p>
          <a:p>
            <a:pPr algn="l">
              <a:lnSpc>
                <a:spcPts val="1701"/>
              </a:lnSpc>
            </a:pPr>
            <a:r>
              <a:rPr lang="en-US" sz="1575" dirty="0">
                <a:solidFill>
                  <a:srgbClr val="000000"/>
                </a:solidFill>
                <a:latin typeface="Calibri (MS)"/>
                <a:ea typeface="Calibri (MS)"/>
                <a:cs typeface="Calibri (MS)"/>
                <a:sym typeface="Calibri (MS)"/>
              </a:rPr>
              <a:t>378. I am driving this activity with low priority in my daily to do list. Hope to get is done by end of September. Could you please let me know more background of your question, any need to change my to do list priority. Way to request. </a:t>
            </a:r>
          </a:p>
          <a:p>
            <a:pPr algn="l">
              <a:lnSpc>
                <a:spcPts val="1701"/>
              </a:lnSpc>
            </a:pPr>
            <a:r>
              <a:rPr lang="en-US" sz="1575" dirty="0">
                <a:solidFill>
                  <a:srgbClr val="000000"/>
                </a:solidFill>
                <a:latin typeface="Calibri (MS)"/>
                <a:ea typeface="Calibri (MS)"/>
                <a:cs typeface="Calibri (MS)"/>
                <a:sym typeface="Calibri (MS)"/>
              </a:rPr>
              <a:t>379. always ready to leave Your current position. And learn a survival skill to work anywhere. Always pay you first. The abilities you can take away.</a:t>
            </a:r>
          </a:p>
          <a:p>
            <a:pPr algn="l">
              <a:lnSpc>
                <a:spcPts val="1701"/>
              </a:lnSpc>
            </a:pPr>
            <a:r>
              <a:rPr lang="en-US" sz="1575" dirty="0">
                <a:solidFill>
                  <a:srgbClr val="000000"/>
                </a:solidFill>
                <a:latin typeface="Calibri (MS)"/>
                <a:ea typeface="Calibri (MS)"/>
                <a:cs typeface="Calibri (MS)"/>
                <a:sym typeface="Calibri (MS)"/>
              </a:rPr>
              <a:t>380. Prepare 1 min actions. As part of sense of </a:t>
            </a:r>
            <a:r>
              <a:rPr lang="en-US" sz="1575" dirty="0" err="1">
                <a:solidFill>
                  <a:srgbClr val="000000"/>
                </a:solidFill>
                <a:latin typeface="Calibri (MS)"/>
                <a:ea typeface="Calibri (MS)"/>
                <a:cs typeface="Calibri (MS)"/>
                <a:sym typeface="Calibri (MS)"/>
              </a:rPr>
              <a:t>ritual.Deep</a:t>
            </a:r>
            <a:r>
              <a:rPr lang="en-US" sz="1575" dirty="0">
                <a:solidFill>
                  <a:srgbClr val="000000"/>
                </a:solidFill>
                <a:latin typeface="Calibri (MS)"/>
                <a:ea typeface="Calibri (MS)"/>
                <a:cs typeface="Calibri (MS)"/>
                <a:sym typeface="Calibri (MS)"/>
              </a:rPr>
              <a:t> breath.</a:t>
            </a:r>
          </a:p>
          <a:p>
            <a:pPr algn="l">
              <a:lnSpc>
                <a:spcPts val="1701"/>
              </a:lnSpc>
            </a:pPr>
            <a:r>
              <a:rPr lang="en-US" sz="1575" dirty="0">
                <a:solidFill>
                  <a:srgbClr val="000000"/>
                </a:solidFill>
                <a:latin typeface="Calibri (MS)"/>
                <a:ea typeface="Calibri (MS)"/>
                <a:cs typeface="Calibri (MS)"/>
                <a:sym typeface="Calibri (MS)"/>
              </a:rPr>
              <a:t>381. In any situation, stay calm.  Item388.</a:t>
            </a:r>
          </a:p>
          <a:p>
            <a:pPr algn="l">
              <a:lnSpc>
                <a:spcPts val="1701"/>
              </a:lnSpc>
            </a:pPr>
            <a:r>
              <a:rPr lang="en-US" sz="1575" dirty="0">
                <a:solidFill>
                  <a:srgbClr val="000000"/>
                </a:solidFill>
                <a:latin typeface="Calibri (MS)"/>
                <a:ea typeface="Calibri (MS)"/>
                <a:cs typeface="Calibri (MS)"/>
                <a:sym typeface="Calibri (MS)"/>
              </a:rPr>
              <a:t>382. Learn read financial report from top managers and annual report for considering job security, what is the KPI for coming year. How to judge operation working fine or not. To see if your product is survived in the market?  What is product life? Cycle time.</a:t>
            </a:r>
          </a:p>
          <a:p>
            <a:pPr algn="l">
              <a:lnSpc>
                <a:spcPts val="1701"/>
              </a:lnSpc>
            </a:pPr>
            <a:r>
              <a:rPr lang="en-US" sz="1575" dirty="0">
                <a:solidFill>
                  <a:srgbClr val="000000"/>
                </a:solidFill>
                <a:latin typeface="Calibri (MS)"/>
                <a:ea typeface="Calibri (MS)"/>
                <a:cs typeface="Calibri (MS)"/>
                <a:sym typeface="Calibri (MS)"/>
              </a:rPr>
              <a:t>383. Don’t hesitate to use new tool or afraid of. Like </a:t>
            </a:r>
            <a:r>
              <a:rPr lang="en-US" sz="1575" dirty="0" err="1">
                <a:solidFill>
                  <a:srgbClr val="000000"/>
                </a:solidFill>
                <a:latin typeface="Calibri (MS)"/>
                <a:ea typeface="Calibri (MS)"/>
                <a:cs typeface="Calibri (MS)"/>
                <a:sym typeface="Calibri (MS)"/>
              </a:rPr>
              <a:t>Chatgpt</a:t>
            </a:r>
            <a:r>
              <a:rPr lang="en-US" sz="1575" dirty="0">
                <a:solidFill>
                  <a:srgbClr val="000000"/>
                </a:solidFill>
                <a:latin typeface="Calibri (MS)"/>
                <a:ea typeface="Calibri (MS)"/>
                <a:cs typeface="Calibri (MS)"/>
                <a:sym typeface="Calibri (MS)"/>
              </a:rPr>
              <a:t>, </a:t>
            </a:r>
            <a:r>
              <a:rPr lang="en-US" sz="1575" dirty="0" err="1">
                <a:solidFill>
                  <a:srgbClr val="000000"/>
                </a:solidFill>
                <a:latin typeface="Calibri (MS)"/>
                <a:ea typeface="Calibri (MS)"/>
                <a:cs typeface="Calibri (MS)"/>
                <a:sym typeface="Calibri (MS)"/>
              </a:rPr>
              <a:t>電子筆記。And</a:t>
            </a:r>
            <a:r>
              <a:rPr lang="en-US" sz="1575" dirty="0">
                <a:solidFill>
                  <a:srgbClr val="000000"/>
                </a:solidFill>
                <a:latin typeface="Calibri (MS)"/>
                <a:ea typeface="Calibri (MS)"/>
                <a:cs typeface="Calibri (MS)"/>
                <a:sym typeface="Calibri (MS)"/>
              </a:rPr>
              <a:t> think where to find it next time quickly. Automation</a:t>
            </a:r>
          </a:p>
          <a:p>
            <a:pPr algn="l">
              <a:lnSpc>
                <a:spcPts val="4536"/>
              </a:lnSpc>
            </a:pPr>
            <a:endParaRPr lang="en-US" sz="1575" dirty="0">
              <a:solidFill>
                <a:srgbClr val="000000"/>
              </a:solidFill>
              <a:latin typeface="Calibri (MS)"/>
              <a:ea typeface="Calibri (MS)"/>
              <a:cs typeface="Calibri (MS)"/>
              <a:sym typeface="Calibri (MS)"/>
            </a:endParaRPr>
          </a:p>
        </p:txBody>
      </p:sp>
      <p:sp>
        <p:nvSpPr>
          <p:cNvPr id="3" name="TextBox 3"/>
          <p:cNvSpPr txBox="1"/>
          <p:nvPr/>
        </p:nvSpPr>
        <p:spPr>
          <a:xfrm>
            <a:off x="10102567" y="235401"/>
            <a:ext cx="8094002" cy="10307650"/>
          </a:xfrm>
          <a:prstGeom prst="rect">
            <a:avLst/>
          </a:prstGeom>
        </p:spPr>
        <p:txBody>
          <a:bodyPr lIns="0" tIns="0" rIns="0" bIns="0" rtlCol="0" anchor="t">
            <a:spAutoFit/>
          </a:bodyPr>
          <a:lstStyle/>
          <a:p>
            <a:pPr algn="l">
              <a:lnSpc>
                <a:spcPts val="1782"/>
              </a:lnSpc>
            </a:pPr>
            <a:r>
              <a:rPr lang="en-US" sz="1650" dirty="0">
                <a:solidFill>
                  <a:srgbClr val="000000"/>
                </a:solidFill>
                <a:latin typeface="Arial"/>
                <a:ea typeface="Arial"/>
                <a:cs typeface="Arial"/>
                <a:sym typeface="Arial"/>
              </a:rPr>
              <a:t>384. don’t ask if you may know possible feedback or answers.</a:t>
            </a:r>
          </a:p>
          <a:p>
            <a:pPr algn="l">
              <a:lnSpc>
                <a:spcPts val="1782"/>
              </a:lnSpc>
            </a:pPr>
            <a:r>
              <a:rPr lang="en-US" sz="1650" dirty="0">
                <a:solidFill>
                  <a:srgbClr val="000000"/>
                </a:solidFill>
                <a:latin typeface="Arial"/>
                <a:ea typeface="Arial"/>
                <a:cs typeface="Arial"/>
                <a:sym typeface="Arial"/>
              </a:rPr>
              <a:t>385. Reduced email communication, talk directly if needed.</a:t>
            </a:r>
          </a:p>
          <a:p>
            <a:pPr algn="l">
              <a:lnSpc>
                <a:spcPts val="1782"/>
              </a:lnSpc>
            </a:pPr>
            <a:r>
              <a:rPr lang="en-US" sz="1650" dirty="0">
                <a:solidFill>
                  <a:srgbClr val="000000"/>
                </a:solidFill>
                <a:latin typeface="Arial"/>
                <a:ea typeface="Arial"/>
                <a:cs typeface="Arial"/>
                <a:sym typeface="Arial"/>
              </a:rPr>
              <a:t>386. Secure circle of power and extent it. Review your skill table.</a:t>
            </a:r>
          </a:p>
          <a:p>
            <a:pPr algn="l">
              <a:lnSpc>
                <a:spcPts val="1782"/>
              </a:lnSpc>
            </a:pPr>
            <a:r>
              <a:rPr lang="en-US" sz="1650" dirty="0">
                <a:solidFill>
                  <a:srgbClr val="000000"/>
                </a:solidFill>
                <a:latin typeface="Arial"/>
                <a:ea typeface="Arial"/>
                <a:cs typeface="Arial"/>
                <a:sym typeface="Arial"/>
              </a:rPr>
              <a:t>387. Keep silence till you meet your goal. Keep your mouth shout.</a:t>
            </a:r>
          </a:p>
          <a:p>
            <a:pPr algn="l">
              <a:lnSpc>
                <a:spcPts val="1782"/>
              </a:lnSpc>
            </a:pPr>
            <a:r>
              <a:rPr lang="en-US" sz="1650" dirty="0">
                <a:solidFill>
                  <a:srgbClr val="000000"/>
                </a:solidFill>
                <a:latin typeface="Arial"/>
                <a:ea typeface="Arial"/>
                <a:cs typeface="Arial"/>
                <a:sym typeface="Arial"/>
              </a:rPr>
              <a:t>388. To calm and have grown mindset when receiving negative / improved feedback.</a:t>
            </a:r>
          </a:p>
          <a:p>
            <a:pPr algn="l">
              <a:lnSpc>
                <a:spcPts val="1782"/>
              </a:lnSpc>
            </a:pPr>
            <a:r>
              <a:rPr lang="en-US" sz="1650" dirty="0">
                <a:solidFill>
                  <a:srgbClr val="000000"/>
                </a:solidFill>
                <a:latin typeface="Arial"/>
                <a:ea typeface="Arial"/>
                <a:cs typeface="Arial"/>
                <a:sym typeface="Arial"/>
              </a:rPr>
              <a:t>389. What do you learn from the past and how to improve in the future.</a:t>
            </a:r>
          </a:p>
          <a:p>
            <a:pPr algn="l">
              <a:lnSpc>
                <a:spcPts val="1782"/>
              </a:lnSpc>
            </a:pPr>
            <a:r>
              <a:rPr lang="en-US" sz="1650" dirty="0">
                <a:solidFill>
                  <a:srgbClr val="000000"/>
                </a:solidFill>
                <a:latin typeface="Arial"/>
                <a:ea typeface="Arial"/>
                <a:cs typeface="Arial"/>
                <a:sym typeface="Arial"/>
              </a:rPr>
              <a:t>399. Would you like to make an announcement or ask a question/suggestion?</a:t>
            </a:r>
          </a:p>
          <a:p>
            <a:pPr algn="l">
              <a:lnSpc>
                <a:spcPts val="1782"/>
              </a:lnSpc>
            </a:pPr>
            <a:r>
              <a:rPr lang="en-US" sz="1650" dirty="0">
                <a:solidFill>
                  <a:srgbClr val="000000"/>
                </a:solidFill>
                <a:latin typeface="Arial"/>
                <a:ea typeface="Arial"/>
                <a:cs typeface="Arial"/>
                <a:sym typeface="Arial"/>
              </a:rPr>
              <a:t>  1. Do you have a solution at hand?</a:t>
            </a:r>
          </a:p>
          <a:p>
            <a:pPr algn="l">
              <a:lnSpc>
                <a:spcPts val="1782"/>
              </a:lnSpc>
            </a:pPr>
            <a:r>
              <a:rPr lang="en-US" sz="1650" dirty="0">
                <a:solidFill>
                  <a:srgbClr val="000000"/>
                </a:solidFill>
                <a:latin typeface="Arial"/>
                <a:ea typeface="Arial"/>
                <a:cs typeface="Arial"/>
                <a:sym typeface="Arial"/>
              </a:rPr>
              <a:t>  2. Understand the impact or resources needed? effort?</a:t>
            </a:r>
          </a:p>
          <a:p>
            <a:pPr algn="l">
              <a:lnSpc>
                <a:spcPts val="1782"/>
              </a:lnSpc>
            </a:pPr>
            <a:r>
              <a:rPr lang="en-US" sz="1650" dirty="0">
                <a:solidFill>
                  <a:srgbClr val="000000"/>
                </a:solidFill>
                <a:latin typeface="Arial"/>
                <a:ea typeface="Arial"/>
                <a:cs typeface="Arial"/>
                <a:sym typeface="Arial"/>
              </a:rPr>
              <a:t>  3. Does this make anyone (or yourself) feel good? Decorum!(</a:t>
            </a:r>
            <a:r>
              <a:rPr lang="en-US" sz="1650" dirty="0" err="1">
                <a:solidFill>
                  <a:srgbClr val="000000"/>
                </a:solidFill>
                <a:latin typeface="Arial"/>
                <a:ea typeface="Arial"/>
                <a:cs typeface="Arial"/>
                <a:sym typeface="Arial"/>
              </a:rPr>
              <a:t>得體</a:t>
            </a:r>
            <a:r>
              <a:rPr lang="en-US" sz="1650" dirty="0">
                <a:solidFill>
                  <a:srgbClr val="000000"/>
                </a:solidFill>
                <a:latin typeface="Arial"/>
                <a:ea typeface="Arial"/>
                <a:cs typeface="Arial"/>
                <a:sym typeface="Arial"/>
              </a:rPr>
              <a:t>)</a:t>
            </a:r>
          </a:p>
          <a:p>
            <a:pPr algn="l">
              <a:lnSpc>
                <a:spcPts val="1782"/>
              </a:lnSpc>
            </a:pPr>
            <a:r>
              <a:rPr lang="en-US" sz="1650" dirty="0">
                <a:solidFill>
                  <a:srgbClr val="000000"/>
                </a:solidFill>
                <a:latin typeface="Arial"/>
                <a:ea typeface="Arial"/>
                <a:cs typeface="Arial"/>
                <a:sym typeface="Arial"/>
              </a:rPr>
              <a:t>If none of the above are true, don't do it.</a:t>
            </a:r>
          </a:p>
          <a:p>
            <a:pPr algn="l">
              <a:lnSpc>
                <a:spcPts val="1782"/>
              </a:lnSpc>
            </a:pPr>
            <a:r>
              <a:rPr lang="en-US" sz="1650" dirty="0">
                <a:solidFill>
                  <a:srgbClr val="000000"/>
                </a:solidFill>
                <a:latin typeface="Arial"/>
                <a:ea typeface="Arial"/>
                <a:cs typeface="Arial"/>
                <a:sym typeface="Arial"/>
              </a:rPr>
              <a:t>400. Reserve some time to think, read and learn and write. Scared time.</a:t>
            </a:r>
          </a:p>
          <a:p>
            <a:pPr algn="l">
              <a:lnSpc>
                <a:spcPts val="1782"/>
              </a:lnSpc>
            </a:pPr>
            <a:r>
              <a:rPr lang="en-US" sz="1650" dirty="0">
                <a:solidFill>
                  <a:srgbClr val="000000"/>
                </a:solidFill>
                <a:latin typeface="Arial"/>
                <a:ea typeface="Arial"/>
                <a:cs typeface="Arial"/>
                <a:sym typeface="Arial"/>
              </a:rPr>
              <a:t>401. Be mysterious, don’t comment on everything. Be patient for the feedback and wait for situation change.</a:t>
            </a:r>
          </a:p>
          <a:p>
            <a:pPr algn="l">
              <a:lnSpc>
                <a:spcPts val="1782"/>
              </a:lnSpc>
            </a:pPr>
            <a:r>
              <a:rPr lang="en-US" sz="1650" dirty="0">
                <a:solidFill>
                  <a:srgbClr val="000000"/>
                </a:solidFill>
                <a:latin typeface="Arial"/>
                <a:ea typeface="Arial"/>
                <a:cs typeface="Arial"/>
                <a:sym typeface="Arial"/>
              </a:rPr>
              <a:t>402. Prey for what you hard work. </a:t>
            </a:r>
          </a:p>
          <a:p>
            <a:pPr algn="l">
              <a:lnSpc>
                <a:spcPts val="1782"/>
              </a:lnSpc>
            </a:pPr>
            <a:r>
              <a:rPr lang="en-US" sz="1650" dirty="0">
                <a:solidFill>
                  <a:srgbClr val="000000"/>
                </a:solidFill>
                <a:latin typeface="Arial"/>
                <a:ea typeface="Arial"/>
                <a:cs typeface="Arial"/>
                <a:sym typeface="Arial"/>
              </a:rPr>
              <a:t>403.carry the ball to boss.</a:t>
            </a:r>
          </a:p>
          <a:p>
            <a:pPr algn="l">
              <a:lnSpc>
                <a:spcPts val="1980"/>
              </a:lnSpc>
            </a:pPr>
            <a:r>
              <a:rPr lang="en-US" sz="1650" dirty="0">
                <a:solidFill>
                  <a:srgbClr val="000000"/>
                </a:solidFill>
                <a:latin typeface="Calibri (MS)"/>
                <a:ea typeface="Calibri (MS)"/>
                <a:cs typeface="Calibri (MS)"/>
                <a:sym typeface="Calibri (MS)"/>
              </a:rPr>
              <a:t>404. What is current market trend and how managers reply? </a:t>
            </a:r>
          </a:p>
          <a:p>
            <a:pPr algn="l">
              <a:lnSpc>
                <a:spcPts val="1980"/>
              </a:lnSpc>
            </a:pPr>
            <a:r>
              <a:rPr lang="en-US" sz="1650" dirty="0">
                <a:solidFill>
                  <a:srgbClr val="000000"/>
                </a:solidFill>
                <a:latin typeface="Calibri (MS)"/>
                <a:ea typeface="Calibri (MS)"/>
                <a:cs typeface="Calibri (MS)"/>
                <a:sym typeface="Calibri (MS)"/>
              </a:rPr>
              <a:t>405.When was the last time you are in the flow?</a:t>
            </a:r>
          </a:p>
          <a:p>
            <a:pPr algn="l">
              <a:lnSpc>
                <a:spcPts val="1980"/>
              </a:lnSpc>
            </a:pPr>
            <a:r>
              <a:rPr lang="en-US" sz="1650" dirty="0">
                <a:solidFill>
                  <a:srgbClr val="000000"/>
                </a:solidFill>
                <a:latin typeface="Calibri (MS)"/>
                <a:ea typeface="Calibri (MS)"/>
                <a:cs typeface="Calibri (MS)"/>
                <a:sym typeface="Calibri (MS)"/>
              </a:rPr>
              <a:t>406. developing Surviving skill,  try to cook some food for your three meals</a:t>
            </a:r>
          </a:p>
          <a:p>
            <a:pPr algn="l">
              <a:lnSpc>
                <a:spcPts val="1980"/>
              </a:lnSpc>
            </a:pPr>
            <a:r>
              <a:rPr lang="en-US" sz="1650" dirty="0">
                <a:solidFill>
                  <a:srgbClr val="000000"/>
                </a:solidFill>
                <a:latin typeface="Calibri (MS)"/>
                <a:ea typeface="Calibri (MS)"/>
                <a:cs typeface="Calibri (MS)"/>
                <a:sym typeface="Calibri (MS)"/>
              </a:rPr>
              <a:t>407.do not talk about negative things to your colleague, speak some positive things and they will look up on you, envy you even jealous you but it's all good however, if you're talking about negative things they will look down on you and think you're not good enough.  there is a perform,  you need to play for survival.</a:t>
            </a:r>
          </a:p>
          <a:p>
            <a:pPr algn="l">
              <a:lnSpc>
                <a:spcPts val="1980"/>
              </a:lnSpc>
            </a:pPr>
            <a:r>
              <a:rPr lang="en-US" sz="1650" dirty="0">
                <a:solidFill>
                  <a:srgbClr val="000000"/>
                </a:solidFill>
                <a:latin typeface="Calibri (MS)"/>
                <a:ea typeface="Calibri (MS)"/>
                <a:cs typeface="Calibri (MS)"/>
                <a:sym typeface="Calibri (MS)"/>
              </a:rPr>
              <a:t>408. Do right thing? What is right? Who to judge? And you have power to do right thing? </a:t>
            </a:r>
          </a:p>
          <a:p>
            <a:pPr algn="l">
              <a:lnSpc>
                <a:spcPts val="1980"/>
              </a:lnSpc>
            </a:pPr>
            <a:r>
              <a:rPr lang="en-US" sz="1650" dirty="0">
                <a:solidFill>
                  <a:srgbClr val="000000"/>
                </a:solidFill>
                <a:latin typeface="Calibri (MS)"/>
                <a:ea typeface="Calibri (MS)"/>
                <a:cs typeface="Calibri (MS)"/>
                <a:sym typeface="Calibri (MS)"/>
              </a:rPr>
              <a:t>409.ask directly for better solution. It is hard to do first time right.</a:t>
            </a:r>
          </a:p>
          <a:p>
            <a:pPr algn="l">
              <a:lnSpc>
                <a:spcPts val="1980"/>
              </a:lnSpc>
            </a:pPr>
            <a:r>
              <a:rPr lang="en-US" sz="1650" dirty="0">
                <a:solidFill>
                  <a:srgbClr val="000000"/>
                </a:solidFill>
                <a:latin typeface="Calibri (MS)"/>
                <a:ea typeface="Calibri (MS)"/>
                <a:cs typeface="Calibri (MS)"/>
                <a:sym typeface="Calibri (MS)"/>
              </a:rPr>
              <a:t>410.Try to adaptive the thing you cannot change instead run away. Choose battle.</a:t>
            </a:r>
          </a:p>
          <a:p>
            <a:pPr algn="l">
              <a:lnSpc>
                <a:spcPts val="1980"/>
              </a:lnSpc>
            </a:pPr>
            <a:r>
              <a:rPr lang="en-US" sz="1650" dirty="0">
                <a:solidFill>
                  <a:srgbClr val="000000"/>
                </a:solidFill>
                <a:latin typeface="Calibri (MS)"/>
                <a:ea typeface="Calibri (MS)"/>
                <a:cs typeface="Calibri (MS)"/>
                <a:sym typeface="Calibri (MS)"/>
              </a:rPr>
              <a:t>411. any accumulate knowledge or credit or experience on current project or position.</a:t>
            </a:r>
          </a:p>
          <a:p>
            <a:pPr algn="l">
              <a:lnSpc>
                <a:spcPts val="1980"/>
              </a:lnSpc>
            </a:pPr>
            <a:r>
              <a:rPr lang="en-US" sz="1650" dirty="0">
                <a:solidFill>
                  <a:srgbClr val="000000"/>
                </a:solidFill>
                <a:latin typeface="Calibri (MS)"/>
                <a:ea typeface="Calibri (MS)"/>
                <a:cs typeface="Calibri (MS)"/>
                <a:sym typeface="Calibri (MS)"/>
              </a:rPr>
              <a:t>412.People didn't lie but they didn't tell all truth, that will mislead others. Fragment facts.</a:t>
            </a:r>
          </a:p>
          <a:p>
            <a:pPr algn="l">
              <a:lnSpc>
                <a:spcPts val="1980"/>
              </a:lnSpc>
            </a:pPr>
            <a:r>
              <a:rPr lang="en-US" sz="1650" dirty="0">
                <a:solidFill>
                  <a:srgbClr val="000000"/>
                </a:solidFill>
                <a:latin typeface="Calibri (MS)"/>
                <a:ea typeface="Calibri (MS)"/>
                <a:cs typeface="Calibri (MS)"/>
                <a:sym typeface="Calibri (MS)"/>
              </a:rPr>
              <a:t>413. when making a decision, what will happen after 10 days, 10 months and 10 years.</a:t>
            </a:r>
          </a:p>
          <a:p>
            <a:pPr algn="l">
              <a:lnSpc>
                <a:spcPts val="1980"/>
              </a:lnSpc>
            </a:pPr>
            <a:r>
              <a:rPr lang="en-US" sz="1650" dirty="0">
                <a:solidFill>
                  <a:srgbClr val="000000"/>
                </a:solidFill>
                <a:latin typeface="Calibri (MS)"/>
                <a:ea typeface="Calibri (MS)"/>
                <a:cs typeface="Calibri (MS)"/>
                <a:sym typeface="Calibri (MS)"/>
              </a:rPr>
              <a:t>414. Don't put 100% load capacity, any incident may happen. If it does, you have no </a:t>
            </a:r>
            <a:r>
              <a:rPr lang="en-US" sz="1650" dirty="0" err="1">
                <a:solidFill>
                  <a:srgbClr val="000000"/>
                </a:solidFill>
                <a:latin typeface="Calibri (MS)"/>
                <a:ea typeface="Calibri (MS)"/>
                <a:cs typeface="Calibri (MS)"/>
                <a:sym typeface="Calibri (MS)"/>
              </a:rPr>
              <a:t>capa</a:t>
            </a:r>
            <a:r>
              <a:rPr lang="en-US" sz="1650" dirty="0">
                <a:solidFill>
                  <a:srgbClr val="000000"/>
                </a:solidFill>
                <a:latin typeface="Calibri (MS)"/>
                <a:ea typeface="Calibri (MS)"/>
                <a:cs typeface="Calibri (MS)"/>
                <a:sym typeface="Calibri (MS)"/>
              </a:rPr>
              <a:t> to handle. Need scared time to fresh mind. Arrange your time for writing, reading and </a:t>
            </a:r>
            <a:r>
              <a:rPr lang="en-US" sz="1650" dirty="0" err="1">
                <a:solidFill>
                  <a:srgbClr val="000000"/>
                </a:solidFill>
                <a:latin typeface="Calibri (MS)"/>
                <a:ea typeface="Calibri (MS)"/>
                <a:cs typeface="Calibri (MS)"/>
                <a:sym typeface="Calibri (MS)"/>
              </a:rPr>
              <a:t>travling</a:t>
            </a:r>
            <a:r>
              <a:rPr lang="en-US" sz="1650" dirty="0">
                <a:solidFill>
                  <a:srgbClr val="000000"/>
                </a:solidFill>
                <a:latin typeface="Calibri (MS)"/>
                <a:ea typeface="Calibri (MS)"/>
                <a:cs typeface="Calibri (MS)"/>
                <a:sym typeface="Calibri (MS)"/>
              </a:rPr>
              <a:t>.</a:t>
            </a:r>
          </a:p>
          <a:p>
            <a:pPr algn="l">
              <a:lnSpc>
                <a:spcPts val="1980"/>
              </a:lnSpc>
            </a:pPr>
            <a:r>
              <a:rPr lang="en-US" sz="1650" dirty="0">
                <a:solidFill>
                  <a:srgbClr val="000000"/>
                </a:solidFill>
                <a:latin typeface="Calibri (MS)"/>
                <a:ea typeface="Calibri (MS)"/>
                <a:cs typeface="Calibri (MS)"/>
                <a:sym typeface="Calibri (MS)"/>
              </a:rPr>
              <a:t>415. a template for meeting minutes, agenda. PAR problem action result. AAR</a:t>
            </a:r>
          </a:p>
          <a:p>
            <a:pPr algn="l">
              <a:lnSpc>
                <a:spcPts val="1980"/>
              </a:lnSpc>
            </a:pPr>
            <a:r>
              <a:rPr lang="en-US" sz="1650" dirty="0">
                <a:solidFill>
                  <a:srgbClr val="000000"/>
                </a:solidFill>
                <a:latin typeface="Calibri (MS)"/>
                <a:ea typeface="Calibri (MS)"/>
                <a:cs typeface="Calibri (MS)"/>
                <a:sym typeface="Calibri (MS)"/>
              </a:rPr>
              <a:t>416. Check if you are the DRI for the question or task when receiving email. if not, you don't need to reply.  Bravely to cancel unnecessary meeting. With reason.</a:t>
            </a:r>
          </a:p>
          <a:p>
            <a:pPr algn="l">
              <a:lnSpc>
                <a:spcPts val="1980"/>
              </a:lnSpc>
            </a:pPr>
            <a:r>
              <a:rPr lang="en-US" sz="1650" dirty="0">
                <a:solidFill>
                  <a:srgbClr val="000000"/>
                </a:solidFill>
                <a:latin typeface="Calibri (MS)"/>
                <a:ea typeface="Calibri (MS)"/>
                <a:cs typeface="Calibri (MS)"/>
                <a:sym typeface="Calibri (MS)"/>
              </a:rPr>
              <a:t>417. Yearly review and plan for next year. ( should align with your lead. To check if any plan in their mind, if not, why and help yourself. At least plan for yourself. Why do you need to finish this? Energy management.</a:t>
            </a:r>
          </a:p>
          <a:p>
            <a:pPr algn="l">
              <a:lnSpc>
                <a:spcPts val="1980"/>
              </a:lnSpc>
            </a:pPr>
            <a:r>
              <a:rPr lang="en-US" sz="1650" dirty="0">
                <a:solidFill>
                  <a:srgbClr val="000000"/>
                </a:solidFill>
                <a:latin typeface="Calibri (MS)"/>
                <a:ea typeface="Calibri (MS)"/>
                <a:cs typeface="Calibri (MS)"/>
                <a:sym typeface="Calibri (MS)"/>
              </a:rPr>
              <a:t>418. Do we have an agreement on this? Directly ask</a:t>
            </a:r>
          </a:p>
          <a:p>
            <a:pPr algn="l">
              <a:lnSpc>
                <a:spcPts val="1980"/>
              </a:lnSpc>
            </a:pPr>
            <a:r>
              <a:rPr lang="en-US" sz="1650" dirty="0">
                <a:solidFill>
                  <a:srgbClr val="000000"/>
                </a:solidFill>
                <a:latin typeface="Calibri (MS)"/>
                <a:ea typeface="Calibri (MS)"/>
                <a:cs typeface="Calibri (MS)"/>
                <a:sym typeface="Calibri (MS)"/>
              </a:rPr>
              <a:t>419.No reply is a reply</a:t>
            </a:r>
          </a:p>
          <a:p>
            <a:pPr algn="l">
              <a:lnSpc>
                <a:spcPts val="1980"/>
              </a:lnSpc>
            </a:pPr>
            <a:r>
              <a:rPr lang="en-US" sz="1650" dirty="0">
                <a:solidFill>
                  <a:srgbClr val="000000"/>
                </a:solidFill>
                <a:latin typeface="Calibri (MS)"/>
                <a:ea typeface="Calibri (MS)"/>
                <a:cs typeface="Calibri (MS)"/>
                <a:sym typeface="Calibri (MS)"/>
              </a:rPr>
              <a:t>420. Don’t let negative thing or people easily walk into your mind. Your energy is limited.</a:t>
            </a:r>
          </a:p>
          <a:p>
            <a:pPr algn="l">
              <a:lnSpc>
                <a:spcPts val="1980"/>
              </a:lnSpc>
            </a:pPr>
            <a:r>
              <a:rPr lang="en-US" sz="1650" dirty="0">
                <a:solidFill>
                  <a:srgbClr val="000000"/>
                </a:solidFill>
                <a:latin typeface="Calibri (MS)"/>
                <a:ea typeface="Calibri (MS)"/>
                <a:cs typeface="Calibri (MS)"/>
                <a:sym typeface="Calibri (MS)"/>
              </a:rPr>
              <a:t>421.Ask yourself if there is any takeaway for this meeting if not why should you join.</a:t>
            </a:r>
          </a:p>
          <a:p>
            <a:pPr algn="l">
              <a:lnSpc>
                <a:spcPts val="2520"/>
              </a:lnSpc>
            </a:pPr>
            <a:endParaRPr lang="en-US" sz="1650" dirty="0">
              <a:solidFill>
                <a:srgbClr val="000000"/>
              </a:solidFill>
              <a:latin typeface="Calibri (MS)"/>
              <a:ea typeface="Calibri (MS)"/>
              <a:cs typeface="Calibri (MS)"/>
              <a:sym typeface="Calibri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21" y="164459"/>
            <a:ext cx="9427797" cy="10448373"/>
          </a:xfrm>
          <a:prstGeom prst="rect">
            <a:avLst/>
          </a:prstGeom>
        </p:spPr>
        <p:txBody>
          <a:bodyPr lIns="0" tIns="0" rIns="0" bIns="0" rtlCol="0" anchor="t">
            <a:spAutoFit/>
          </a:bodyPr>
          <a:lstStyle/>
          <a:p>
            <a:pPr algn="l">
              <a:lnSpc>
                <a:spcPts val="1980"/>
              </a:lnSpc>
              <a:spcBef>
                <a:spcPts val="600"/>
              </a:spcBef>
              <a:spcAft>
                <a:spcPts val="600"/>
              </a:spcAft>
            </a:pPr>
            <a:r>
              <a:rPr lang="en-US" dirty="0">
                <a:solidFill>
                  <a:srgbClr val="000000"/>
                </a:solidFill>
                <a:latin typeface="Calibri (MS)"/>
                <a:ea typeface="Calibri (MS)"/>
                <a:cs typeface="Calibri (MS)"/>
                <a:sym typeface="Calibri (MS)"/>
              </a:rPr>
              <a:t>422. Be aware of the holiday of foreign colleagues (WK52, WK01). Say thank you for greeting. Time zone, Europe US, Indian, Korean.</a:t>
            </a:r>
          </a:p>
          <a:p>
            <a:pPr algn="l">
              <a:lnSpc>
                <a:spcPts val="1980"/>
              </a:lnSpc>
              <a:spcBef>
                <a:spcPts val="600"/>
              </a:spcBef>
              <a:spcAft>
                <a:spcPts val="600"/>
              </a:spcAft>
            </a:pPr>
            <a:r>
              <a:rPr lang="en-US" dirty="0">
                <a:solidFill>
                  <a:srgbClr val="000000"/>
                </a:solidFill>
                <a:latin typeface="Calibri (MS)"/>
                <a:ea typeface="Calibri (MS)"/>
                <a:cs typeface="Calibri (MS)"/>
                <a:sym typeface="Calibri (MS)"/>
              </a:rPr>
              <a:t>423. What is the way to say no ？</a:t>
            </a:r>
          </a:p>
          <a:p>
            <a:pPr algn="l">
              <a:lnSpc>
                <a:spcPts val="1980"/>
              </a:lnSpc>
              <a:spcBef>
                <a:spcPts val="600"/>
              </a:spcBef>
              <a:spcAft>
                <a:spcPts val="600"/>
              </a:spcAft>
            </a:pPr>
            <a:r>
              <a:rPr lang="en-US" dirty="0">
                <a:solidFill>
                  <a:srgbClr val="000000"/>
                </a:solidFill>
                <a:latin typeface="Calibri (MS)"/>
                <a:ea typeface="Calibri (MS)"/>
                <a:cs typeface="Calibri (MS)"/>
                <a:sym typeface="Calibri (MS)"/>
              </a:rPr>
              <a:t>and what is the situation that you can defense your statement and how ？</a:t>
            </a:r>
          </a:p>
          <a:p>
            <a:pPr algn="l">
              <a:lnSpc>
                <a:spcPts val="1980"/>
              </a:lnSpc>
              <a:spcBef>
                <a:spcPts val="600"/>
              </a:spcBef>
              <a:spcAft>
                <a:spcPts val="600"/>
              </a:spcAft>
            </a:pPr>
            <a:r>
              <a:rPr lang="en-US" dirty="0">
                <a:solidFill>
                  <a:srgbClr val="000000"/>
                </a:solidFill>
                <a:latin typeface="Calibri (MS)"/>
                <a:ea typeface="Calibri (MS)"/>
                <a:cs typeface="Calibri (MS)"/>
                <a:sym typeface="Calibri (MS)"/>
              </a:rPr>
              <a:t>424.choose your battle; set a milestone for your projects ( long and short)</a:t>
            </a:r>
          </a:p>
          <a:p>
            <a:pPr algn="l">
              <a:lnSpc>
                <a:spcPts val="1980"/>
              </a:lnSpc>
              <a:spcBef>
                <a:spcPts val="600"/>
              </a:spcBef>
              <a:spcAft>
                <a:spcPts val="600"/>
              </a:spcAft>
            </a:pPr>
            <a:r>
              <a:rPr lang="en-US" dirty="0">
                <a:solidFill>
                  <a:srgbClr val="000000"/>
                </a:solidFill>
                <a:latin typeface="Calibri (MS)"/>
                <a:ea typeface="Calibri (MS)"/>
                <a:cs typeface="Calibri (MS)"/>
                <a:sym typeface="Calibri (MS)"/>
              </a:rPr>
              <a:t>425. Practice and improve your skill set every chance you get. Like presentation, speech.</a:t>
            </a:r>
          </a:p>
          <a:p>
            <a:pPr algn="l">
              <a:lnSpc>
                <a:spcPts val="1386"/>
              </a:lnSpc>
              <a:spcBef>
                <a:spcPts val="600"/>
              </a:spcBef>
              <a:spcAft>
                <a:spcPts val="600"/>
              </a:spcAft>
            </a:pPr>
            <a:r>
              <a:rPr lang="en-US" dirty="0">
                <a:solidFill>
                  <a:srgbClr val="000000"/>
                </a:solidFill>
                <a:latin typeface="Calibri (MS)"/>
                <a:ea typeface="Calibri (MS)"/>
                <a:cs typeface="Calibri (MS)"/>
                <a:sym typeface="Calibri (MS)"/>
              </a:rPr>
              <a:t>426. Try to learn new things but not for everything. stay focus . Every year, do a special thing which you never do.</a:t>
            </a:r>
          </a:p>
          <a:p>
            <a:pPr algn="l">
              <a:lnSpc>
                <a:spcPts val="1386"/>
              </a:lnSpc>
              <a:spcBef>
                <a:spcPts val="600"/>
              </a:spcBef>
              <a:spcAft>
                <a:spcPts val="600"/>
              </a:spcAft>
            </a:pPr>
            <a:r>
              <a:rPr lang="en-US" dirty="0">
                <a:solidFill>
                  <a:srgbClr val="000000"/>
                </a:solidFill>
                <a:latin typeface="Roboto"/>
                <a:ea typeface="Roboto"/>
                <a:cs typeface="Roboto"/>
                <a:sym typeface="Roboto"/>
              </a:rPr>
              <a:t>427.Non player characteristic /</a:t>
            </a:r>
            <a:r>
              <a:rPr lang="en-US" dirty="0" err="1">
                <a:solidFill>
                  <a:srgbClr val="000000"/>
                </a:solidFill>
                <a:latin typeface="Roboto"/>
                <a:ea typeface="Roboto"/>
                <a:cs typeface="Roboto"/>
                <a:sym typeface="Roboto"/>
              </a:rPr>
              <a:t>分人</a:t>
            </a:r>
            <a:r>
              <a:rPr lang="en-US" dirty="0">
                <a:solidFill>
                  <a:srgbClr val="000000"/>
                </a:solidFill>
                <a:latin typeface="Roboto"/>
                <a:ea typeface="Roboto"/>
                <a:cs typeface="Roboto"/>
                <a:sym typeface="Roboto"/>
              </a:rPr>
              <a:t> / save your energy ; item424</a:t>
            </a:r>
          </a:p>
          <a:p>
            <a:pPr algn="l">
              <a:lnSpc>
                <a:spcPts val="1386"/>
              </a:lnSpc>
              <a:spcBef>
                <a:spcPts val="600"/>
              </a:spcBef>
              <a:spcAft>
                <a:spcPts val="600"/>
              </a:spcAft>
            </a:pPr>
            <a:r>
              <a:rPr lang="en-US" dirty="0">
                <a:solidFill>
                  <a:srgbClr val="000000"/>
                </a:solidFill>
                <a:latin typeface="Roboto"/>
                <a:ea typeface="Roboto"/>
                <a:cs typeface="Roboto"/>
                <a:sym typeface="Roboto"/>
              </a:rPr>
              <a:t>428.No more email reply during weekend. Close email alert in your cell phone</a:t>
            </a:r>
          </a:p>
          <a:p>
            <a:pPr algn="l">
              <a:lnSpc>
                <a:spcPts val="1386"/>
              </a:lnSpc>
              <a:spcBef>
                <a:spcPts val="600"/>
              </a:spcBef>
              <a:spcAft>
                <a:spcPts val="600"/>
              </a:spcAft>
            </a:pPr>
            <a:r>
              <a:rPr lang="en-US" dirty="0">
                <a:solidFill>
                  <a:srgbClr val="000000"/>
                </a:solidFill>
                <a:latin typeface="Roboto"/>
                <a:ea typeface="Roboto"/>
                <a:cs typeface="Roboto"/>
                <a:sym typeface="Roboto"/>
              </a:rPr>
              <a:t>429.You don't need to take everything on your shoulder. </a:t>
            </a:r>
          </a:p>
          <a:p>
            <a:pPr algn="l">
              <a:lnSpc>
                <a:spcPts val="1386"/>
              </a:lnSpc>
              <a:spcBef>
                <a:spcPts val="600"/>
              </a:spcBef>
              <a:spcAft>
                <a:spcPts val="600"/>
              </a:spcAft>
            </a:pPr>
            <a:r>
              <a:rPr lang="en-US" dirty="0">
                <a:solidFill>
                  <a:srgbClr val="000000"/>
                </a:solidFill>
                <a:latin typeface="Roboto"/>
                <a:ea typeface="Roboto"/>
                <a:cs typeface="Roboto"/>
                <a:sym typeface="Roboto"/>
              </a:rPr>
              <a:t>430.GET BACK UP! It's time to take control of your life! / buy your time back.</a:t>
            </a:r>
          </a:p>
          <a:p>
            <a:pPr algn="l">
              <a:lnSpc>
                <a:spcPts val="1386"/>
              </a:lnSpc>
              <a:spcBef>
                <a:spcPts val="600"/>
              </a:spcBef>
              <a:spcAft>
                <a:spcPts val="600"/>
              </a:spcAft>
            </a:pPr>
            <a:r>
              <a:rPr lang="en-US" dirty="0">
                <a:solidFill>
                  <a:srgbClr val="000000"/>
                </a:solidFill>
                <a:latin typeface="Roboto"/>
                <a:ea typeface="Roboto"/>
                <a:cs typeface="Roboto"/>
                <a:sym typeface="Roboto"/>
              </a:rPr>
              <a:t>(mind simulation / Scenario Simulation)</a:t>
            </a:r>
          </a:p>
          <a:p>
            <a:pPr algn="l">
              <a:lnSpc>
                <a:spcPts val="1386"/>
              </a:lnSpc>
              <a:spcBef>
                <a:spcPts val="600"/>
              </a:spcBef>
              <a:spcAft>
                <a:spcPts val="600"/>
              </a:spcAft>
            </a:pPr>
            <a:r>
              <a:rPr lang="en-US" dirty="0">
                <a:solidFill>
                  <a:srgbClr val="000000"/>
                </a:solidFill>
                <a:latin typeface="Roboto"/>
                <a:ea typeface="Roboto"/>
                <a:cs typeface="Roboto"/>
                <a:sym typeface="Roboto"/>
              </a:rPr>
              <a:t>If then policy change / earthquake / typhoon / war / electricity shut down / economic crisis / virus attach…</a:t>
            </a:r>
          </a:p>
          <a:p>
            <a:pPr algn="l">
              <a:lnSpc>
                <a:spcPts val="1386"/>
              </a:lnSpc>
              <a:spcBef>
                <a:spcPts val="600"/>
              </a:spcBef>
              <a:spcAft>
                <a:spcPts val="600"/>
              </a:spcAft>
            </a:pPr>
            <a:r>
              <a:rPr lang="en-US" dirty="0">
                <a:solidFill>
                  <a:srgbClr val="000000"/>
                </a:solidFill>
                <a:latin typeface="Roboto"/>
                <a:ea typeface="Roboto"/>
                <a:cs typeface="Roboto"/>
                <a:sym typeface="Roboto"/>
              </a:rPr>
              <a:t>If received an emotional email, delete them.</a:t>
            </a:r>
          </a:p>
          <a:p>
            <a:pPr algn="l">
              <a:lnSpc>
                <a:spcPts val="1386"/>
              </a:lnSpc>
              <a:spcBef>
                <a:spcPts val="600"/>
              </a:spcBef>
              <a:spcAft>
                <a:spcPts val="600"/>
              </a:spcAft>
            </a:pPr>
            <a:r>
              <a:rPr lang="en-US" dirty="0">
                <a:solidFill>
                  <a:srgbClr val="000000"/>
                </a:solidFill>
                <a:latin typeface="Roboto"/>
                <a:ea typeface="Roboto"/>
                <a:cs typeface="Roboto"/>
                <a:sym typeface="Roboto"/>
              </a:rPr>
              <a:t>If someone said negative things get out of there quickly.</a:t>
            </a:r>
          </a:p>
          <a:p>
            <a:pPr algn="l">
              <a:lnSpc>
                <a:spcPts val="1386"/>
              </a:lnSpc>
              <a:spcBef>
                <a:spcPts val="600"/>
              </a:spcBef>
              <a:spcAft>
                <a:spcPts val="600"/>
              </a:spcAft>
            </a:pPr>
            <a:r>
              <a:rPr lang="en-US" dirty="0">
                <a:solidFill>
                  <a:srgbClr val="000000"/>
                </a:solidFill>
                <a:latin typeface="Roboto"/>
                <a:ea typeface="Roboto"/>
                <a:cs typeface="Roboto"/>
                <a:sym typeface="Roboto"/>
              </a:rPr>
              <a:t>If stock goes down, re-read the sentence you likes.</a:t>
            </a:r>
          </a:p>
          <a:p>
            <a:pPr algn="l">
              <a:lnSpc>
                <a:spcPts val="1386"/>
              </a:lnSpc>
              <a:spcBef>
                <a:spcPts val="600"/>
              </a:spcBef>
              <a:spcAft>
                <a:spcPts val="600"/>
              </a:spcAft>
            </a:pPr>
            <a:r>
              <a:rPr lang="en-US" dirty="0">
                <a:solidFill>
                  <a:srgbClr val="000000"/>
                </a:solidFill>
                <a:latin typeface="Roboto"/>
                <a:ea typeface="Roboto"/>
                <a:cs typeface="Roboto"/>
                <a:sym typeface="Roboto"/>
              </a:rPr>
              <a:t>If schedule delayed</a:t>
            </a:r>
          </a:p>
          <a:p>
            <a:pPr algn="l">
              <a:lnSpc>
                <a:spcPts val="1386"/>
              </a:lnSpc>
              <a:spcBef>
                <a:spcPts val="600"/>
              </a:spcBef>
              <a:spcAft>
                <a:spcPts val="600"/>
              </a:spcAft>
            </a:pPr>
            <a:r>
              <a:rPr lang="en-US" dirty="0">
                <a:solidFill>
                  <a:srgbClr val="000000"/>
                </a:solidFill>
                <a:latin typeface="Roboto"/>
                <a:ea typeface="Roboto"/>
                <a:cs typeface="Roboto"/>
                <a:sym typeface="Roboto"/>
              </a:rPr>
              <a:t>If get sicked, take rests.</a:t>
            </a:r>
          </a:p>
          <a:p>
            <a:pPr algn="l">
              <a:lnSpc>
                <a:spcPts val="1386"/>
              </a:lnSpc>
              <a:spcBef>
                <a:spcPts val="600"/>
              </a:spcBef>
              <a:spcAft>
                <a:spcPts val="600"/>
              </a:spcAft>
            </a:pPr>
            <a:r>
              <a:rPr lang="en-US" dirty="0">
                <a:solidFill>
                  <a:srgbClr val="000000"/>
                </a:solidFill>
                <a:latin typeface="Roboto"/>
                <a:ea typeface="Roboto"/>
                <a:cs typeface="Roboto"/>
                <a:sym typeface="Roboto"/>
              </a:rPr>
              <a:t>If you feel unhappy (emotionally bad), ( why?  go run ) </a:t>
            </a:r>
            <a:r>
              <a:rPr lang="en-US" dirty="0" err="1">
                <a:solidFill>
                  <a:srgbClr val="000000"/>
                </a:solidFill>
                <a:latin typeface="Roboto"/>
                <a:ea typeface="Roboto"/>
                <a:cs typeface="Roboto"/>
                <a:sym typeface="Roboto"/>
              </a:rPr>
              <a:t>combling</a:t>
            </a:r>
            <a:r>
              <a:rPr lang="en-US" dirty="0">
                <a:solidFill>
                  <a:srgbClr val="000000"/>
                </a:solidFill>
                <a:latin typeface="Roboto"/>
                <a:ea typeface="Roboto"/>
                <a:cs typeface="Roboto"/>
                <a:sym typeface="Roboto"/>
              </a:rPr>
              <a:t>. </a:t>
            </a:r>
          </a:p>
          <a:p>
            <a:pPr algn="l">
              <a:lnSpc>
                <a:spcPts val="1386"/>
              </a:lnSpc>
              <a:spcBef>
                <a:spcPts val="600"/>
              </a:spcBef>
              <a:spcAft>
                <a:spcPts val="600"/>
              </a:spcAft>
            </a:pPr>
            <a:r>
              <a:rPr lang="en-US" dirty="0">
                <a:solidFill>
                  <a:srgbClr val="000000"/>
                </a:solidFill>
                <a:latin typeface="Roboto"/>
                <a:ea typeface="Roboto"/>
                <a:cs typeface="Roboto"/>
                <a:sym typeface="Roboto"/>
              </a:rPr>
              <a:t>If you feel frustrated/stressed, cannot achieve what you want.</a:t>
            </a:r>
          </a:p>
          <a:p>
            <a:pPr algn="l">
              <a:lnSpc>
                <a:spcPts val="1386"/>
              </a:lnSpc>
              <a:spcBef>
                <a:spcPts val="600"/>
              </a:spcBef>
              <a:spcAft>
                <a:spcPts val="600"/>
              </a:spcAft>
            </a:pPr>
            <a:r>
              <a:rPr lang="en-US" dirty="0">
                <a:solidFill>
                  <a:srgbClr val="000000"/>
                </a:solidFill>
                <a:latin typeface="Roboto"/>
                <a:ea typeface="Roboto"/>
                <a:cs typeface="Roboto"/>
                <a:sym typeface="Roboto"/>
              </a:rPr>
              <a:t>If people don’t get your point, pause.</a:t>
            </a:r>
          </a:p>
          <a:p>
            <a:pPr algn="l">
              <a:lnSpc>
                <a:spcPts val="1386"/>
              </a:lnSpc>
              <a:spcBef>
                <a:spcPts val="600"/>
              </a:spcBef>
              <a:spcAft>
                <a:spcPts val="600"/>
              </a:spcAft>
            </a:pPr>
            <a:r>
              <a:rPr lang="en-US" dirty="0">
                <a:solidFill>
                  <a:srgbClr val="000000"/>
                </a:solidFill>
                <a:latin typeface="Roboto"/>
                <a:ea typeface="Roboto"/>
                <a:cs typeface="Roboto"/>
                <a:sym typeface="Roboto"/>
              </a:rPr>
              <a:t>If people get angry with you</a:t>
            </a:r>
          </a:p>
          <a:p>
            <a:pPr algn="l">
              <a:lnSpc>
                <a:spcPts val="1386"/>
              </a:lnSpc>
              <a:spcBef>
                <a:spcPts val="600"/>
              </a:spcBef>
              <a:spcAft>
                <a:spcPts val="600"/>
              </a:spcAft>
            </a:pPr>
            <a:r>
              <a:rPr lang="en-US" dirty="0">
                <a:solidFill>
                  <a:srgbClr val="000000"/>
                </a:solidFill>
                <a:latin typeface="Roboto"/>
                <a:ea typeface="Roboto"/>
                <a:cs typeface="Roboto"/>
                <a:sym typeface="Roboto"/>
              </a:rPr>
              <a:t>431. Play with fun, it is hard but try.</a:t>
            </a:r>
          </a:p>
          <a:p>
            <a:pPr algn="l">
              <a:lnSpc>
                <a:spcPts val="1386"/>
              </a:lnSpc>
              <a:spcBef>
                <a:spcPts val="600"/>
              </a:spcBef>
              <a:spcAft>
                <a:spcPts val="600"/>
              </a:spcAft>
            </a:pPr>
            <a:r>
              <a:rPr lang="en-US" dirty="0">
                <a:solidFill>
                  <a:srgbClr val="000000"/>
                </a:solidFill>
                <a:latin typeface="Roboto"/>
                <a:ea typeface="Roboto"/>
                <a:cs typeface="Roboto"/>
                <a:sym typeface="Roboto"/>
              </a:rPr>
              <a:t>432.Invest your interest no matter spending money or time. Try to make it as part of profession. ( which project…)</a:t>
            </a:r>
          </a:p>
          <a:p>
            <a:pPr algn="l">
              <a:lnSpc>
                <a:spcPts val="1386"/>
              </a:lnSpc>
              <a:spcBef>
                <a:spcPts val="600"/>
              </a:spcBef>
              <a:spcAft>
                <a:spcPts val="600"/>
              </a:spcAft>
            </a:pPr>
            <a:r>
              <a:rPr lang="en-US" dirty="0">
                <a:solidFill>
                  <a:srgbClr val="000000"/>
                </a:solidFill>
                <a:latin typeface="Roboto"/>
                <a:ea typeface="Roboto"/>
                <a:cs typeface="Roboto"/>
                <a:sym typeface="Roboto"/>
              </a:rPr>
              <a:t>433.Spend time to be alone, listen music you like, scared time for working time or in private time. To do what you want to do. Or had time to develop other skill. </a:t>
            </a:r>
            <a:r>
              <a:rPr lang="en-US" dirty="0" err="1">
                <a:solidFill>
                  <a:srgbClr val="000000"/>
                </a:solidFill>
                <a:latin typeface="Roboto"/>
                <a:ea typeface="Roboto"/>
                <a:cs typeface="Roboto"/>
                <a:sym typeface="Roboto"/>
              </a:rPr>
              <a:t>認捌家己</a:t>
            </a:r>
            <a:r>
              <a:rPr lang="en-US" dirty="0">
                <a:solidFill>
                  <a:srgbClr val="000000"/>
                </a:solidFill>
                <a:latin typeface="Roboto"/>
                <a:ea typeface="Roboto"/>
                <a:cs typeface="Roboto"/>
                <a:sym typeface="Roboto"/>
              </a:rPr>
              <a:t>, check your list.</a:t>
            </a:r>
          </a:p>
          <a:p>
            <a:pPr algn="l">
              <a:lnSpc>
                <a:spcPts val="1386"/>
              </a:lnSpc>
              <a:spcBef>
                <a:spcPts val="600"/>
              </a:spcBef>
              <a:spcAft>
                <a:spcPts val="600"/>
              </a:spcAft>
            </a:pPr>
            <a:r>
              <a:rPr lang="en-US" dirty="0">
                <a:solidFill>
                  <a:srgbClr val="000000"/>
                </a:solidFill>
                <a:latin typeface="Roboto"/>
                <a:ea typeface="Roboto"/>
                <a:cs typeface="Roboto"/>
                <a:sym typeface="Roboto"/>
              </a:rPr>
              <a:t>434.What if you got fired, how soon you can find another job?(</a:t>
            </a:r>
            <a:r>
              <a:rPr lang="nl-NL" dirty="0">
                <a:solidFill>
                  <a:srgbClr val="000000"/>
                </a:solidFill>
                <a:latin typeface="Roboto"/>
                <a:ea typeface="Roboto"/>
                <a:cs typeface="Roboto"/>
                <a:sym typeface="Roboto"/>
              </a:rPr>
              <a:t>投保月給6,8成, 晟養人數, 報稅</a:t>
            </a:r>
            <a:r>
              <a:rPr lang="en-US" dirty="0">
                <a:solidFill>
                  <a:srgbClr val="000000"/>
                </a:solidFill>
                <a:latin typeface="Roboto"/>
                <a:ea typeface="Roboto"/>
                <a:cs typeface="Roboto"/>
                <a:sym typeface="Roboto"/>
              </a:rPr>
              <a:t>) Or store your achievement with you? Do you have margin of error? How long can you survive, any resource? How many money you can get? Continuously improvement progress.</a:t>
            </a:r>
          </a:p>
          <a:p>
            <a:pPr algn="l">
              <a:lnSpc>
                <a:spcPts val="3528"/>
              </a:lnSpc>
              <a:spcBef>
                <a:spcPts val="600"/>
              </a:spcBef>
              <a:spcAft>
                <a:spcPts val="600"/>
              </a:spcAft>
            </a:pPr>
            <a:endParaRPr lang="en-US" dirty="0">
              <a:solidFill>
                <a:srgbClr val="000000"/>
              </a:solidFill>
              <a:latin typeface="Roboto"/>
              <a:ea typeface="Roboto"/>
              <a:cs typeface="Roboto"/>
              <a:sym typeface="Roboto"/>
            </a:endParaRPr>
          </a:p>
        </p:txBody>
      </p:sp>
      <p:sp>
        <p:nvSpPr>
          <p:cNvPr id="3" name="TextBox 3"/>
          <p:cNvSpPr txBox="1"/>
          <p:nvPr/>
        </p:nvSpPr>
        <p:spPr>
          <a:xfrm>
            <a:off x="10210800" y="-114300"/>
            <a:ext cx="7836151" cy="12838451"/>
          </a:xfrm>
          <a:prstGeom prst="rect">
            <a:avLst/>
          </a:prstGeom>
        </p:spPr>
        <p:txBody>
          <a:bodyPr lIns="0" tIns="0" rIns="0" bIns="0" rtlCol="0" anchor="t">
            <a:spAutoFit/>
          </a:bodyPr>
          <a:lstStyle/>
          <a:p>
            <a:pPr algn="l">
              <a:lnSpc>
                <a:spcPts val="1386"/>
              </a:lnSpc>
              <a:spcBef>
                <a:spcPts val="600"/>
              </a:spcBef>
              <a:spcAft>
                <a:spcPts val="600"/>
              </a:spcAft>
            </a:pPr>
            <a:r>
              <a:rPr lang="en-US" sz="1650" dirty="0">
                <a:solidFill>
                  <a:srgbClr val="000000"/>
                </a:solidFill>
                <a:latin typeface="Roboto"/>
                <a:ea typeface="Roboto"/>
                <a:cs typeface="Roboto"/>
                <a:sym typeface="Roboto"/>
              </a:rPr>
              <a:t>435.Spend time on other field / your favorite and release your stress. ( SPIRE) , try to get some  solid result.</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436.Increase the mobility. Use cellphone to get whatever information you need. Use tools in the cloud. ( be careful digital toxic, addition.)</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437.Don’t tell your boss whom you don’t like because they will feel. Let bullet fly.</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438.You can speak frankly, in only your position’s view. </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439.Don’t suffer issues alone, you can call help. Or take a rest.</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440.Learn the way manager talks. 5 years plan</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441.How many leaves and floating leaves / yearly plan / monthly</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442.80 percentage salary for sick leave. ( it depends on policy)</a:t>
            </a:r>
          </a:p>
          <a:p>
            <a:pPr algn="l">
              <a:lnSpc>
                <a:spcPts val="1386"/>
              </a:lnSpc>
              <a:spcBef>
                <a:spcPts val="600"/>
              </a:spcBef>
              <a:spcAft>
                <a:spcPts val="600"/>
              </a:spcAft>
            </a:pPr>
            <a:r>
              <a:rPr lang="en-US" sz="1650" dirty="0">
                <a:solidFill>
                  <a:srgbClr val="000000"/>
                </a:solidFill>
                <a:latin typeface="Roboto"/>
                <a:ea typeface="Roboto"/>
                <a:cs typeface="Roboto"/>
                <a:sym typeface="Roboto"/>
              </a:rPr>
              <a:t>443.Find your battle. Same in 424</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444.Try to forget the work stuff after leaving office is hot it's hard but please try. </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445.Spend more energy in time important things</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446.Take one week off after Luⁿ</a:t>
            </a:r>
            <a:r>
              <a:rPr lang="en-US" sz="1650" dirty="0" err="1">
                <a:solidFill>
                  <a:srgbClr val="000000"/>
                </a:solidFill>
                <a:latin typeface="Roboto"/>
                <a:ea typeface="Roboto"/>
                <a:cs typeface="Roboto"/>
                <a:sym typeface="Roboto"/>
              </a:rPr>
              <a:t>ar</a:t>
            </a:r>
            <a:r>
              <a:rPr lang="en-US" sz="1650" dirty="0">
                <a:solidFill>
                  <a:srgbClr val="000000"/>
                </a:solidFill>
                <a:latin typeface="Roboto"/>
                <a:ea typeface="Roboto"/>
                <a:cs typeface="Roboto"/>
                <a:sym typeface="Roboto"/>
              </a:rPr>
              <a:t> new year .adjust children schedule. ( April, September) </a:t>
            </a:r>
            <a:r>
              <a:rPr lang="en-US" altLang="zh-TW" sz="1650" dirty="0">
                <a:solidFill>
                  <a:srgbClr val="000000"/>
                </a:solidFill>
                <a:latin typeface="Roboto"/>
                <a:ea typeface="Roboto"/>
                <a:cs typeface="Roboto"/>
                <a:sym typeface="Roboto"/>
              </a:rPr>
              <a:t>Travel plan or list to show the places wants to visit, need list the holiday plan. Check previous agenda. What can be added next time.</a:t>
            </a:r>
            <a:endParaRPr lang="en-US" sz="1650" dirty="0">
              <a:solidFill>
                <a:srgbClr val="000000"/>
              </a:solidFill>
              <a:latin typeface="Roboto"/>
              <a:ea typeface="Roboto"/>
              <a:cs typeface="Roboto"/>
              <a:sym typeface="Roboto"/>
            </a:endParaRPr>
          </a:p>
          <a:p>
            <a:pPr algn="l">
              <a:lnSpc>
                <a:spcPts val="1980"/>
              </a:lnSpc>
              <a:spcBef>
                <a:spcPts val="600"/>
              </a:spcBef>
              <a:spcAft>
                <a:spcPts val="600"/>
              </a:spcAft>
            </a:pPr>
            <a:r>
              <a:rPr lang="en-US" sz="1650" dirty="0">
                <a:solidFill>
                  <a:srgbClr val="000000"/>
                </a:solidFill>
                <a:latin typeface="Roboto"/>
                <a:ea typeface="Roboto"/>
                <a:cs typeface="Roboto"/>
                <a:sym typeface="Roboto"/>
              </a:rPr>
              <a:t>447.Don't even believe your colleague and any promise from your managers</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448.Try to move electrical notes obsidian in the office， into obsidian cloud sync.( GitHub)</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449.Plot template, table template, automation.</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450.Everything will pass on , emotion is temporary, everything will back to track.</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451.Check if there is an existing tool to fix the current question you encountered. </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452.What is the next killer product and application 453.</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453.What is the skill to be needed? In the future.</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454.BUILD UP CREDIT and relationship, stop gossip.</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455.Don’t sent the results out before releasing. With clear statement.</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456.Skip the work/email what suddenly throw to you. Do your job first. Avoid distraction.</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457.Don’t stop your colleague learning by themselves, try not to help too much.</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458.5S rules &amp;2 mins action save u.</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459. Prepare for oversee job, try and see </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460. Be kind to anyone.</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461. Don’t get two engine for investment.</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462. Make friends with cleaners</a:t>
            </a:r>
          </a:p>
          <a:p>
            <a:pPr algn="l">
              <a:lnSpc>
                <a:spcPts val="1980"/>
              </a:lnSpc>
              <a:spcBef>
                <a:spcPts val="600"/>
              </a:spcBef>
              <a:spcAft>
                <a:spcPts val="600"/>
              </a:spcAft>
            </a:pPr>
            <a:r>
              <a:rPr lang="en-US" sz="1650" dirty="0">
                <a:solidFill>
                  <a:srgbClr val="000000"/>
                </a:solidFill>
                <a:latin typeface="Roboto"/>
                <a:ea typeface="Roboto"/>
                <a:cs typeface="Roboto"/>
                <a:sym typeface="Roboto"/>
              </a:rPr>
              <a:t>462. Always prepare your CV updated</a:t>
            </a:r>
          </a:p>
          <a:p>
            <a:pPr algn="l">
              <a:lnSpc>
                <a:spcPts val="1980"/>
              </a:lnSpc>
              <a:spcBef>
                <a:spcPts val="600"/>
              </a:spcBef>
              <a:spcAft>
                <a:spcPts val="600"/>
              </a:spcAft>
            </a:pPr>
            <a:endParaRPr lang="en-US" sz="1650" dirty="0">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14208</Words>
  <Application>Microsoft Office PowerPoint</Application>
  <PresentationFormat>自訂</PresentationFormat>
  <Paragraphs>559</Paragraphs>
  <Slides>9</Slides>
  <Notes>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9</vt:i4>
      </vt:variant>
    </vt:vector>
  </HeadingPairs>
  <TitlesOfParts>
    <vt:vector size="14" baseType="lpstr">
      <vt:lpstr>Calibri (MS)</vt:lpstr>
      <vt:lpstr>Roboto</vt:lpstr>
      <vt:lpstr>Calibri</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工作原則-書.pptx</dc:title>
  <cp:lastModifiedBy>杜 信龍</cp:lastModifiedBy>
  <cp:revision>3</cp:revision>
  <dcterms:created xsi:type="dcterms:W3CDTF">2006-08-16T00:00:00Z</dcterms:created>
  <dcterms:modified xsi:type="dcterms:W3CDTF">2026-07-21T09:26:52Z</dcterms:modified>
  <dc:identifier>DAG-PxYxMy0</dc:identifier>
</cp:coreProperties>
</file>